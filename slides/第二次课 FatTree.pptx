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handoutMasterIdLst>
    <p:handoutMasterId r:id="rId79"/>
  </p:handoutMasterIdLst>
  <p:sldIdLst>
    <p:sldId id="11089934" r:id="rId2"/>
    <p:sldId id="11089966" r:id="rId3"/>
    <p:sldId id="11089967" r:id="rId4"/>
    <p:sldId id="11090040" r:id="rId5"/>
    <p:sldId id="11089997" r:id="rId6"/>
    <p:sldId id="11090006" r:id="rId7"/>
    <p:sldId id="11090072" r:id="rId8"/>
    <p:sldId id="11090005" r:id="rId9"/>
    <p:sldId id="11089998" r:id="rId10"/>
    <p:sldId id="11089999" r:id="rId11"/>
    <p:sldId id="11090041" r:id="rId12"/>
    <p:sldId id="11090009" r:id="rId13"/>
    <p:sldId id="11090042" r:id="rId14"/>
    <p:sldId id="11090076" r:id="rId15"/>
    <p:sldId id="11090010" r:id="rId16"/>
    <p:sldId id="11090011" r:id="rId17"/>
    <p:sldId id="11090043" r:id="rId18"/>
    <p:sldId id="11090007" r:id="rId19"/>
    <p:sldId id="11090008" r:id="rId20"/>
    <p:sldId id="11090044" r:id="rId21"/>
    <p:sldId id="11090012" r:id="rId22"/>
    <p:sldId id="11090013" r:id="rId23"/>
    <p:sldId id="11090074" r:id="rId24"/>
    <p:sldId id="11090014" r:id="rId25"/>
    <p:sldId id="11090015" r:id="rId26"/>
    <p:sldId id="11090017" r:id="rId27"/>
    <p:sldId id="11090016" r:id="rId28"/>
    <p:sldId id="11090075" r:id="rId29"/>
    <p:sldId id="11090045" r:id="rId30"/>
    <p:sldId id="11090020" r:id="rId31"/>
    <p:sldId id="11090019" r:id="rId32"/>
    <p:sldId id="11090021" r:id="rId33"/>
    <p:sldId id="11090022" r:id="rId34"/>
    <p:sldId id="11090023" r:id="rId35"/>
    <p:sldId id="11090024" r:id="rId36"/>
    <p:sldId id="11090046" r:id="rId37"/>
    <p:sldId id="11090025" r:id="rId38"/>
    <p:sldId id="11090026" r:id="rId39"/>
    <p:sldId id="11090047" r:id="rId40"/>
    <p:sldId id="11090027" r:id="rId41"/>
    <p:sldId id="11090048" r:id="rId42"/>
    <p:sldId id="11090028" r:id="rId43"/>
    <p:sldId id="11090029" r:id="rId44"/>
    <p:sldId id="11090049" r:id="rId45"/>
    <p:sldId id="11090030" r:id="rId46"/>
    <p:sldId id="11090032" r:id="rId47"/>
    <p:sldId id="11090033" r:id="rId48"/>
    <p:sldId id="11090050" r:id="rId49"/>
    <p:sldId id="11090031" r:id="rId50"/>
    <p:sldId id="11090034" r:id="rId51"/>
    <p:sldId id="11090035" r:id="rId52"/>
    <p:sldId id="11090039" r:id="rId53"/>
    <p:sldId id="11090036" r:id="rId54"/>
    <p:sldId id="11090038" r:id="rId55"/>
    <p:sldId id="11090051" r:id="rId56"/>
    <p:sldId id="11090052" r:id="rId57"/>
    <p:sldId id="11090055" r:id="rId58"/>
    <p:sldId id="11090056" r:id="rId59"/>
    <p:sldId id="11090053" r:id="rId60"/>
    <p:sldId id="11090057" r:id="rId61"/>
    <p:sldId id="11090058" r:id="rId62"/>
    <p:sldId id="11090054" r:id="rId63"/>
    <p:sldId id="11090059" r:id="rId64"/>
    <p:sldId id="11090060" r:id="rId65"/>
    <p:sldId id="11090068" r:id="rId66"/>
    <p:sldId id="11090061" r:id="rId67"/>
    <p:sldId id="11090062" r:id="rId68"/>
    <p:sldId id="11090063" r:id="rId69"/>
    <p:sldId id="11090064" r:id="rId70"/>
    <p:sldId id="11090065" r:id="rId71"/>
    <p:sldId id="11090066" r:id="rId72"/>
    <p:sldId id="11090067" r:id="rId73"/>
    <p:sldId id="11090069" r:id="rId74"/>
    <p:sldId id="11090070" r:id="rId75"/>
    <p:sldId id="11090073" r:id="rId76"/>
    <p:sldId id="11090077" r:id="rId77"/>
  </p:sldIdLst>
  <p:sldSz cx="12192000" cy="6858000"/>
  <p:notesSz cx="6797675" cy="9928225"/>
  <p:custDataLst>
    <p:tags r:id="rId8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ng Jin" initials="FJ" lastIdx="4" clrIdx="0"/>
  <p:cmAuthor id="2" name="XPS" initials="X"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2E75B6"/>
    <a:srgbClr val="FFE066"/>
    <a:srgbClr val="F26849"/>
    <a:srgbClr val="000000"/>
    <a:srgbClr val="FFF2CC"/>
    <a:srgbClr val="0B4DA4"/>
    <a:srgbClr val="A17CB0"/>
    <a:srgbClr val="2C53A0"/>
    <a:srgbClr val="2C4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6B67D9-01CA-4953-8E22-6A5C99B3C9BA}" v="44" dt="2025-09-16T02:45:43.32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71" autoAdjust="0"/>
    <p:restoredTop sz="89554" autoAdjust="0"/>
  </p:normalViewPr>
  <p:slideViewPr>
    <p:cSldViewPr snapToGrid="0">
      <p:cViewPr varScale="1">
        <p:scale>
          <a:sx n="142" d="100"/>
          <a:sy n="142" d="100"/>
        </p:scale>
        <p:origin x="3390" y="12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868"/>
    </p:cViewPr>
  </p:sorterViewPr>
  <p:notesViewPr>
    <p:cSldViewPr snapToGrid="0">
      <p:cViewPr varScale="1">
        <p:scale>
          <a:sx n="61" d="100"/>
          <a:sy n="61" d="100"/>
        </p:scale>
        <p:origin x="3069"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commentAuthors" Target="commentAuthor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15FE7A67-F1A1-664E-B4F1-4B5BBCC2E3FB}" type="datetimeFigureOut">
              <a:rPr kumimoji="1" lang="zh-CN" altLang="en-US" smtClean="0"/>
              <a:t>2026/9/15</a:t>
            </a:fld>
            <a:endParaRPr kumimoji="1"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E41CA6C9-A867-5D48-AFCB-13931269FC2F}"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83" name="Rectangle 2"/>
          <p:cNvSpPr>
            <a:spLocks noGrp="1" noChangeArrowheads="1"/>
          </p:cNvSpPr>
          <p:nvPr>
            <p:ph type="hdr" sz="quarter"/>
          </p:nvPr>
        </p:nvSpPr>
        <p:spPr bwMode="auto">
          <a:xfrm>
            <a:off x="2" y="1"/>
            <a:ext cx="3049513" cy="556740"/>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584" name="Rectangle 3"/>
          <p:cNvSpPr>
            <a:spLocks noGrp="1" noChangeArrowheads="1"/>
          </p:cNvSpPr>
          <p:nvPr>
            <p:ph type="dt" idx="1"/>
          </p:nvPr>
        </p:nvSpPr>
        <p:spPr bwMode="auto">
          <a:xfrm>
            <a:off x="3985768" y="1"/>
            <a:ext cx="3049513" cy="556740"/>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585" name="Rectangle 4"/>
          <p:cNvSpPr>
            <a:spLocks noGrp="1" noRot="1" noChangeAspect="1" noChangeArrowheads="1" noTextEdit="1"/>
          </p:cNvSpPr>
          <p:nvPr>
            <p:ph type="sldImg" idx="2"/>
          </p:nvPr>
        </p:nvSpPr>
        <p:spPr bwMode="auto">
          <a:xfrm>
            <a:off x="-185738" y="831850"/>
            <a:ext cx="7408863" cy="4168775"/>
          </a:xfrm>
          <a:prstGeom prst="rect">
            <a:avLst/>
          </a:prstGeom>
          <a:noFill/>
          <a:ln w="9525">
            <a:solidFill>
              <a:srgbClr val="000000"/>
            </a:solidFill>
            <a:miter lim="800000"/>
          </a:ln>
          <a:effectLst/>
        </p:spPr>
      </p:sp>
      <p:sp>
        <p:nvSpPr>
          <p:cNvPr id="1048586" name="Rectangle 5"/>
          <p:cNvSpPr>
            <a:spLocks noGrp="1" noChangeArrowheads="1"/>
          </p:cNvSpPr>
          <p:nvPr>
            <p:ph type="body" sz="quarter" idx="3"/>
          </p:nvPr>
        </p:nvSpPr>
        <p:spPr bwMode="auto">
          <a:xfrm>
            <a:off x="703373" y="5279542"/>
            <a:ext cx="5630111" cy="5000309"/>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7" name="Rectangle 6"/>
          <p:cNvSpPr>
            <a:spLocks noGrp="1" noChangeArrowheads="1"/>
          </p:cNvSpPr>
          <p:nvPr>
            <p:ph type="ftr" sz="quarter" idx="4"/>
          </p:nvPr>
        </p:nvSpPr>
        <p:spPr bwMode="auto">
          <a:xfrm>
            <a:off x="2" y="10553912"/>
            <a:ext cx="3049513" cy="556738"/>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588" name="Rectangle 7"/>
          <p:cNvSpPr>
            <a:spLocks noGrp="1" noChangeArrowheads="1"/>
          </p:cNvSpPr>
          <p:nvPr>
            <p:ph type="sldNum" sz="quarter" idx="5"/>
          </p:nvPr>
        </p:nvSpPr>
        <p:spPr bwMode="auto">
          <a:xfrm>
            <a:off x="3985768" y="10553912"/>
            <a:ext cx="3049513" cy="556738"/>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br>
              <a:rPr lang="zh-CN" altLang="en-US" dirty="0"/>
            </a:br>
            <a:endParaRPr lang="zh-CN" altLang="en-US" dirty="0"/>
          </a:p>
        </p:txBody>
      </p:sp>
    </p:spTree>
    <p:extLst>
      <p:ext uri="{BB962C8B-B14F-4D97-AF65-F5344CB8AC3E}">
        <p14:creationId xmlns:p14="http://schemas.microsoft.com/office/powerpoint/2010/main" val="2475033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pPr marL="0" marR="0" lvl="0" indent="0" algn="just" defTabSz="735330" rtl="0" eaLnBrk="1" fontAlgn="auto" latinLnBrk="0" hangingPunct="1">
              <a:lnSpc>
                <a:spcPct val="100000"/>
              </a:lnSpc>
              <a:spcBef>
                <a:spcPts val="0"/>
              </a:spcBef>
              <a:spcAft>
                <a:spcPts val="0"/>
              </a:spcAft>
              <a:buClrTx/>
              <a:buSzTx/>
              <a:buFontTx/>
              <a:buNone/>
              <a:defRPr/>
            </a:pPr>
            <a:endParaRPr lang="zh-CN" altLang="en-US" sz="1400">
              <a:latin typeface="+mn-ea"/>
            </a:endParaRPr>
          </a:p>
        </p:txBody>
      </p:sp>
      <p:sp>
        <p:nvSpPr>
          <p:cNvPr id="4" name="灯片编号占位符 3"/>
          <p:cNvSpPr>
            <a:spLocks noGrp="1"/>
          </p:cNvSpPr>
          <p:nvPr>
            <p:ph type="sldNum" sz="quarter" idx="10"/>
          </p:nvPr>
        </p:nvSpPr>
        <p:spPr/>
        <p:txBody>
          <a:bodyPr/>
          <a:lstStyle/>
          <a:p>
            <a:fld id="{A6F837B1-3942-4B36-A9A2-6AF914CEB0AE}"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这一页介绍数据中心作用</a:t>
            </a:r>
            <a:r>
              <a:rPr lang="en-US" altLang="zh-CN"/>
              <a:t>【</a:t>
            </a:r>
            <a:r>
              <a:rPr lang="zh-CN" altLang="en-US"/>
              <a:t>论文之外补充</a:t>
            </a:r>
            <a:r>
              <a:rPr lang="en-US" altLang="zh-CN"/>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介绍数据中心里的硬件设备</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250844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介绍腾讯数据中心</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1029410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这一页介绍数据中心作用</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1874374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这一页介绍数据中心作用</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4284331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对应</a:t>
            </a:r>
            <a:r>
              <a:rPr lang="en-US" altLang="zh-CN"/>
              <a:t>Intro</a:t>
            </a:r>
            <a:r>
              <a:rPr lang="zh-CN" altLang="en-US"/>
              <a:t>第二段，介绍数据中心内的通信流量模式</a:t>
            </a:r>
          </a:p>
        </p:txBody>
      </p:sp>
    </p:spTree>
    <p:extLst>
      <p:ext uri="{BB962C8B-B14F-4D97-AF65-F5344CB8AC3E}">
        <p14:creationId xmlns:p14="http://schemas.microsoft.com/office/powerpoint/2010/main" val="2213558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13588-5FDB-7ABC-A053-E20E805D86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0C6D86-BFB5-6F5D-F5B2-A1E7A4CC0DDB}"/>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227A37FC-1CA3-4FF7-CB1F-C48C8FD425C3}"/>
              </a:ext>
            </a:extLst>
          </p:cNvPr>
          <p:cNvSpPr>
            <a:spLocks noGrp="1"/>
          </p:cNvSpPr>
          <p:nvPr>
            <p:ph type="body" idx="1"/>
          </p:nvPr>
        </p:nvSpPr>
        <p:spPr/>
        <p:txBody>
          <a:bodyPr/>
          <a:lstStyle/>
          <a:p>
            <a:r>
              <a:rPr lang="zh-CN" altLang="en-US"/>
              <a:t>对应</a:t>
            </a:r>
            <a:r>
              <a:rPr lang="en-US" altLang="zh-CN"/>
              <a:t>Intro</a:t>
            </a:r>
            <a:r>
              <a:rPr lang="zh-CN" altLang="en-US"/>
              <a:t>第三、四段，介绍数据中心两种方案路线（定制专用 </a:t>
            </a:r>
            <a:r>
              <a:rPr lang="en-US" altLang="zh-CN"/>
              <a:t>or </a:t>
            </a:r>
            <a:r>
              <a:rPr lang="zh-CN" altLang="en-US"/>
              <a:t>通用）</a:t>
            </a:r>
          </a:p>
        </p:txBody>
      </p:sp>
    </p:spTree>
    <p:extLst>
      <p:ext uri="{BB962C8B-B14F-4D97-AF65-F5344CB8AC3E}">
        <p14:creationId xmlns:p14="http://schemas.microsoft.com/office/powerpoint/2010/main" val="3518271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对应</a:t>
            </a:r>
            <a:r>
              <a:rPr lang="en-US" altLang="zh-CN"/>
              <a:t>Intro</a:t>
            </a:r>
            <a:r>
              <a:rPr lang="zh-CN" altLang="en-US"/>
              <a:t>第三、四段，介绍数据中心两种方案路线（定制专用 </a:t>
            </a:r>
            <a:r>
              <a:rPr lang="en-US" altLang="zh-CN"/>
              <a:t>or </a:t>
            </a:r>
            <a:r>
              <a:rPr lang="zh-CN" altLang="en-US"/>
              <a:t>通用）</a:t>
            </a:r>
          </a:p>
        </p:txBody>
      </p:sp>
    </p:spTree>
    <p:extLst>
      <p:ext uri="{BB962C8B-B14F-4D97-AF65-F5344CB8AC3E}">
        <p14:creationId xmlns:p14="http://schemas.microsoft.com/office/powerpoint/2010/main" val="2845385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en-US" altLang="zh-CN"/>
              <a:t>Intro</a:t>
            </a:r>
            <a:r>
              <a:rPr lang="zh-CN" altLang="en-US"/>
              <a:t>倒数第二段的三个分点</a:t>
            </a:r>
          </a:p>
        </p:txBody>
      </p:sp>
    </p:spTree>
    <p:extLst>
      <p:ext uri="{BB962C8B-B14F-4D97-AF65-F5344CB8AC3E}">
        <p14:creationId xmlns:p14="http://schemas.microsoft.com/office/powerpoint/2010/main" val="508925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此处补充一些论文中用到的但没有详细解释的网络术语</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2553083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r>
              <a:rPr lang="zh-CN" altLang="en-US"/>
              <a:t>此处补充一些论文中用到的但没有详细解释的网络术语</a:t>
            </a:r>
            <a:r>
              <a:rPr lang="en-US" altLang="zh-CN"/>
              <a:t>【</a:t>
            </a:r>
            <a:r>
              <a:rPr lang="zh-CN" altLang="en-US"/>
              <a:t>论文之外补充</a:t>
            </a:r>
            <a:r>
              <a:rPr lang="en-US" altLang="zh-CN"/>
              <a:t>】</a:t>
            </a:r>
          </a:p>
        </p:txBody>
      </p:sp>
    </p:spTree>
    <p:extLst>
      <p:ext uri="{BB962C8B-B14F-4D97-AF65-F5344CB8AC3E}">
        <p14:creationId xmlns:p14="http://schemas.microsoft.com/office/powerpoint/2010/main" val="3032003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540088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666450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1E1F5-3E7D-E029-9478-4886516D21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1B950E-7A67-3640-911B-68C00EAC69A2}"/>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DF8A1497-2C4B-7C59-B60D-D7F17B53F355}"/>
              </a:ext>
            </a:extLst>
          </p:cNvPr>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296041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264366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211486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1524572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062930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7C10F-6702-430F-4B6F-0C509AD1E7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71F2B8-3074-997F-A347-D0299568F1EB}"/>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86D1F991-71D1-A124-7DE7-585B17335F89}"/>
              </a:ext>
            </a:extLst>
          </p:cNvPr>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487502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928956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984842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465579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274601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6330145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0307444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9423602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712651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0770927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2589904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9232295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960801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1851224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42454306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2423234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0505990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3422098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6230494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0297010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3049361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6112101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4851633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6625270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41469841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8031961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5762941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4175929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1069708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0895870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5378149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8414911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0506465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37638184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21892031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87325" y="831850"/>
            <a:ext cx="7410450" cy="4168775"/>
          </a:xfrm>
        </p:spPr>
      </p:sp>
      <p:sp>
        <p:nvSpPr>
          <p:cNvPr id="3" name="备注占位符 2"/>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6895232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83698-34F6-FBE4-227F-FA5BD84857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1D7834-6242-11A9-F270-9248E8DBA6A8}"/>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16F05A98-70CF-8C14-B40D-7B95198DB2C7}"/>
              </a:ext>
            </a:extLst>
          </p:cNvPr>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5417863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12372-C5C5-134A-41FB-078EF6048D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463D8B-20FC-6BC4-2CAA-DE94D309F191}"/>
              </a:ext>
            </a:extLst>
          </p:cNvPr>
          <p:cNvSpPr>
            <a:spLocks noGrp="1" noRot="1" noChangeAspect="1"/>
          </p:cNvSpPr>
          <p:nvPr>
            <p:ph type="sldImg"/>
          </p:nvPr>
        </p:nvSpPr>
        <p:spPr>
          <a:xfrm>
            <a:off x="-187325" y="831850"/>
            <a:ext cx="7410450" cy="4168775"/>
          </a:xfrm>
        </p:spPr>
      </p:sp>
      <p:sp>
        <p:nvSpPr>
          <p:cNvPr id="3" name="备注占位符 2">
            <a:extLst>
              <a:ext uri="{FF2B5EF4-FFF2-40B4-BE49-F238E27FC236}">
                <a16:creationId xmlns:a16="http://schemas.microsoft.com/office/drawing/2014/main" id="{9B839E8C-6481-8249-CBE9-523A78276974}"/>
              </a:ext>
            </a:extLst>
          </p:cNvPr>
          <p:cNvSpPr>
            <a:spLocks noGrp="1"/>
          </p:cNvSpPr>
          <p:nvPr>
            <p:ph type="body" idx="1"/>
          </p:nvPr>
        </p:nvSpPr>
        <p:spPr/>
        <p:txBody>
          <a:bodyPr/>
          <a:lstStyle/>
          <a:p>
            <a:endParaRPr lang="en-US" altLang="zh-CN"/>
          </a:p>
        </p:txBody>
      </p:sp>
    </p:spTree>
    <p:extLst>
      <p:ext uri="{BB962C8B-B14F-4D97-AF65-F5344CB8AC3E}">
        <p14:creationId xmlns:p14="http://schemas.microsoft.com/office/powerpoint/2010/main" val="11465009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pic>
        <p:nvPicPr>
          <p:cNvPr id="54" name="图片 53"/>
          <p:cNvPicPr>
            <a:picLocks noChangeAspect="1"/>
          </p:cNvPicPr>
          <p:nvPr userDrawn="1"/>
        </p:nvPicPr>
        <p:blipFill rotWithShape="1">
          <a:blip r:embed="rId2">
            <a:alphaModFix amt="40000"/>
            <a:extLst>
              <a:ext uri="{28A0092B-C50C-407E-A947-70E740481C1C}">
                <a14:useLocalDpi xmlns:a14="http://schemas.microsoft.com/office/drawing/2010/main" val="0"/>
              </a:ext>
            </a:extLst>
          </a:blip>
          <a:srcRect l="12491" r="12491"/>
          <a:stretch>
            <a:fillRect/>
          </a:stretch>
        </p:blipFill>
        <p:spPr>
          <a:xfrm>
            <a:off x="0" y="0"/>
            <a:ext cx="12192000" cy="6858000"/>
          </a:xfrm>
          <a:prstGeom prst="rect">
            <a:avLst/>
          </a:prstGeom>
        </p:spPr>
      </p:pic>
      <p:sp>
        <p:nvSpPr>
          <p:cNvPr id="48" name="Rectangle 8"/>
          <p:cNvSpPr>
            <a:spLocks noChangeArrowheads="1"/>
          </p:cNvSpPr>
          <p:nvPr userDrawn="1"/>
        </p:nvSpPr>
        <p:spPr bwMode="auto">
          <a:xfrm>
            <a:off x="0" y="0"/>
            <a:ext cx="12192000" cy="288000"/>
          </a:xfrm>
          <a:prstGeom prst="rect">
            <a:avLst/>
          </a:prstGeom>
          <a:gradFill rotWithShape="1">
            <a:gsLst>
              <a:gs pos="0">
                <a:schemeClr val="accent1"/>
              </a:gs>
              <a:gs pos="100000">
                <a:srgbClr val="F98634"/>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53" name="Rectangle 8"/>
          <p:cNvSpPr>
            <a:spLocks noChangeArrowheads="1"/>
          </p:cNvSpPr>
          <p:nvPr userDrawn="1"/>
        </p:nvSpPr>
        <p:spPr bwMode="auto">
          <a:xfrm rot="10800000">
            <a:off x="0" y="6668544"/>
            <a:ext cx="12192000" cy="36000"/>
          </a:xfrm>
          <a:prstGeom prst="rect">
            <a:avLst/>
          </a:prstGeom>
          <a:gradFill rotWithShape="1">
            <a:gsLst>
              <a:gs pos="0">
                <a:schemeClr val="accent1"/>
              </a:gs>
              <a:gs pos="100000">
                <a:srgbClr val="F98634"/>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alphaModFix amt="55000"/>
            <a:extLst>
              <a:ext uri="{28A0092B-C50C-407E-A947-70E740481C1C}">
                <a14:useLocalDpi xmlns:a14="http://schemas.microsoft.com/office/drawing/2010/main" val="0"/>
              </a:ext>
            </a:extLst>
          </a:blip>
          <a:srcRect l="12491" r="12491"/>
          <a:stretch>
            <a:fillRect/>
          </a:stretch>
        </p:blipFill>
        <p:spPr>
          <a:xfrm>
            <a:off x="0" y="0"/>
            <a:ext cx="12192000" cy="6858000"/>
          </a:xfrm>
          <a:prstGeom prst="rect">
            <a:avLst/>
          </a:prstGeom>
        </p:spPr>
      </p:pic>
      <p:sp>
        <p:nvSpPr>
          <p:cNvPr id="53" name="Rectangle 8"/>
          <p:cNvSpPr>
            <a:spLocks noChangeArrowheads="1"/>
          </p:cNvSpPr>
          <p:nvPr userDrawn="1"/>
        </p:nvSpPr>
        <p:spPr bwMode="auto">
          <a:xfrm rot="10800000">
            <a:off x="0" y="4471444"/>
            <a:ext cx="12192000" cy="36000"/>
          </a:xfrm>
          <a:prstGeom prst="rect">
            <a:avLst/>
          </a:prstGeom>
          <a:gradFill rotWithShape="1">
            <a:gsLst>
              <a:gs pos="0">
                <a:schemeClr val="accent1"/>
              </a:gs>
              <a:gs pos="100000">
                <a:srgbClr val="F98634"/>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4" name="Rectangle 8"/>
          <p:cNvSpPr>
            <a:spLocks noChangeArrowheads="1"/>
          </p:cNvSpPr>
          <p:nvPr userDrawn="1"/>
        </p:nvSpPr>
        <p:spPr bwMode="auto">
          <a:xfrm>
            <a:off x="0" y="1950494"/>
            <a:ext cx="12192000" cy="36000"/>
          </a:xfrm>
          <a:prstGeom prst="rect">
            <a:avLst/>
          </a:prstGeom>
          <a:gradFill rotWithShape="1">
            <a:gsLst>
              <a:gs pos="0">
                <a:schemeClr val="accent1"/>
              </a:gs>
              <a:gs pos="100000">
                <a:srgbClr val="F98634"/>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Rectangle 9"/>
          <p:cNvSpPr>
            <a:spLocks noChangeArrowheads="1"/>
          </p:cNvSpPr>
          <p:nvPr userDrawn="1"/>
        </p:nvSpPr>
        <p:spPr bwMode="auto">
          <a:xfrm>
            <a:off x="0" y="2264025"/>
            <a:ext cx="12192000" cy="2592000"/>
          </a:xfrm>
          <a:prstGeom prst="rect">
            <a:avLst/>
          </a:prstGeom>
          <a:solidFill>
            <a:srgbClr val="64BE1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lIns="0" tIns="0" rIns="0" bIns="0"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9" name="等腰三角形 8"/>
          <p:cNvSpPr/>
          <p:nvPr userDrawn="1"/>
        </p:nvSpPr>
        <p:spPr>
          <a:xfrm rot="5400000">
            <a:off x="11505882" y="-320993"/>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5400000">
            <a:off x="9600001" y="47478"/>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rot="16200000">
            <a:off x="10235294" y="47478"/>
            <a:ext cx="736941" cy="635294"/>
          </a:xfrm>
          <a:prstGeom prst="triangle">
            <a:avLst/>
          </a:prstGeom>
          <a:solidFill>
            <a:schemeClr val="bg1">
              <a:lumMod val="9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nvSpPr>
        <p:spPr>
          <a:xfrm rot="5400000">
            <a:off x="10870588" y="47478"/>
            <a:ext cx="736941" cy="635294"/>
          </a:xfrm>
          <a:prstGeom prst="triangle">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nvSpPr>
        <p:spPr>
          <a:xfrm rot="16200000">
            <a:off x="11505882" y="47478"/>
            <a:ext cx="736941" cy="635294"/>
          </a:xfrm>
          <a:prstGeom prst="triangle">
            <a:avLst/>
          </a:prstGeom>
          <a:solidFill>
            <a:schemeClr val="bg1">
              <a:lumMod val="8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nvSpPr>
        <p:spPr>
          <a:xfrm rot="16200000">
            <a:off x="10870588" y="415948"/>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nvSpPr>
        <p:spPr>
          <a:xfrm rot="5400000">
            <a:off x="11505882" y="415948"/>
            <a:ext cx="736941" cy="635294"/>
          </a:xfrm>
          <a:prstGeom prst="triangle">
            <a:avLst/>
          </a:prstGeom>
          <a:solidFill>
            <a:schemeClr val="bg2">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userDrawn="1"/>
        </p:nvSpPr>
        <p:spPr>
          <a:xfrm rot="5400000">
            <a:off x="10870588" y="784418"/>
            <a:ext cx="736941" cy="635294"/>
          </a:xfrm>
          <a:prstGeom prst="triangle">
            <a:avLst/>
          </a:prstGeom>
          <a:solidFill>
            <a:schemeClr val="bg1">
              <a:lumMod val="9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userDrawn="1"/>
        </p:nvSpPr>
        <p:spPr>
          <a:xfrm rot="16200000">
            <a:off x="11505882" y="784418"/>
            <a:ext cx="736941" cy="635294"/>
          </a:xfrm>
          <a:prstGeom prst="triangle">
            <a:avLst/>
          </a:prstGeom>
          <a:solidFill>
            <a:schemeClr val="bg1">
              <a:lumMod val="9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userDrawn="1"/>
        </p:nvSpPr>
        <p:spPr>
          <a:xfrm rot="5400000">
            <a:off x="11505882" y="1152888"/>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userDrawn="1"/>
        </p:nvSpPr>
        <p:spPr>
          <a:xfrm rot="5400000">
            <a:off x="10235292" y="415947"/>
            <a:ext cx="736941" cy="635294"/>
          </a:xfrm>
          <a:prstGeom prst="triangle">
            <a:avLst/>
          </a:prstGeom>
          <a:solidFill>
            <a:schemeClr val="bg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userDrawn="1"/>
        </p:nvGrpSpPr>
        <p:grpSpPr>
          <a:xfrm>
            <a:off x="-1024" y="2274021"/>
            <a:ext cx="3811767" cy="3314565"/>
            <a:chOff x="-10549" y="3902546"/>
            <a:chExt cx="3811767" cy="3314565"/>
          </a:xfrm>
        </p:grpSpPr>
        <p:sp>
          <p:nvSpPr>
            <p:cNvPr id="21" name="等腰三角形 20"/>
            <p:cNvSpPr/>
            <p:nvPr/>
          </p:nvSpPr>
          <p:spPr>
            <a:xfrm rot="5400000">
              <a:off x="-61373" y="6530994"/>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5400000">
              <a:off x="1209216" y="6530994"/>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16200000">
              <a:off x="573922" y="6530994"/>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5400000">
              <a:off x="2479805" y="6530994"/>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16200000">
              <a:off x="1844511" y="6530994"/>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5400000">
              <a:off x="573922" y="6164196"/>
              <a:ext cx="736941" cy="635294"/>
            </a:xfrm>
            <a:prstGeom prst="triangle">
              <a:avLst/>
            </a:prstGeom>
            <a:solidFill>
              <a:srgbClr val="000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16200000">
              <a:off x="-61372" y="6164196"/>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5400000">
              <a:off x="1844511" y="6164196"/>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rot="16200000">
              <a:off x="1209217" y="6164196"/>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5400000">
              <a:off x="3115100" y="6164196"/>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5400000">
              <a:off x="-61373" y="5794052"/>
              <a:ext cx="736941" cy="635294"/>
            </a:xfrm>
            <a:prstGeom prst="triangle">
              <a:avLst/>
            </a:prstGeom>
            <a:solidFill>
              <a:srgbClr val="000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nvSpPr>
          <p:spPr>
            <a:xfrm rot="5400000">
              <a:off x="1209216" y="5794052"/>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rot="16200000">
              <a:off x="573922" y="5794052"/>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rot="5400000">
              <a:off x="2479805" y="5794052"/>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rot="16200000">
              <a:off x="1844511" y="5794052"/>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rot="5400000">
              <a:off x="573922" y="5427254"/>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rot="16200000">
              <a:off x="-61372" y="5427254"/>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rot="16200000">
              <a:off x="1209217" y="5427254"/>
              <a:ext cx="736941" cy="635294"/>
            </a:xfrm>
            <a:prstGeom prst="triangle">
              <a:avLst/>
            </a:prstGeom>
            <a:solidFill>
              <a:srgbClr val="000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rot="5400000">
              <a:off x="-61373" y="5057110"/>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rot="5400000">
              <a:off x="1209216" y="5057110"/>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nvSpPr>
          <p:spPr>
            <a:xfrm rot="16200000">
              <a:off x="573922" y="5057110"/>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nvSpPr>
          <p:spPr>
            <a:xfrm rot="5400000">
              <a:off x="573922" y="4690312"/>
              <a:ext cx="736941" cy="635294"/>
            </a:xfrm>
            <a:prstGeom prst="triangle">
              <a:avLst/>
            </a:prstGeom>
            <a:solidFill>
              <a:srgbClr val="000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rot="16200000">
              <a:off x="-61372" y="4690312"/>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rot="16200000">
              <a:off x="1209217" y="4690312"/>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rot="5400000">
              <a:off x="-61373" y="4320168"/>
              <a:ext cx="736941" cy="635294"/>
            </a:xfrm>
            <a:prstGeom prst="triangle">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p:cNvSpPr/>
            <p:nvPr/>
          </p:nvSpPr>
          <p:spPr>
            <a:xfrm rot="16200000">
              <a:off x="573922" y="4320168"/>
              <a:ext cx="736941" cy="635294"/>
            </a:xfrm>
            <a:prstGeom prst="triangle">
              <a:avLst/>
            </a:prstGeom>
            <a:solidFill>
              <a:srgbClr val="000000">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rot="16200000">
              <a:off x="-61372" y="3953370"/>
              <a:ext cx="736941" cy="635294"/>
            </a:xfrm>
            <a:prstGeom prst="triangle">
              <a:avLst/>
            </a:prstGeom>
            <a:solidFill>
              <a:srgbClr val="00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10" name="Rectangle 8"/>
          <p:cNvSpPr>
            <a:spLocks noChangeArrowheads="1"/>
          </p:cNvSpPr>
          <p:nvPr userDrawn="1"/>
        </p:nvSpPr>
        <p:spPr bwMode="auto">
          <a:xfrm>
            <a:off x="156000" y="751492"/>
            <a:ext cx="11880000" cy="19050"/>
          </a:xfrm>
          <a:prstGeom prst="rect">
            <a:avLst/>
          </a:prstGeom>
          <a:gradFill rotWithShape="1">
            <a:gsLst>
              <a:gs pos="0">
                <a:schemeClr val="accent1"/>
              </a:gs>
              <a:gs pos="100000">
                <a:srgbClr val="F98634"/>
              </a:gs>
            </a:gsLst>
            <a:lin ang="0" scaled="1"/>
          </a:gradFill>
          <a:ln>
            <a:noFill/>
          </a:ln>
        </p:spPr>
        <p:txBody>
          <a:bodyPr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11" name="Rectangle 10"/>
          <p:cNvSpPr>
            <a:spLocks noChangeArrowheads="1"/>
          </p:cNvSpPr>
          <p:nvPr userDrawn="1"/>
        </p:nvSpPr>
        <p:spPr bwMode="auto">
          <a:xfrm>
            <a:off x="161862" y="6461131"/>
            <a:ext cx="11880000" cy="19050"/>
          </a:xfrm>
          <a:prstGeom prst="rect">
            <a:avLst/>
          </a:prstGeom>
          <a:gradFill rotWithShape="1">
            <a:gsLst>
              <a:gs pos="0">
                <a:schemeClr val="accent1"/>
              </a:gs>
              <a:gs pos="100000">
                <a:srgbClr val="F26849"/>
              </a:gs>
            </a:gsLst>
            <a:lin ang="0" scaled="1"/>
          </a:gradFill>
          <a:ln>
            <a:noFill/>
          </a:ln>
        </p:spPr>
        <p:txBody>
          <a:bodyPr wrap="square" lIns="92075" tIns="46038" rIns="92075" bIns="46038" anchor="ctr">
            <a:spAutoFit/>
          </a:bodyPr>
          <a:lstStyle>
            <a:lvl1pPr>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ts val="1200"/>
              </a:spcAft>
              <a:buClr>
                <a:schemeClr val="accent1"/>
              </a:buClr>
              <a:buFont typeface="Futura Md BT"/>
              <a:buChar char=" "/>
              <a:defRPr sz="20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defRPr>
            </a:lvl9pPr>
          </a:lstStyle>
          <a:p>
            <a:pPr algn="ctr">
              <a:defRPr/>
            </a:pPr>
            <a:endParaRPr lang="zh-CN" altLang="en-US" sz="1600" b="0">
              <a:solidFill>
                <a:schemeClr val="tx1"/>
              </a:solidFill>
              <a:latin typeface="Trebuchet MS" panose="020B0603020202020204" pitchFamily="34" charset="0"/>
              <a:ea typeface="黑体" panose="02010609060101010101" pitchFamily="49" charset="-122"/>
            </a:endParaRPr>
          </a:p>
        </p:txBody>
      </p:sp>
      <p:sp>
        <p:nvSpPr>
          <p:cNvPr id="3" name="文本框 2"/>
          <p:cNvSpPr txBox="1"/>
          <p:nvPr userDrawn="1"/>
        </p:nvSpPr>
        <p:spPr>
          <a:xfrm>
            <a:off x="11214296" y="6483362"/>
            <a:ext cx="977704" cy="369332"/>
          </a:xfrm>
          <a:prstGeom prst="rect">
            <a:avLst/>
          </a:prstGeom>
          <a:noFill/>
        </p:spPr>
        <p:txBody>
          <a:bodyPr wrap="square" rtlCol="0">
            <a:spAutoFit/>
          </a:bodyPr>
          <a:lstStyle/>
          <a:p>
            <a:pPr algn="ctr"/>
            <a:fld id="{E90226B3-410E-4FA8-8E01-328D45A8C7D8}" type="slidenum">
              <a:rPr lang="en-US" altLang="zh-CN" smtClean="0"/>
              <a:t>‹#›</a:t>
            </a:fld>
            <a:endParaRPr lang="zh-CN" altLang="en-US"/>
          </a:p>
        </p:txBody>
      </p:sp>
      <p:pic>
        <p:nvPicPr>
          <p:cNvPr id="12" name="图片 11"/>
          <p:cNvPicPr/>
          <p:nvPr userDrawn="1"/>
        </p:nvPicPr>
        <p:blipFill>
          <a:blip r:embed="rId2" cstate="print">
            <a:extLst>
              <a:ext uri="{28A0092B-C50C-407E-A947-70E740481C1C}">
                <a14:useLocalDpi xmlns:a14="http://schemas.microsoft.com/office/drawing/2010/main" val="0"/>
              </a:ext>
            </a:extLst>
          </a:blip>
          <a:stretch>
            <a:fillRect/>
          </a:stretch>
        </p:blipFill>
        <p:spPr>
          <a:xfrm>
            <a:off x="11338919" y="17583"/>
            <a:ext cx="720000" cy="720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2" name="文本框 1"/>
          <p:cNvSpPr txBox="1"/>
          <p:nvPr userDrawn="1"/>
        </p:nvSpPr>
        <p:spPr>
          <a:xfrm>
            <a:off x="11214296" y="6483362"/>
            <a:ext cx="977704" cy="369332"/>
          </a:xfrm>
          <a:prstGeom prst="rect">
            <a:avLst/>
          </a:prstGeom>
          <a:noFill/>
        </p:spPr>
        <p:txBody>
          <a:bodyPr wrap="square" rtlCol="0">
            <a:spAutoFit/>
          </a:bodyPr>
          <a:lstStyle/>
          <a:p>
            <a:pPr algn="ctr"/>
            <a:fld id="{E90226B3-410E-4FA8-8E01-328D45A8C7D8}" type="slidenum">
              <a:rPr lang="en-US" altLang="zh-CN"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10" name="Group 9"/>
          <p:cNvGrpSpPr/>
          <p:nvPr userDrawn="1"/>
        </p:nvGrpSpPr>
        <p:grpSpPr>
          <a:xfrm>
            <a:off x="0" y="0"/>
            <a:ext cx="12192000" cy="6859588"/>
            <a:chOff x="0" y="0"/>
            <a:chExt cx="12192000" cy="6859588"/>
          </a:xfrm>
        </p:grpSpPr>
        <p:pic>
          <p:nvPicPr>
            <p:cNvPr id="8" name="Picture 10"/>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87931"/>
            <a:stretch>
              <a:fillRect/>
            </a:stretch>
          </p:blipFill>
          <p:spPr bwMode="auto">
            <a:xfrm>
              <a:off x="9144000" y="0"/>
              <a:ext cx="3048000" cy="685958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p:cNvSpPr>
            <a:spLocks noGrp="1"/>
          </p:cNvSpPr>
          <p:nvPr>
            <p:ph type="ctrTitle"/>
          </p:nvPr>
        </p:nvSpPr>
        <p:spPr>
          <a:xfrm>
            <a:off x="1524000" y="2346685"/>
            <a:ext cx="9144000" cy="2387600"/>
          </a:xfrm>
        </p:spPr>
        <p:txBody>
          <a:bodyPr anchor="b"/>
          <a:lstStyle>
            <a:lvl1pPr algn="ctr">
              <a:defRPr sz="6000" b="0" i="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525438" y="5089585"/>
            <a:ext cx="9144000" cy="118268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a:xfrm>
            <a:off x="838200" y="6356350"/>
            <a:ext cx="2743200" cy="365125"/>
          </a:xfrm>
        </p:spPr>
        <p:txBody>
          <a:bodyPr/>
          <a:lstStyle/>
          <a:p>
            <a:endParaRPr lang="en-US" altLang="zh-CN"/>
          </a:p>
        </p:txBody>
      </p:sp>
      <p:sp>
        <p:nvSpPr>
          <p:cNvPr id="5" name="Footer Placeholder 4"/>
          <p:cNvSpPr>
            <a:spLocks noGrp="1"/>
          </p:cNvSpPr>
          <p:nvPr>
            <p:ph type="ftr" sz="quarter" idx="11"/>
          </p:nvPr>
        </p:nvSpPr>
        <p:spPr>
          <a:xfrm>
            <a:off x="4038600" y="6356350"/>
            <a:ext cx="4114800" cy="365125"/>
          </a:xfrm>
        </p:spPr>
        <p:txBody>
          <a:bodyPr/>
          <a:lstStyle/>
          <a:p>
            <a:endParaRPr lang="en-US" altLang="zh-CN"/>
          </a:p>
        </p:txBody>
      </p:sp>
      <p:sp>
        <p:nvSpPr>
          <p:cNvPr id="6" name="Slide Number Placeholder 5"/>
          <p:cNvSpPr>
            <a:spLocks noGrp="1"/>
          </p:cNvSpPr>
          <p:nvPr>
            <p:ph type="sldNum" sz="quarter" idx="12"/>
          </p:nvPr>
        </p:nvSpPr>
        <p:spPr>
          <a:xfrm>
            <a:off x="8610600" y="6356350"/>
            <a:ext cx="2743200" cy="365125"/>
          </a:xfrm>
        </p:spPr>
        <p:txBody>
          <a:bodyPr/>
          <a:lstStyle/>
          <a:p>
            <a:fld id="{C1D76858-4FDF-4C6C-B83D-F76F9219DBA0}" type="slidenum">
              <a:rPr lang="en-US" altLang="zh-CN" smtClean="0"/>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17" name="Freeform 5"/>
          <p:cNvSpPr/>
          <p:nvPr userDrawn="1"/>
        </p:nvSpPr>
        <p:spPr bwMode="auto">
          <a:xfrm rot="16200000">
            <a:off x="10496967" y="5474008"/>
            <a:ext cx="793976" cy="81093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D5D6DA"/>
          </a:solidFill>
          <a:ln w="25400">
            <a:noFill/>
          </a:ln>
          <a:effectLst>
            <a:outerShdw blurRad="381000" dist="190500" dir="2700000" algn="tl" rotWithShape="0">
              <a:srgbClr val="A5A5A5">
                <a:alpha val="35000"/>
              </a:srgbClr>
            </a:outerShdw>
          </a:effectLst>
        </p:spPr>
        <p:txBody>
          <a:bodyPr vert="horz" wrap="square" lIns="68580" tIns="34290" rIns="68580" bIns="34290" numCol="1" anchor="t" anchorCtr="0" compatLnSpc="1"/>
          <a:lstStyle/>
          <a:p>
            <a:endParaRPr lang="zh-CN" altLang="en-US" sz="3000">
              <a:solidFill>
                <a:schemeClr val="tx1">
                  <a:lumMod val="75000"/>
                  <a:lumOff val="25000"/>
                </a:schemeClr>
              </a:solidFill>
              <a:cs typeface="+mn-ea"/>
              <a:sym typeface="+mn-lt"/>
            </a:endParaRPr>
          </a:p>
        </p:txBody>
      </p:sp>
      <p:sp>
        <p:nvSpPr>
          <p:cNvPr id="19" name="Freeform 5"/>
          <p:cNvSpPr/>
          <p:nvPr userDrawn="1"/>
        </p:nvSpPr>
        <p:spPr bwMode="auto">
          <a:xfrm rot="16200000">
            <a:off x="921562" y="157483"/>
            <a:ext cx="1387596" cy="121584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5473CF"/>
          </a:solidFill>
          <a:ln w="25400">
            <a:noFill/>
          </a:ln>
          <a:effectLst>
            <a:outerShdw blurRad="381000" dist="190500" dir="2700000" algn="tl" rotWithShape="0">
              <a:srgbClr val="2D65C0">
                <a:alpha val="35000"/>
              </a:srgbClr>
            </a:outerShdw>
          </a:effectLst>
        </p:spPr>
        <p:txBody>
          <a:bodyPr vert="horz" wrap="square" lIns="68580" tIns="34290" rIns="68580" bIns="34290" numCol="1" anchor="t" anchorCtr="0" compatLnSpc="1"/>
          <a:lstStyle/>
          <a:p>
            <a:endParaRPr lang="zh-CN" altLang="en-US" sz="3000">
              <a:solidFill>
                <a:schemeClr val="tx1">
                  <a:lumMod val="75000"/>
                  <a:lumOff val="25000"/>
                </a:schemeClr>
              </a:solidFill>
              <a:cs typeface="+mn-ea"/>
              <a:sym typeface="+mn-lt"/>
            </a:endParaRPr>
          </a:p>
        </p:txBody>
      </p:sp>
      <p:sp>
        <p:nvSpPr>
          <p:cNvPr id="20" name="Freeform 5"/>
          <p:cNvSpPr/>
          <p:nvPr userDrawn="1"/>
        </p:nvSpPr>
        <p:spPr bwMode="auto">
          <a:xfrm rot="16200000">
            <a:off x="-61056" y="1275985"/>
            <a:ext cx="1387596" cy="121584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B271B0"/>
          </a:solidFill>
          <a:ln w="25400">
            <a:noFill/>
          </a:ln>
          <a:effectLst>
            <a:outerShdw blurRad="381000" dist="190500" dir="2700000" algn="tl" rotWithShape="0">
              <a:srgbClr val="3D3F41">
                <a:alpha val="35000"/>
              </a:srgbClr>
            </a:outerShdw>
          </a:effectLst>
        </p:spPr>
        <p:txBody>
          <a:bodyPr vert="horz" wrap="square" lIns="68580" tIns="34290" rIns="68580" bIns="34290" numCol="1" anchor="t" anchorCtr="0" compatLnSpc="1"/>
          <a:lstStyle/>
          <a:p>
            <a:endParaRPr lang="zh-CN" altLang="en-US" sz="3000">
              <a:solidFill>
                <a:schemeClr val="tx1">
                  <a:lumMod val="75000"/>
                  <a:lumOff val="25000"/>
                </a:schemeClr>
              </a:solidFill>
              <a:cs typeface="+mn-ea"/>
              <a:sym typeface="+mn-lt"/>
            </a:endParaRPr>
          </a:p>
        </p:txBody>
      </p:sp>
      <p:sp>
        <p:nvSpPr>
          <p:cNvPr id="22" name="Freeform 5"/>
          <p:cNvSpPr/>
          <p:nvPr userDrawn="1"/>
        </p:nvSpPr>
        <p:spPr bwMode="auto">
          <a:xfrm rot="16200000">
            <a:off x="2349387" y="86335"/>
            <a:ext cx="1028709" cy="90138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B74D5"/>
          </a:solidFill>
          <a:ln w="25400">
            <a:noFill/>
          </a:ln>
          <a:effectLst>
            <a:outerShdw blurRad="381000" dist="190500" dir="2700000" algn="tl" rotWithShape="0">
              <a:srgbClr val="3D3F41">
                <a:alpha val="35000"/>
              </a:srgbClr>
            </a:outerShdw>
          </a:effectLst>
        </p:spPr>
        <p:txBody>
          <a:bodyPr vert="horz" wrap="square" lIns="68580" tIns="34290" rIns="68580" bIns="34290" numCol="1" anchor="t" anchorCtr="0" compatLnSpc="1"/>
          <a:lstStyle/>
          <a:p>
            <a:endParaRPr lang="zh-CN" altLang="en-US" sz="3000">
              <a:solidFill>
                <a:schemeClr val="tx1">
                  <a:lumMod val="75000"/>
                  <a:lumOff val="25000"/>
                </a:schemeClr>
              </a:solidFill>
              <a:cs typeface="+mn-ea"/>
              <a:sym typeface="+mn-lt"/>
            </a:endParaRPr>
          </a:p>
        </p:txBody>
      </p:sp>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l="42475"/>
          <a:stretch>
            <a:fillRect/>
          </a:stretch>
        </p:blipFill>
        <p:spPr>
          <a:xfrm>
            <a:off x="-22226" y="-260559"/>
            <a:ext cx="1533745" cy="2145978"/>
          </a:xfrm>
          <a:prstGeom prst="rect">
            <a:avLst/>
          </a:prstGeom>
        </p:spPr>
      </p:pic>
      <p:pic>
        <p:nvPicPr>
          <p:cNvPr id="7" name="图片 6"/>
          <p:cNvPicPr>
            <a:picLocks noChangeAspect="1"/>
          </p:cNvPicPr>
          <p:nvPr userDrawn="1"/>
        </p:nvPicPr>
        <p:blipFill rotWithShape="1">
          <a:blip r:embed="rId3">
            <a:extLst>
              <a:ext uri="{28A0092B-C50C-407E-A947-70E740481C1C}">
                <a14:useLocalDpi xmlns:a14="http://schemas.microsoft.com/office/drawing/2010/main" val="0"/>
              </a:ext>
            </a:extLst>
          </a:blip>
          <a:srcRect l="39426"/>
          <a:stretch>
            <a:fillRect/>
          </a:stretch>
        </p:blipFill>
        <p:spPr>
          <a:xfrm>
            <a:off x="-22227" y="2165002"/>
            <a:ext cx="879875" cy="1554615"/>
          </a:xfrm>
          <a:prstGeom prst="rect">
            <a:avLst/>
          </a:prstGeom>
        </p:spPr>
      </p:pic>
      <p:pic>
        <p:nvPicPr>
          <p:cNvPr id="10" name="图片 9"/>
          <p:cNvPicPr>
            <a:picLocks noChangeAspect="1"/>
          </p:cNvPicPr>
          <p:nvPr userDrawn="1"/>
        </p:nvPicPr>
        <p:blipFill rotWithShape="1">
          <a:blip r:embed="rId4">
            <a:extLst>
              <a:ext uri="{28A0092B-C50C-407E-A947-70E740481C1C}">
                <a14:useLocalDpi xmlns:a14="http://schemas.microsoft.com/office/drawing/2010/main" val="0"/>
              </a:ext>
            </a:extLst>
          </a:blip>
          <a:srcRect r="56232"/>
          <a:stretch>
            <a:fillRect/>
          </a:stretch>
        </p:blipFill>
        <p:spPr>
          <a:xfrm>
            <a:off x="11205642" y="4840018"/>
            <a:ext cx="1008585" cy="2145978"/>
          </a:xfrm>
          <a:prstGeom prst="rect">
            <a:avLst/>
          </a:prstGeom>
        </p:spPr>
      </p:pic>
      <p:pic>
        <p:nvPicPr>
          <p:cNvPr id="12" name="图片 11"/>
          <p:cNvPicPr>
            <a:picLocks noChangeAspect="1"/>
          </p:cNvPicPr>
          <p:nvPr userDrawn="1"/>
        </p:nvPicPr>
        <p:blipFill rotWithShape="1">
          <a:blip r:embed="rId5">
            <a:extLst>
              <a:ext uri="{28A0092B-C50C-407E-A947-70E740481C1C}">
                <a14:useLocalDpi xmlns:a14="http://schemas.microsoft.com/office/drawing/2010/main" val="0"/>
              </a:ext>
            </a:extLst>
          </a:blip>
          <a:srcRect b="58813"/>
          <a:stretch>
            <a:fillRect/>
          </a:stretch>
        </p:blipFill>
        <p:spPr>
          <a:xfrm>
            <a:off x="10416480" y="5990801"/>
            <a:ext cx="2304396" cy="883869"/>
          </a:xfrm>
          <a:prstGeom prst="rect">
            <a:avLst/>
          </a:prstGeom>
        </p:spPr>
      </p:pic>
      <p:sp>
        <p:nvSpPr>
          <p:cNvPr id="2" name="矩形 1"/>
          <p:cNvSpPr/>
          <p:nvPr userDrawn="1"/>
        </p:nvSpPr>
        <p:spPr>
          <a:xfrm>
            <a:off x="0" y="0"/>
            <a:ext cx="12192000" cy="6858000"/>
          </a:xfrm>
          <a:prstGeom prst="rect">
            <a:avLst/>
          </a:prstGeom>
          <a:noFill/>
          <a:ln w="38100" cmpd="sng">
            <a:solidFill>
              <a:srgbClr val="F269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0"/>
            <a:ext cx="2743200" cy="365125"/>
          </a:xfrm>
        </p:spPr>
        <p:txBody>
          <a:bodyPr/>
          <a:lstStyle/>
          <a:p>
            <a:fld id="{C764DE79-268F-4C1A-8933-263129D2AF90}" type="datetimeFigureOut">
              <a:rPr lang="en-US" smtClean="0"/>
              <a:t>9/15/2026</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48F63A3B-78C7-47BE-AE5E-E10140E0464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2.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4.jpeg"/><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0896" y="104284"/>
            <a:ext cx="10643616" cy="495520"/>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100" b="1" i="0" u="none" strike="noStrike" kern="1200" cap="none" spc="0" normalizeH="0" baseline="0" noProof="0" dirty="0" err="1">
                <a:ln>
                  <a:noFill/>
                </a:ln>
                <a:solidFill>
                  <a:srgbClr val="F6654B"/>
                </a:solidFill>
                <a:effectLst/>
                <a:uLnTx/>
                <a:uFillTx/>
                <a:latin typeface="Microsoft YaHei"/>
                <a:ea typeface="+mn-ea"/>
                <a:cs typeface="+mn-cs"/>
              </a:rPr>
              <a:t>数据中心网络：从</a:t>
            </a:r>
            <a:r>
              <a:rPr lang="zh-CN" altLang="en-US" sz="3100" b="1" dirty="0">
                <a:solidFill>
                  <a:srgbClr val="F6654B"/>
                </a:solidFill>
                <a:latin typeface="微软雅黑" panose="020B0503020204020204" pitchFamily="34" charset="-122"/>
                <a:ea typeface="微软雅黑" panose="020B0503020204020204" pitchFamily="34" charset="-122"/>
              </a:rPr>
              <a:t>拓扑设计</a:t>
            </a:r>
            <a:r>
              <a:rPr kumimoji="0" sz="3100" b="1" i="0" u="none" strike="noStrike" kern="1200" cap="none" spc="0" normalizeH="0" baseline="0" noProof="0" dirty="0" err="1">
                <a:ln>
                  <a:noFill/>
                </a:ln>
                <a:solidFill>
                  <a:srgbClr val="F6654B"/>
                </a:solidFill>
                <a:effectLst/>
                <a:uLnTx/>
                <a:uFillTx/>
                <a:latin typeface="Microsoft YaHei"/>
                <a:ea typeface="+mn-ea"/>
                <a:cs typeface="+mn-cs"/>
              </a:rPr>
              <a:t>到超大规模生产化</a:t>
            </a:r>
            <a:endParaRPr kumimoji="0" sz="3100" b="1" i="0" u="none" strike="noStrike" kern="1200" cap="none" spc="0" normalizeH="0" baseline="0" noProof="0" dirty="0">
              <a:ln>
                <a:noFill/>
              </a:ln>
              <a:solidFill>
                <a:srgbClr val="F6654B"/>
              </a:solidFill>
              <a:effectLst/>
              <a:uLnTx/>
              <a:uFillTx/>
              <a:latin typeface="Microsoft YaHei"/>
              <a:ea typeface="+mn-ea"/>
              <a:cs typeface="+mn-cs"/>
            </a:endParaRPr>
          </a:p>
        </p:txBody>
      </p:sp>
      <p:sp>
        <p:nvSpPr>
          <p:cNvPr id="3" name="Rounded Rectangle 2"/>
          <p:cNvSpPr/>
          <p:nvPr/>
        </p:nvSpPr>
        <p:spPr>
          <a:xfrm>
            <a:off x="1005840" y="969264"/>
            <a:ext cx="10799064" cy="886968"/>
          </a:xfrm>
          <a:prstGeom prst="roundRect">
            <a:avLst>
              <a:gd name="adj" fmla="val 8000"/>
            </a:avLst>
          </a:prstGeom>
          <a:solidFill>
            <a:srgbClr val="FFFFFF"/>
          </a:solidFill>
          <a:ln w="11430">
            <a:solidFill>
              <a:srgbClr val="0F31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ounded Rectangle 3"/>
          <p:cNvSpPr/>
          <p:nvPr/>
        </p:nvSpPr>
        <p:spPr>
          <a:xfrm>
            <a:off x="274320" y="960120"/>
            <a:ext cx="969264" cy="896112"/>
          </a:xfrm>
          <a:prstGeom prst="roundRect">
            <a:avLst>
              <a:gd name="adj" fmla="val 8000"/>
            </a:avLst>
          </a:prstGeom>
          <a:solidFill>
            <a:srgbClr val="3158A8"/>
          </a:solidFill>
          <a:ln w="6350">
            <a:solidFill>
              <a:srgbClr val="3158A8"/>
            </a:solidFill>
            <a:prstDash val="solid"/>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a:ln>
                  <a:noFill/>
                </a:ln>
                <a:solidFill>
                  <a:srgbClr val="FFFFFF"/>
                </a:solidFill>
                <a:effectLst/>
                <a:uLnTx/>
                <a:uFillTx/>
                <a:latin typeface="Microsoft YaHei"/>
                <a:ea typeface="+mn-ea"/>
                <a:cs typeface="+mn-cs"/>
              </a:rPr>
              <a:t>研究
思路</a:t>
            </a:r>
          </a:p>
        </p:txBody>
      </p:sp>
      <p:sp>
        <p:nvSpPr>
          <p:cNvPr id="5" name="TextBox 4"/>
          <p:cNvSpPr txBox="1"/>
          <p:nvPr/>
        </p:nvSpPr>
        <p:spPr>
          <a:xfrm>
            <a:off x="1353312" y="1209705"/>
            <a:ext cx="10451592" cy="387798"/>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err="1">
                <a:ln>
                  <a:noFill/>
                </a:ln>
                <a:solidFill>
                  <a:srgbClr val="181818"/>
                </a:solidFill>
                <a:effectLst/>
                <a:uLnTx/>
                <a:uFillTx/>
                <a:latin typeface="Microsoft YaHei"/>
                <a:ea typeface="+mn-ea"/>
                <a:cs typeface="+mn-cs"/>
              </a:rPr>
              <a:t>沿时间主线，从</a:t>
            </a:r>
            <a:r>
              <a:rPr lang="zh-CN" altLang="en-US" sz="2400" dirty="0">
                <a:solidFill>
                  <a:srgbClr val="FF0000"/>
                </a:solidFill>
                <a:latin typeface="微软雅黑" panose="020B0503020204020204" pitchFamily="34" charset="-122"/>
                <a:ea typeface="微软雅黑" panose="020B0503020204020204" pitchFamily="34" charset="-122"/>
              </a:rPr>
              <a:t>网络横向扩展</a:t>
            </a:r>
            <a:r>
              <a:rPr kumimoji="0" sz="2400" b="0" i="0" u="none" strike="noStrike" kern="1200" cap="none" spc="0" normalizeH="0" baseline="0" noProof="0" dirty="0">
                <a:ln>
                  <a:noFill/>
                </a:ln>
                <a:solidFill>
                  <a:srgbClr val="181818"/>
                </a:solidFill>
                <a:effectLst/>
                <a:uLnTx/>
                <a:uFillTx/>
                <a:latin typeface="Microsoft YaHei"/>
                <a:ea typeface="+mn-ea"/>
                <a:cs typeface="+mn-cs"/>
              </a:rPr>
              <a:t>、</a:t>
            </a:r>
            <a:r>
              <a:rPr kumimoji="0" sz="2400" b="0" i="0" u="none" strike="noStrike" kern="1200" cap="none" spc="0" normalizeH="0" baseline="0" noProof="0" dirty="0" err="1">
                <a:ln>
                  <a:noFill/>
                </a:ln>
                <a:solidFill>
                  <a:srgbClr val="181818"/>
                </a:solidFill>
                <a:effectLst/>
                <a:uLnTx/>
                <a:uFillTx/>
                <a:latin typeface="Microsoft YaHei"/>
                <a:ea typeface="+mn-ea"/>
                <a:cs typeface="+mn-cs"/>
              </a:rPr>
              <a:t>集中式调度走向</a:t>
            </a:r>
            <a:r>
              <a:rPr kumimoji="0" sz="2400" b="0" i="0" u="none" strike="noStrike" kern="1200" cap="none" spc="0" normalizeH="0" baseline="0" noProof="0" dirty="0" err="1">
                <a:ln>
                  <a:noFill/>
                </a:ln>
                <a:solidFill>
                  <a:srgbClr val="FF0000"/>
                </a:solidFill>
                <a:effectLst/>
                <a:uLnTx/>
                <a:uFillTx/>
                <a:latin typeface="Microsoft YaHei"/>
                <a:ea typeface="+mn-ea"/>
                <a:cs typeface="+mn-cs"/>
              </a:rPr>
              <a:t>超大规模</a:t>
            </a:r>
            <a:r>
              <a:rPr kumimoji="0"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工业实践</a:t>
            </a:r>
            <a:endParaRPr kumimoji="0"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p:txBody>
      </p:sp>
      <p:sp>
        <p:nvSpPr>
          <p:cNvPr id="6" name="Rounded Rectangle 5"/>
          <p:cNvSpPr/>
          <p:nvPr/>
        </p:nvSpPr>
        <p:spPr>
          <a:xfrm>
            <a:off x="310896" y="2331720"/>
            <a:ext cx="3621024" cy="3456432"/>
          </a:xfrm>
          <a:prstGeom prst="roundRect">
            <a:avLst>
              <a:gd name="adj" fmla="val 8000"/>
            </a:avLst>
          </a:prstGeom>
          <a:solidFill>
            <a:srgbClr val="FFFFFF"/>
          </a:solidFill>
          <a:ln w="11430">
            <a:solidFill>
              <a:srgbClr val="0F31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ounded Rectangle 6"/>
          <p:cNvSpPr/>
          <p:nvPr/>
        </p:nvSpPr>
        <p:spPr>
          <a:xfrm>
            <a:off x="493776" y="2048256"/>
            <a:ext cx="3255264" cy="566928"/>
          </a:xfrm>
          <a:prstGeom prst="roundRect">
            <a:avLst>
              <a:gd name="adj" fmla="val 8000"/>
            </a:avLst>
          </a:prstGeom>
          <a:solidFill>
            <a:srgbClr val="3158A8"/>
          </a:solidFill>
          <a:ln w="6350">
            <a:solidFill>
              <a:srgbClr val="3158A8"/>
            </a:solidFill>
            <a:prstDash val="solid"/>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Microsoft YaHei"/>
                <a:ea typeface="+mn-ea"/>
                <a:cs typeface="+mn-cs"/>
              </a:rPr>
              <a:t>01  Fat-Tree</a:t>
            </a:r>
          </a:p>
        </p:txBody>
      </p:sp>
      <p:sp>
        <p:nvSpPr>
          <p:cNvPr id="8" name="TextBox 7"/>
          <p:cNvSpPr txBox="1"/>
          <p:nvPr/>
        </p:nvSpPr>
        <p:spPr>
          <a:xfrm>
            <a:off x="585216" y="2670048"/>
            <a:ext cx="3072384"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F5F5F"/>
                </a:solidFill>
                <a:effectLst/>
                <a:uLnTx/>
                <a:uFillTx/>
                <a:latin typeface="Microsoft YaHei"/>
                <a:ea typeface="+mn-ea"/>
                <a:cs typeface="+mn-cs"/>
              </a:rPr>
              <a:t>SIGCOMM 2008</a:t>
            </a:r>
          </a:p>
        </p:txBody>
      </p:sp>
      <p:sp>
        <p:nvSpPr>
          <p:cNvPr id="9" name="TextBox 8"/>
          <p:cNvSpPr txBox="1"/>
          <p:nvPr/>
        </p:nvSpPr>
        <p:spPr>
          <a:xfrm>
            <a:off x="493776" y="2944368"/>
            <a:ext cx="3255264" cy="1042415"/>
          </a:xfrm>
          <a:prstGeom prst="rect">
            <a:avLst/>
          </a:prstGeom>
          <a:noFill/>
        </p:spPr>
        <p:txBody>
          <a:bodyPr wrap="square" lIns="45720" tIns="18288" rIns="27432" bIns="18288" anchor="t">
            <a:spAutoFit/>
          </a:bodyPr>
          <a:lstStyle/>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问题：</a:t>
            </a:r>
            <a:r>
              <a:rPr kumimoji="0" sz="1800" b="0" i="0" u="none" strike="noStrike" kern="1200" cap="none" spc="0" normalizeH="0" baseline="0" noProof="0" dirty="0" err="1">
                <a:ln>
                  <a:noFill/>
                </a:ln>
                <a:solidFill>
                  <a:srgbClr val="181818"/>
                </a:solidFill>
                <a:effectLst/>
                <a:uLnTx/>
                <a:uFillTx/>
                <a:latin typeface="Microsoft YaHei"/>
                <a:ea typeface="+mn-ea"/>
                <a:cs typeface="+mn-cs"/>
              </a:rPr>
              <a:t>层级树带宽受限</a:t>
            </a:r>
            <a:endParaRPr kumimoji="0" sz="1800" b="0" i="0" u="none" strike="noStrike" kern="1200" cap="none" spc="0" normalizeH="0" baseline="0" noProof="0" dirty="0">
              <a:ln>
                <a:noFill/>
              </a:ln>
              <a:solidFill>
                <a:srgbClr val="181818"/>
              </a:solidFill>
              <a:effectLst/>
              <a:uLnTx/>
              <a:uFillTx/>
              <a:latin typeface="Microsoft YaHei"/>
              <a:ea typeface="+mn-ea"/>
              <a:cs typeface="+mn-cs"/>
            </a:endParaRP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机制：</a:t>
            </a:r>
            <a:r>
              <a:rPr kumimoji="0" sz="1800" b="0" i="0" u="none" strike="noStrike" kern="1200" cap="none" spc="0" normalizeH="0" baseline="0" noProof="0" dirty="0" err="1">
                <a:ln>
                  <a:noFill/>
                </a:ln>
                <a:solidFill>
                  <a:srgbClr val="181818"/>
                </a:solidFill>
                <a:effectLst/>
                <a:uLnTx/>
                <a:uFillTx/>
                <a:latin typeface="Microsoft YaHei"/>
                <a:ea typeface="+mn-ea"/>
                <a:cs typeface="+mn-cs"/>
              </a:rPr>
              <a:t>商用交换机组建</a:t>
            </a:r>
            <a:r>
              <a:rPr kumimoji="0" sz="1800" b="0" i="0" u="none" strike="noStrike" kern="1200" cap="none" spc="0" normalizeH="0" baseline="0" noProof="0" dirty="0">
                <a:ln>
                  <a:noFill/>
                </a:ln>
                <a:solidFill>
                  <a:srgbClr val="181818"/>
                </a:solidFill>
                <a:effectLst/>
                <a:uLnTx/>
                <a:uFillTx/>
                <a:latin typeface="Microsoft YaHei"/>
                <a:ea typeface="+mn-ea"/>
                <a:cs typeface="+mn-cs"/>
              </a:rPr>
              <a:t> Clos</a:t>
            </a: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价值：</a:t>
            </a:r>
            <a:r>
              <a:rPr kumimoji="0" sz="1800" b="0" i="0" u="none" strike="noStrike" kern="1200" cap="none" spc="0" normalizeH="0" baseline="0" noProof="0" dirty="0" err="1">
                <a:ln>
                  <a:noFill/>
                </a:ln>
                <a:solidFill>
                  <a:srgbClr val="181818"/>
                </a:solidFill>
                <a:effectLst/>
                <a:uLnTx/>
                <a:uFillTx/>
                <a:latin typeface="Microsoft YaHei"/>
                <a:ea typeface="+mn-ea"/>
                <a:cs typeface="+mn-cs"/>
              </a:rPr>
              <a:t>全带宽横向扩展</a:t>
            </a:r>
            <a:endParaRPr kumimoji="0" sz="1800" b="0" i="0" u="none" strike="noStrike" kern="1200" cap="none" spc="0" normalizeH="0" baseline="0" noProof="0" dirty="0">
              <a:ln>
                <a:noFill/>
              </a:ln>
              <a:solidFill>
                <a:srgbClr val="181818"/>
              </a:solidFill>
              <a:effectLst/>
              <a:uLnTx/>
              <a:uFillTx/>
              <a:latin typeface="Microsoft YaHei"/>
              <a:ea typeface="+mn-ea"/>
              <a:cs typeface="+mn-cs"/>
            </a:endParaRPr>
          </a:p>
        </p:txBody>
      </p:sp>
      <p:pic>
        <p:nvPicPr>
          <p:cNvPr id="10" name="Picture 9" descr="image.png"/>
          <p:cNvPicPr>
            <a:picLocks noChangeAspect="1"/>
          </p:cNvPicPr>
          <p:nvPr/>
        </p:nvPicPr>
        <p:blipFill>
          <a:blip r:embed="rId3"/>
          <a:stretch>
            <a:fillRect/>
          </a:stretch>
        </p:blipFill>
        <p:spPr>
          <a:xfrm>
            <a:off x="576072" y="3953756"/>
            <a:ext cx="3090672" cy="1401079"/>
          </a:xfrm>
          <a:prstGeom prst="rect">
            <a:avLst/>
          </a:prstGeom>
        </p:spPr>
      </p:pic>
      <p:sp>
        <p:nvSpPr>
          <p:cNvPr id="11" name="TextBox 10"/>
          <p:cNvSpPr txBox="1"/>
          <p:nvPr/>
        </p:nvSpPr>
        <p:spPr>
          <a:xfrm>
            <a:off x="530352" y="5468112"/>
            <a:ext cx="3182112"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err="1">
                <a:ln>
                  <a:noFill/>
                </a:ln>
                <a:solidFill>
                  <a:srgbClr val="5F5F5F"/>
                </a:solidFill>
                <a:effectLst/>
                <a:uLnTx/>
                <a:uFillTx/>
                <a:latin typeface="Microsoft YaHei"/>
                <a:ea typeface="+mn-ea"/>
                <a:cs typeface="+mn-cs"/>
              </a:rPr>
              <a:t>多级</a:t>
            </a:r>
            <a:r>
              <a:rPr kumimoji="0" sz="1000" b="0" i="0" u="none" strike="noStrike" kern="1200" cap="none" spc="0" normalizeH="0" baseline="0" noProof="0" dirty="0">
                <a:ln>
                  <a:noFill/>
                </a:ln>
                <a:solidFill>
                  <a:srgbClr val="5F5F5F"/>
                </a:solidFill>
                <a:effectLst/>
                <a:uLnTx/>
                <a:uFillTx/>
                <a:latin typeface="Microsoft YaHei"/>
                <a:ea typeface="+mn-ea"/>
                <a:cs typeface="+mn-cs"/>
              </a:rPr>
              <a:t> Fat-Tree </a:t>
            </a:r>
            <a:r>
              <a:rPr kumimoji="0" sz="1000" b="0" i="0" u="none" strike="noStrike" kern="1200" cap="none" spc="0" normalizeH="0" baseline="0" noProof="0" dirty="0" err="1">
                <a:ln>
                  <a:noFill/>
                </a:ln>
                <a:solidFill>
                  <a:srgbClr val="5F5F5F"/>
                </a:solidFill>
                <a:effectLst/>
                <a:uLnTx/>
                <a:uFillTx/>
                <a:latin typeface="Microsoft YaHei"/>
                <a:ea typeface="+mn-ea"/>
                <a:cs typeface="+mn-cs"/>
              </a:rPr>
              <a:t>提供跨</a:t>
            </a:r>
            <a:r>
              <a:rPr kumimoji="0" sz="1000" b="0" i="0" u="none" strike="noStrike" kern="1200" cap="none" spc="0" normalizeH="0" baseline="0" noProof="0" dirty="0">
                <a:ln>
                  <a:noFill/>
                </a:ln>
                <a:solidFill>
                  <a:srgbClr val="5F5F5F"/>
                </a:solidFill>
                <a:effectLst/>
                <a:uLnTx/>
                <a:uFillTx/>
                <a:latin typeface="Microsoft YaHei"/>
                <a:ea typeface="+mn-ea"/>
                <a:cs typeface="+mn-cs"/>
              </a:rPr>
              <a:t> Pod </a:t>
            </a:r>
            <a:r>
              <a:rPr kumimoji="0" sz="1000" b="0" i="0" u="none" strike="noStrike" kern="1200" cap="none" spc="0" normalizeH="0" baseline="0" noProof="0" dirty="0" err="1">
                <a:ln>
                  <a:noFill/>
                </a:ln>
                <a:solidFill>
                  <a:srgbClr val="5F5F5F"/>
                </a:solidFill>
                <a:effectLst/>
                <a:uLnTx/>
                <a:uFillTx/>
                <a:latin typeface="Microsoft YaHei"/>
                <a:ea typeface="+mn-ea"/>
                <a:cs typeface="+mn-cs"/>
              </a:rPr>
              <a:t>等价路径</a:t>
            </a:r>
            <a:endParaRPr kumimoji="0" sz="1000" b="0" i="0" u="none" strike="noStrike" kern="1200" cap="none" spc="0" normalizeH="0" baseline="0" noProof="0" dirty="0">
              <a:ln>
                <a:noFill/>
              </a:ln>
              <a:solidFill>
                <a:srgbClr val="5F5F5F"/>
              </a:solidFill>
              <a:effectLst/>
              <a:uLnTx/>
              <a:uFillTx/>
              <a:latin typeface="Microsoft YaHei"/>
              <a:ea typeface="+mn-ea"/>
              <a:cs typeface="+mn-cs"/>
            </a:endParaRPr>
          </a:p>
        </p:txBody>
      </p:sp>
      <p:sp>
        <p:nvSpPr>
          <p:cNvPr id="12" name="Rounded Rectangle 11"/>
          <p:cNvSpPr/>
          <p:nvPr/>
        </p:nvSpPr>
        <p:spPr>
          <a:xfrm>
            <a:off x="4142232" y="2331720"/>
            <a:ext cx="3621024" cy="3456432"/>
          </a:xfrm>
          <a:prstGeom prst="roundRect">
            <a:avLst>
              <a:gd name="adj" fmla="val 8000"/>
            </a:avLst>
          </a:prstGeom>
          <a:solidFill>
            <a:srgbClr val="FFFFFF"/>
          </a:solidFill>
          <a:ln w="11430">
            <a:solidFill>
              <a:srgbClr val="0F31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ounded Rectangle 12"/>
          <p:cNvSpPr/>
          <p:nvPr/>
        </p:nvSpPr>
        <p:spPr>
          <a:xfrm>
            <a:off x="4325112" y="2048256"/>
            <a:ext cx="3255264" cy="566928"/>
          </a:xfrm>
          <a:prstGeom prst="roundRect">
            <a:avLst>
              <a:gd name="adj" fmla="val 8000"/>
            </a:avLst>
          </a:prstGeom>
          <a:solidFill>
            <a:srgbClr val="F6654B"/>
          </a:solidFill>
          <a:ln w="6350">
            <a:solidFill>
              <a:srgbClr val="F6654B"/>
            </a:solidFill>
            <a:prstDash val="solid"/>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Microsoft YaHei"/>
                <a:ea typeface="+mn-ea"/>
                <a:cs typeface="+mn-cs"/>
              </a:rPr>
              <a:t>02  Hedera</a:t>
            </a:r>
          </a:p>
        </p:txBody>
      </p:sp>
      <p:sp>
        <p:nvSpPr>
          <p:cNvPr id="14" name="TextBox 13"/>
          <p:cNvSpPr txBox="1"/>
          <p:nvPr/>
        </p:nvSpPr>
        <p:spPr>
          <a:xfrm>
            <a:off x="4416552" y="2670048"/>
            <a:ext cx="3072384"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F5F5F"/>
                </a:solidFill>
                <a:effectLst/>
                <a:uLnTx/>
                <a:uFillTx/>
                <a:latin typeface="Microsoft YaHei"/>
                <a:ea typeface="+mn-ea"/>
                <a:cs typeface="+mn-cs"/>
              </a:rPr>
              <a:t>NSDI 2010</a:t>
            </a:r>
          </a:p>
        </p:txBody>
      </p:sp>
      <p:sp>
        <p:nvSpPr>
          <p:cNvPr id="15" name="TextBox 14"/>
          <p:cNvSpPr txBox="1"/>
          <p:nvPr/>
        </p:nvSpPr>
        <p:spPr>
          <a:xfrm>
            <a:off x="4325112" y="2944368"/>
            <a:ext cx="3255264" cy="1042415"/>
          </a:xfrm>
          <a:prstGeom prst="rect">
            <a:avLst/>
          </a:prstGeom>
          <a:noFill/>
        </p:spPr>
        <p:txBody>
          <a:bodyPr wrap="square" lIns="45720" tIns="18288" rIns="27432" bIns="18288" anchor="t">
            <a:spAutoFit/>
          </a:bodyPr>
          <a:lstStyle/>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a:ln>
                  <a:noFill/>
                </a:ln>
                <a:solidFill>
                  <a:srgbClr val="3158A8"/>
                </a:solidFill>
                <a:effectLst/>
                <a:uLnTx/>
                <a:uFillTx/>
                <a:latin typeface="Microsoft YaHei"/>
                <a:ea typeface="+mn-ea"/>
                <a:cs typeface="+mn-cs"/>
              </a:rPr>
              <a:t>➢ </a:t>
            </a:r>
            <a:r>
              <a:rPr kumimoji="0" sz="1800" b="1" i="0" u="none" strike="noStrike" kern="1200" cap="none" spc="0" normalizeH="0" baseline="0" noProof="0">
                <a:ln>
                  <a:noFill/>
                </a:ln>
                <a:solidFill>
                  <a:srgbClr val="F6654B"/>
                </a:solidFill>
                <a:effectLst/>
                <a:uLnTx/>
                <a:uFillTx/>
                <a:latin typeface="Microsoft YaHei"/>
                <a:ea typeface="+mn-ea"/>
                <a:cs typeface="+mn-cs"/>
              </a:rPr>
              <a:t>问题：</a:t>
            </a:r>
            <a:r>
              <a:rPr kumimoji="0" sz="1800" b="0" i="0" u="none" strike="noStrike" kern="1200" cap="none" spc="0" normalizeH="0" baseline="0" noProof="0">
                <a:ln>
                  <a:noFill/>
                </a:ln>
                <a:solidFill>
                  <a:srgbClr val="181818"/>
                </a:solidFill>
                <a:effectLst/>
                <a:uLnTx/>
                <a:uFillTx/>
                <a:latin typeface="Microsoft YaHei"/>
                <a:ea typeface="+mn-ea"/>
                <a:cs typeface="+mn-cs"/>
              </a:rPr>
              <a:t>ECMP 大流易碰撞</a:t>
            </a: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a:ln>
                  <a:noFill/>
                </a:ln>
                <a:solidFill>
                  <a:srgbClr val="3158A8"/>
                </a:solidFill>
                <a:effectLst/>
                <a:uLnTx/>
                <a:uFillTx/>
                <a:latin typeface="Microsoft YaHei"/>
                <a:ea typeface="+mn-ea"/>
                <a:cs typeface="+mn-cs"/>
              </a:rPr>
              <a:t>➢ </a:t>
            </a:r>
            <a:r>
              <a:rPr kumimoji="0" sz="1800" b="1" i="0" u="none" strike="noStrike" kern="1200" cap="none" spc="0" normalizeH="0" baseline="0" noProof="0">
                <a:ln>
                  <a:noFill/>
                </a:ln>
                <a:solidFill>
                  <a:srgbClr val="F6654B"/>
                </a:solidFill>
                <a:effectLst/>
                <a:uLnTx/>
                <a:uFillTx/>
                <a:latin typeface="Microsoft YaHei"/>
                <a:ea typeface="+mn-ea"/>
                <a:cs typeface="+mn-cs"/>
              </a:rPr>
              <a:t>机制：</a:t>
            </a:r>
            <a:r>
              <a:rPr kumimoji="0" sz="1800" b="0" i="0" u="none" strike="noStrike" kern="1200" cap="none" spc="0" normalizeH="0" baseline="0" noProof="0">
                <a:ln>
                  <a:noFill/>
                </a:ln>
                <a:solidFill>
                  <a:srgbClr val="181818"/>
                </a:solidFill>
                <a:effectLst/>
                <a:uLnTx/>
                <a:uFillTx/>
                <a:latin typeface="Microsoft YaHei"/>
                <a:ea typeface="+mn-ea"/>
                <a:cs typeface="+mn-cs"/>
              </a:rPr>
              <a:t>集中识别并迁移大流</a:t>
            </a: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a:ln>
                  <a:noFill/>
                </a:ln>
                <a:solidFill>
                  <a:srgbClr val="3158A8"/>
                </a:solidFill>
                <a:effectLst/>
                <a:uLnTx/>
                <a:uFillTx/>
                <a:latin typeface="Microsoft YaHei"/>
                <a:ea typeface="+mn-ea"/>
                <a:cs typeface="+mn-cs"/>
              </a:rPr>
              <a:t>➢ </a:t>
            </a:r>
            <a:r>
              <a:rPr kumimoji="0" sz="1800" b="1" i="0" u="none" strike="noStrike" kern="1200" cap="none" spc="0" normalizeH="0" baseline="0" noProof="0">
                <a:ln>
                  <a:noFill/>
                </a:ln>
                <a:solidFill>
                  <a:srgbClr val="F6654B"/>
                </a:solidFill>
                <a:effectLst/>
                <a:uLnTx/>
                <a:uFillTx/>
                <a:latin typeface="Microsoft YaHei"/>
                <a:ea typeface="+mn-ea"/>
                <a:cs typeface="+mn-cs"/>
              </a:rPr>
              <a:t>价值：</a:t>
            </a:r>
            <a:r>
              <a:rPr kumimoji="0" sz="1800" b="0" i="0" u="none" strike="noStrike" kern="1200" cap="none" spc="0" normalizeH="0" baseline="0" noProof="0">
                <a:ln>
                  <a:noFill/>
                </a:ln>
                <a:solidFill>
                  <a:srgbClr val="181818"/>
                </a:solidFill>
                <a:effectLst/>
                <a:uLnTx/>
                <a:uFillTx/>
                <a:latin typeface="Microsoft YaHei"/>
                <a:ea typeface="+mn-ea"/>
                <a:cs typeface="+mn-cs"/>
              </a:rPr>
              <a:t>吞吐接近全局最优</a:t>
            </a:r>
          </a:p>
        </p:txBody>
      </p:sp>
      <p:pic>
        <p:nvPicPr>
          <p:cNvPr id="16" name="Picture 15" descr="image.png"/>
          <p:cNvPicPr>
            <a:picLocks noChangeAspect="1"/>
          </p:cNvPicPr>
          <p:nvPr/>
        </p:nvPicPr>
        <p:blipFill>
          <a:blip r:embed="rId4"/>
          <a:stretch>
            <a:fillRect/>
          </a:stretch>
        </p:blipFill>
        <p:spPr>
          <a:xfrm>
            <a:off x="4587708" y="3904487"/>
            <a:ext cx="2730070" cy="1499616"/>
          </a:xfrm>
          <a:prstGeom prst="rect">
            <a:avLst/>
          </a:prstGeom>
        </p:spPr>
      </p:pic>
      <p:sp>
        <p:nvSpPr>
          <p:cNvPr id="17" name="TextBox 16"/>
          <p:cNvSpPr txBox="1"/>
          <p:nvPr/>
        </p:nvSpPr>
        <p:spPr>
          <a:xfrm>
            <a:off x="4361688" y="5468112"/>
            <a:ext cx="3182112"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F5F5F"/>
                </a:solidFill>
                <a:effectLst/>
                <a:uLnTx/>
                <a:uFillTx/>
                <a:latin typeface="Microsoft YaHei"/>
                <a:ea typeface="+mn-ea"/>
                <a:cs typeface="+mn-cs"/>
              </a:rPr>
              <a:t>Flow Scheduler 统一调整数据平面路径</a:t>
            </a:r>
          </a:p>
        </p:txBody>
      </p:sp>
      <p:sp>
        <p:nvSpPr>
          <p:cNvPr id="18" name="Rounded Rectangle 17"/>
          <p:cNvSpPr/>
          <p:nvPr/>
        </p:nvSpPr>
        <p:spPr>
          <a:xfrm>
            <a:off x="7973568" y="2331720"/>
            <a:ext cx="3621024" cy="3456432"/>
          </a:xfrm>
          <a:prstGeom prst="roundRect">
            <a:avLst>
              <a:gd name="adj" fmla="val 8000"/>
            </a:avLst>
          </a:prstGeom>
          <a:solidFill>
            <a:srgbClr val="FFFFFF"/>
          </a:solidFill>
          <a:ln w="11430">
            <a:solidFill>
              <a:srgbClr val="0F31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ounded Rectangle 18"/>
          <p:cNvSpPr/>
          <p:nvPr/>
        </p:nvSpPr>
        <p:spPr>
          <a:xfrm>
            <a:off x="8156448" y="2048256"/>
            <a:ext cx="3255264" cy="566928"/>
          </a:xfrm>
          <a:prstGeom prst="roundRect">
            <a:avLst>
              <a:gd name="adj" fmla="val 8000"/>
            </a:avLst>
          </a:prstGeom>
          <a:solidFill>
            <a:srgbClr val="3158A8"/>
          </a:solidFill>
          <a:ln w="6350">
            <a:solidFill>
              <a:srgbClr val="3158A8"/>
            </a:solidFill>
            <a:prstDash val="solid"/>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Microsoft YaHei"/>
                <a:ea typeface="+mn-ea"/>
                <a:cs typeface="+mn-cs"/>
              </a:rPr>
              <a:t>03  Jupiter</a:t>
            </a:r>
          </a:p>
        </p:txBody>
      </p:sp>
      <p:sp>
        <p:nvSpPr>
          <p:cNvPr id="20" name="TextBox 19"/>
          <p:cNvSpPr txBox="1"/>
          <p:nvPr/>
        </p:nvSpPr>
        <p:spPr>
          <a:xfrm>
            <a:off x="8247888" y="2670048"/>
            <a:ext cx="3072384"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F5F5F"/>
                </a:solidFill>
                <a:effectLst/>
                <a:uLnTx/>
                <a:uFillTx/>
                <a:latin typeface="Microsoft YaHei"/>
                <a:ea typeface="+mn-ea"/>
                <a:cs typeface="+mn-cs"/>
              </a:rPr>
              <a:t>SIGCOMM 2015</a:t>
            </a:r>
          </a:p>
        </p:txBody>
      </p:sp>
      <p:sp>
        <p:nvSpPr>
          <p:cNvPr id="21" name="TextBox 20"/>
          <p:cNvSpPr txBox="1"/>
          <p:nvPr/>
        </p:nvSpPr>
        <p:spPr>
          <a:xfrm>
            <a:off x="8156448" y="2944368"/>
            <a:ext cx="3255264" cy="827021"/>
          </a:xfrm>
          <a:prstGeom prst="rect">
            <a:avLst/>
          </a:prstGeom>
          <a:noFill/>
        </p:spPr>
        <p:txBody>
          <a:bodyPr wrap="square" lIns="45720" tIns="18288" rIns="27432" bIns="18288" anchor="t">
            <a:spAutoFit/>
          </a:bodyPr>
          <a:lstStyle/>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问题：</a:t>
            </a:r>
            <a:r>
              <a:rPr kumimoji="0" sz="1800" b="0" i="0" u="none" strike="noStrike" kern="1200" cap="none" spc="0" normalizeH="0" baseline="0" noProof="0" dirty="0" err="1">
                <a:ln>
                  <a:noFill/>
                </a:ln>
                <a:solidFill>
                  <a:srgbClr val="181818"/>
                </a:solidFill>
                <a:effectLst/>
                <a:uLnTx/>
                <a:uFillTx/>
                <a:latin typeface="Microsoft YaHei"/>
                <a:ea typeface="+mn-ea"/>
                <a:cs typeface="+mn-cs"/>
              </a:rPr>
              <a:t>建筑级网络难扩容</a:t>
            </a:r>
            <a:endParaRPr kumimoji="0" sz="1800" b="0" i="0" u="none" strike="noStrike" kern="1200" cap="none" spc="0" normalizeH="0" baseline="0" noProof="0" dirty="0">
              <a:ln>
                <a:noFill/>
              </a:ln>
              <a:solidFill>
                <a:srgbClr val="181818"/>
              </a:solidFill>
              <a:effectLst/>
              <a:uLnTx/>
              <a:uFillTx/>
              <a:latin typeface="Microsoft YaHei"/>
              <a:ea typeface="+mn-ea"/>
              <a:cs typeface="+mn-cs"/>
            </a:endParaRP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机制：</a:t>
            </a:r>
            <a:r>
              <a:rPr kumimoji="0" sz="1800" b="0" i="0" u="none" strike="noStrike" kern="1200" cap="none" spc="0" normalizeH="0" baseline="0" noProof="0" dirty="0" err="1">
                <a:ln>
                  <a:noFill/>
                </a:ln>
                <a:solidFill>
                  <a:srgbClr val="181818"/>
                </a:solidFill>
                <a:effectLst/>
                <a:uLnTx/>
                <a:uFillTx/>
                <a:latin typeface="Microsoft YaHei"/>
                <a:ea typeface="+mn-ea"/>
                <a:cs typeface="+mn-cs"/>
              </a:rPr>
              <a:t>模块化</a:t>
            </a:r>
            <a:r>
              <a:rPr kumimoji="0" sz="1800" b="0" i="0" u="none" strike="noStrike" kern="1200" cap="none" spc="0" normalizeH="0" baseline="0" noProof="0" dirty="0">
                <a:ln>
                  <a:noFill/>
                </a:ln>
                <a:solidFill>
                  <a:srgbClr val="181818"/>
                </a:solidFill>
                <a:effectLst/>
                <a:uLnTx/>
                <a:uFillTx/>
                <a:latin typeface="Microsoft YaHei"/>
                <a:ea typeface="+mn-ea"/>
                <a:cs typeface="+mn-cs"/>
              </a:rPr>
              <a:t> Clos </a:t>
            </a:r>
            <a:r>
              <a:rPr kumimoji="0" sz="1800" b="0" i="0" u="none" strike="noStrike" kern="1200" cap="none" spc="0" normalizeH="0" baseline="0" noProof="0" dirty="0" err="1">
                <a:ln>
                  <a:noFill/>
                </a:ln>
                <a:solidFill>
                  <a:srgbClr val="181818"/>
                </a:solidFill>
                <a:effectLst/>
                <a:uLnTx/>
                <a:uFillTx/>
                <a:latin typeface="Microsoft YaHei"/>
                <a:ea typeface="+mn-ea"/>
                <a:cs typeface="+mn-cs"/>
              </a:rPr>
              <a:t>集中控制</a:t>
            </a:r>
            <a:endParaRPr kumimoji="0" sz="1800" b="0" i="0" u="none" strike="noStrike" kern="1200" cap="none" spc="0" normalizeH="0" baseline="0" noProof="0" dirty="0">
              <a:ln>
                <a:noFill/>
              </a:ln>
              <a:solidFill>
                <a:srgbClr val="181818"/>
              </a:solidFill>
              <a:effectLst/>
              <a:uLnTx/>
              <a:uFillTx/>
              <a:latin typeface="Microsoft YaHei"/>
              <a:ea typeface="+mn-ea"/>
              <a:cs typeface="+mn-cs"/>
            </a:endParaRPr>
          </a:p>
          <a:p>
            <a:pPr marL="0" marR="0" lvl="0" indent="0" algn="l" defTabSz="457200" rtl="0" eaLnBrk="1" fontAlgn="auto" latinLnBrk="0" hangingPunct="1">
              <a:lnSpc>
                <a:spcPct val="92000"/>
              </a:lnSpc>
              <a:spcBef>
                <a:spcPts val="0"/>
              </a:spcBef>
              <a:spcAft>
                <a:spcPts val="140"/>
              </a:spcAft>
              <a:buClrTx/>
              <a:buSzTx/>
              <a:buFontTx/>
              <a:buNone/>
              <a:tabLst/>
              <a:defRPr/>
            </a:pPr>
            <a:r>
              <a:rPr kumimoji="0" sz="1800" b="1" i="0" u="none" strike="noStrike" kern="1200" cap="none" spc="0" normalizeH="0" baseline="0" noProof="0" dirty="0">
                <a:ln>
                  <a:noFill/>
                </a:ln>
                <a:solidFill>
                  <a:srgbClr val="3158A8"/>
                </a:solidFill>
                <a:effectLst/>
                <a:uLnTx/>
                <a:uFillTx/>
                <a:latin typeface="Microsoft YaHei"/>
                <a:ea typeface="+mn-ea"/>
                <a:cs typeface="+mn-cs"/>
              </a:rPr>
              <a:t>➢ </a:t>
            </a:r>
            <a:r>
              <a:rPr kumimoji="0" sz="1800" b="1" i="0" u="none" strike="noStrike" kern="1200" cap="none" spc="0" normalizeH="0" baseline="0" noProof="0" dirty="0" err="1">
                <a:ln>
                  <a:noFill/>
                </a:ln>
                <a:solidFill>
                  <a:srgbClr val="3158A8"/>
                </a:solidFill>
                <a:effectLst/>
                <a:uLnTx/>
                <a:uFillTx/>
                <a:latin typeface="Microsoft YaHei"/>
                <a:ea typeface="+mn-ea"/>
                <a:cs typeface="+mn-cs"/>
              </a:rPr>
              <a:t>价值</a:t>
            </a:r>
            <a:r>
              <a:rPr kumimoji="0" sz="1800" b="1" i="0" u="none" strike="noStrike" kern="1200" cap="none" spc="0" normalizeH="0" baseline="0" noProof="0" dirty="0">
                <a:ln>
                  <a:noFill/>
                </a:ln>
                <a:solidFill>
                  <a:srgbClr val="3158A8"/>
                </a:solidFill>
                <a:effectLst/>
                <a:uLnTx/>
                <a:uFillTx/>
                <a:latin typeface="Microsoft YaHei"/>
                <a:ea typeface="+mn-ea"/>
                <a:cs typeface="+mn-cs"/>
              </a:rPr>
              <a:t>：</a:t>
            </a:r>
            <a:r>
              <a:rPr lang="en-US" dirty="0">
                <a:solidFill>
                  <a:srgbClr val="181818"/>
                </a:solidFill>
                <a:latin typeface="微软雅黑" panose="020B0503020204020204" pitchFamily="34" charset="-122"/>
                <a:ea typeface="微软雅黑" panose="020B0503020204020204" pitchFamily="34" charset="-122"/>
              </a:rPr>
              <a:t>C</a:t>
            </a:r>
            <a:r>
              <a:rPr kumimoji="0" lang="en-US" altLang="zh-CN" sz="1800" b="0" i="0" u="none" strike="noStrike" kern="1200" cap="none" spc="0" normalizeH="0" baseline="0" noProof="0" dirty="0" err="1">
                <a:ln>
                  <a:noFill/>
                </a:ln>
                <a:solidFill>
                  <a:srgbClr val="181818"/>
                </a:solidFill>
                <a:effectLst/>
                <a:uLnTx/>
                <a:uFillTx/>
                <a:latin typeface="微软雅黑" panose="020B0503020204020204" pitchFamily="34" charset="-122"/>
                <a:ea typeface="微软雅黑" panose="020B0503020204020204" pitchFamily="34" charset="-122"/>
              </a:rPr>
              <a:t>los</a:t>
            </a:r>
            <a:r>
              <a:rPr kumimoji="0" lang="zh-CN" altLang="en-US" sz="1800" b="0" i="0" u="none" strike="noStrike" kern="1200" cap="none" spc="0" normalizeH="0" baseline="0" noProof="0" dirty="0">
                <a:ln>
                  <a:noFill/>
                </a:ln>
                <a:solidFill>
                  <a:srgbClr val="181818"/>
                </a:solidFill>
                <a:effectLst/>
                <a:uLnTx/>
                <a:uFillTx/>
                <a:latin typeface="微软雅黑" panose="020B0503020204020204" pitchFamily="34" charset="-122"/>
                <a:ea typeface="微软雅黑" panose="020B0503020204020204" pitchFamily="34" charset="-122"/>
              </a:rPr>
              <a:t>网络</a:t>
            </a:r>
            <a:r>
              <a:rPr kumimoji="0" lang="en-US" altLang="zh-CN" sz="1800" b="0" i="0" u="none" strike="noStrike" kern="1200" cap="none" spc="0" normalizeH="0" baseline="0" noProof="0" dirty="0">
                <a:ln>
                  <a:noFill/>
                </a:ln>
                <a:solidFill>
                  <a:srgbClr val="181818"/>
                </a:solidFill>
                <a:effectLst/>
                <a:uLnTx/>
                <a:uFillTx/>
                <a:latin typeface="微软雅黑" panose="020B0503020204020204" pitchFamily="34" charset="-122"/>
                <a:ea typeface="微软雅黑" panose="020B0503020204020204" pitchFamily="34" charset="-122"/>
              </a:rPr>
              <a:t>+SDN</a:t>
            </a:r>
            <a:r>
              <a:rPr kumimoji="0" lang="zh-CN" altLang="en-US" sz="1800" b="0" i="0" u="none" strike="noStrike" kern="1200" cap="none" spc="0" normalizeH="0" baseline="0" noProof="0" dirty="0">
                <a:ln>
                  <a:noFill/>
                </a:ln>
                <a:solidFill>
                  <a:srgbClr val="181818"/>
                </a:solidFill>
                <a:effectLst/>
                <a:uLnTx/>
                <a:uFillTx/>
                <a:latin typeface="微软雅黑" panose="020B0503020204020204" pitchFamily="34" charset="-122"/>
                <a:ea typeface="微软雅黑" panose="020B0503020204020204" pitchFamily="34" charset="-122"/>
              </a:rPr>
              <a:t>控制</a:t>
            </a:r>
            <a:endParaRPr kumimoji="0" sz="1800" b="0" i="0" u="none" strike="noStrike" kern="1200" cap="none" spc="0" normalizeH="0" baseline="0" noProof="0" dirty="0">
              <a:ln>
                <a:noFill/>
              </a:ln>
              <a:solidFill>
                <a:srgbClr val="181818"/>
              </a:solidFill>
              <a:effectLst/>
              <a:uLnTx/>
              <a:uFillTx/>
              <a:latin typeface="微软雅黑" panose="020B0503020204020204" pitchFamily="34" charset="-122"/>
              <a:ea typeface="微软雅黑" panose="020B0503020204020204" pitchFamily="34" charset="-122"/>
            </a:endParaRPr>
          </a:p>
        </p:txBody>
      </p:sp>
      <p:pic>
        <p:nvPicPr>
          <p:cNvPr id="22" name="Picture 21" descr="image.png"/>
          <p:cNvPicPr>
            <a:picLocks noChangeAspect="1"/>
          </p:cNvPicPr>
          <p:nvPr/>
        </p:nvPicPr>
        <p:blipFill>
          <a:blip r:embed="rId5"/>
          <a:stretch>
            <a:fillRect/>
          </a:stretch>
        </p:blipFill>
        <p:spPr>
          <a:xfrm>
            <a:off x="8321040" y="4076141"/>
            <a:ext cx="3090672" cy="1407258"/>
          </a:xfrm>
          <a:prstGeom prst="rect">
            <a:avLst/>
          </a:prstGeom>
        </p:spPr>
      </p:pic>
      <p:sp>
        <p:nvSpPr>
          <p:cNvPr id="23" name="TextBox 22"/>
          <p:cNvSpPr txBox="1"/>
          <p:nvPr/>
        </p:nvSpPr>
        <p:spPr>
          <a:xfrm>
            <a:off x="8193024" y="5468112"/>
            <a:ext cx="3182112" cy="210312"/>
          </a:xfrm>
          <a:prstGeom prst="rect">
            <a:avLst/>
          </a:prstGeom>
          <a:noFill/>
        </p:spPr>
        <p:txBody>
          <a:bodyPr wrap="square" lIns="18288" tIns="9144" rIns="18288" bIns="9144"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5F5F5F"/>
                </a:solidFill>
                <a:effectLst/>
                <a:uLnTx/>
                <a:uFillTx/>
                <a:latin typeface="Microsoft YaHei"/>
                <a:ea typeface="+mn-ea"/>
                <a:cs typeface="+mn-cs"/>
              </a:rPr>
              <a:t>三级 </a:t>
            </a:r>
            <a:r>
              <a:rPr kumimoji="0" lang="en-US" altLang="zh-CN" sz="1000" b="0" i="0" u="none" strike="noStrike" kern="1200" cap="none" spc="0" normalizeH="0" baseline="0" noProof="0" dirty="0">
                <a:ln>
                  <a:noFill/>
                </a:ln>
                <a:solidFill>
                  <a:srgbClr val="5F5F5F"/>
                </a:solidFill>
                <a:effectLst/>
                <a:uLnTx/>
                <a:uFillTx/>
                <a:latin typeface="Microsoft YaHei"/>
                <a:ea typeface="+mn-ea"/>
                <a:cs typeface="+mn-cs"/>
              </a:rPr>
              <a:t>Clos </a:t>
            </a:r>
            <a:r>
              <a:rPr kumimoji="0" lang="zh-CN" altLang="en-US" sz="1000" b="0" i="0" u="none" strike="noStrike" kern="1200" cap="none" spc="0" normalizeH="0" baseline="0" noProof="0" dirty="0">
                <a:ln>
                  <a:noFill/>
                </a:ln>
                <a:solidFill>
                  <a:srgbClr val="5F5F5F"/>
                </a:solidFill>
                <a:effectLst/>
                <a:uLnTx/>
                <a:uFillTx/>
                <a:latin typeface="Microsoft YaHei"/>
                <a:ea typeface="+mn-ea"/>
                <a:cs typeface="+mn-cs"/>
              </a:rPr>
              <a:t>以模块化交换单元扩展容量</a:t>
            </a:r>
          </a:p>
        </p:txBody>
      </p:sp>
      <p:sp>
        <p:nvSpPr>
          <p:cNvPr id="24" name="TextBox 23"/>
          <p:cNvSpPr txBox="1"/>
          <p:nvPr/>
        </p:nvSpPr>
        <p:spPr>
          <a:xfrm>
            <a:off x="475488" y="5877717"/>
            <a:ext cx="11183112" cy="387798"/>
          </a:xfrm>
          <a:prstGeom prst="rect">
            <a:avLst/>
          </a:prstGeom>
          <a:noFill/>
        </p:spPr>
        <p:txBody>
          <a:bodyPr wrap="square" lIns="18288" tIns="9144" rIns="18288"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err="1">
                <a:ln>
                  <a:noFill/>
                </a:ln>
                <a:solidFill>
                  <a:srgbClr val="3158A8"/>
                </a:solidFill>
                <a:effectLst/>
                <a:uLnTx/>
                <a:uFillTx/>
                <a:latin typeface="Microsoft YaHei"/>
                <a:ea typeface="+mn-ea"/>
                <a:cs typeface="+mn-cs"/>
              </a:rPr>
              <a:t>演进主线</a:t>
            </a:r>
            <a:r>
              <a:rPr kumimoji="0" sz="2400" b="1" i="0" u="none" strike="noStrike" kern="1200" cap="none" spc="0" normalizeH="0" baseline="0" noProof="0" dirty="0">
                <a:ln>
                  <a:noFill/>
                </a:ln>
                <a:solidFill>
                  <a:srgbClr val="3158A8"/>
                </a:solidFill>
                <a:effectLst/>
                <a:uLnTx/>
                <a:uFillTx/>
                <a:latin typeface="Microsoft YaHei"/>
                <a:ea typeface="+mn-ea"/>
                <a:cs typeface="+mn-cs"/>
              </a:rPr>
              <a:t>：</a:t>
            </a:r>
            <a:r>
              <a:rPr kumimoji="0" lang="zh-CN" altLang="en-US" sz="2400" b="1" i="0" u="none" strike="noStrike" kern="1200" cap="none" spc="0" normalizeH="0" baseline="0" noProof="0" dirty="0">
                <a:ln>
                  <a:noFill/>
                </a:ln>
                <a:solidFill>
                  <a:srgbClr val="3158A8"/>
                </a:solidFill>
                <a:effectLst/>
                <a:uLnTx/>
                <a:uFillTx/>
                <a:latin typeface="微软雅黑" panose="020B0503020204020204" pitchFamily="34" charset="-122"/>
                <a:ea typeface="微软雅黑" panose="020B0503020204020204" pitchFamily="34" charset="-122"/>
              </a:rPr>
              <a:t>数据中心网络架构</a:t>
            </a:r>
            <a:r>
              <a:rPr kumimoji="0" sz="2400" b="1" i="0" u="none" strike="noStrike" kern="1200" cap="none" spc="0" normalizeH="0" baseline="0" noProof="0" dirty="0">
                <a:ln>
                  <a:noFill/>
                </a:ln>
                <a:solidFill>
                  <a:srgbClr val="3158A8"/>
                </a:solidFill>
                <a:effectLst/>
                <a:uLnTx/>
                <a:uFillTx/>
                <a:latin typeface="Microsoft YaHei"/>
                <a:ea typeface="+mn-ea"/>
                <a:cs typeface="+mn-cs"/>
              </a:rPr>
              <a:t>  → </a:t>
            </a:r>
            <a:r>
              <a:rPr lang="zh-CN" altLang="en-US" sz="2400" b="1" dirty="0">
                <a:solidFill>
                  <a:srgbClr val="3158A8"/>
                </a:solidFill>
                <a:latin typeface="微软雅黑" panose="020B0503020204020204" pitchFamily="34" charset="-122"/>
                <a:ea typeface="微软雅黑" panose="020B0503020204020204" pitchFamily="34" charset="-122"/>
              </a:rPr>
              <a:t>网络资源</a:t>
            </a:r>
            <a:r>
              <a:rPr sz="2400" b="1" dirty="0" err="1">
                <a:solidFill>
                  <a:srgbClr val="3158A8"/>
                </a:solidFill>
                <a:latin typeface="Microsoft YaHei"/>
              </a:rPr>
              <a:t>调度</a:t>
            </a:r>
            <a:r>
              <a:rPr sz="2400" b="1" dirty="0">
                <a:solidFill>
                  <a:srgbClr val="3158A8"/>
                </a:solidFill>
                <a:latin typeface="Microsoft YaHei"/>
              </a:rPr>
              <a:t>  </a:t>
            </a:r>
            <a:r>
              <a:rPr kumimoji="0" sz="2400" b="1" i="0" u="none" strike="noStrike" kern="1200" cap="none" spc="0" normalizeH="0" baseline="0" noProof="0" dirty="0">
                <a:ln>
                  <a:noFill/>
                </a:ln>
                <a:solidFill>
                  <a:srgbClr val="3158A8"/>
                </a:solidFill>
                <a:effectLst/>
                <a:uLnTx/>
                <a:uFillTx/>
                <a:latin typeface="Microsoft YaHei"/>
                <a:ea typeface="+mn-ea"/>
                <a:cs typeface="+mn-cs"/>
              </a:rPr>
              <a:t>→  </a:t>
            </a:r>
            <a:r>
              <a:rPr kumimoji="0" sz="2400" b="1" i="0" u="none" strike="noStrike" kern="1200" cap="none" spc="0" normalizeH="0" baseline="0" noProof="0" dirty="0" err="1">
                <a:ln>
                  <a:noFill/>
                </a:ln>
                <a:solidFill>
                  <a:srgbClr val="3158A8"/>
                </a:solidFill>
                <a:effectLst/>
                <a:uLnTx/>
                <a:uFillTx/>
                <a:latin typeface="Microsoft YaHei"/>
                <a:ea typeface="+mn-ea"/>
                <a:cs typeface="+mn-cs"/>
              </a:rPr>
              <a:t>大规模生产</a:t>
            </a:r>
            <a:r>
              <a:rPr kumimoji="0" lang="zh-CN" altLang="en-US" sz="2400" b="1" i="0" u="none" strike="noStrike" kern="1200" cap="none" spc="0" normalizeH="0" baseline="0" noProof="0" dirty="0">
                <a:ln>
                  <a:noFill/>
                </a:ln>
                <a:solidFill>
                  <a:srgbClr val="3158A8"/>
                </a:solidFill>
                <a:effectLst/>
                <a:uLnTx/>
                <a:uFillTx/>
                <a:latin typeface="微软雅黑" panose="020B0503020204020204" pitchFamily="34" charset="-122"/>
                <a:ea typeface="微软雅黑" panose="020B0503020204020204" pitchFamily="34" charset="-122"/>
              </a:rPr>
              <a:t>落地</a:t>
            </a:r>
            <a:endParaRPr kumimoji="0" sz="2400" b="1" i="0" u="none" strike="noStrike" kern="1200" cap="none" spc="0" normalizeH="0" baseline="0" noProof="0" dirty="0">
              <a:ln>
                <a:noFill/>
              </a:ln>
              <a:solidFill>
                <a:srgbClr val="3158A8"/>
              </a:solidFill>
              <a:effectLst/>
              <a:uLnTx/>
              <a:uFillTx/>
              <a:latin typeface="微软雅黑" panose="020B0503020204020204" pitchFamily="34" charset="-122"/>
              <a:ea typeface="微软雅黑" panose="020B0503020204020204" pitchFamily="34" charset="-122"/>
            </a:endParaRPr>
          </a:p>
        </p:txBody>
      </p:sp>
      <p:sp>
        <p:nvSpPr>
          <p:cNvPr id="33" name="灯片编号占位符 32">
            <a:extLst>
              <a:ext uri="{FF2B5EF4-FFF2-40B4-BE49-F238E27FC236}">
                <a16:creationId xmlns:a16="http://schemas.microsoft.com/office/drawing/2014/main" id="{987F0C2F-03A1-1C03-0E1A-164D40B514EE}"/>
              </a:ext>
            </a:extLst>
          </p:cNvPr>
          <p:cNvSpPr>
            <a:spLocks noGrp="1"/>
          </p:cNvSpPr>
          <p:nvPr>
            <p:ph type="sldNum" sz="quarter" idx="11"/>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909095C-4D26-4626-8845-57C9CC53DE28}" type="slidenum">
              <a:rPr lang="zh-CN" altLang="en-US" smtClean="0"/>
              <a:pPr/>
              <a:t>1</a:t>
            </a:fld>
            <a:endParaRPr lang="zh-CN" altLang="en-US" dirty="0"/>
          </a:p>
        </p:txBody>
      </p:sp>
      <p:sp>
        <p:nvSpPr>
          <p:cNvPr id="26" name="TextBox 10">
            <a:extLst>
              <a:ext uri="{FF2B5EF4-FFF2-40B4-BE49-F238E27FC236}">
                <a16:creationId xmlns:a16="http://schemas.microsoft.com/office/drawing/2014/main" id="{6E5206D2-C227-25DD-D592-7812098467E4}"/>
              </a:ext>
            </a:extLst>
          </p:cNvPr>
          <p:cNvSpPr txBox="1"/>
          <p:nvPr/>
        </p:nvSpPr>
        <p:spPr>
          <a:xfrm>
            <a:off x="365760" y="3821254"/>
            <a:ext cx="3291840" cy="203133"/>
          </a:xfrm>
          <a:prstGeom prst="rect">
            <a:avLst/>
          </a:prstGeom>
          <a:noFill/>
        </p:spPr>
        <p:txBody>
          <a:bodyPr wrap="square" lIns="18288" tIns="9144" rIns="18288" bIns="9144" anchor="t">
            <a:spAutoFit/>
          </a:bodyPr>
          <a:lstStyle/>
          <a:p>
            <a:pPr lvl="0" algn="ctr" defTabSz="457200">
              <a:defRPr/>
            </a:pPr>
            <a:r>
              <a:rPr lang="zh-CN" altLang="zh-CN" sz="1200" dirty="0"/>
              <a:t>Fat-tree 解决了“数据中心网络应该怎么建”的问题</a:t>
            </a:r>
            <a:endParaRPr kumimoji="0" sz="1200" b="0" i="0" u="none" strike="noStrike" kern="1200" cap="none" spc="0" normalizeH="0" baseline="0" noProof="0" dirty="0">
              <a:ln>
                <a:noFill/>
              </a:ln>
              <a:solidFill>
                <a:srgbClr val="5F5F5F"/>
              </a:solidFill>
              <a:effectLst/>
              <a:uLnTx/>
              <a:uFillTx/>
              <a:latin typeface="Microsoft YaHei"/>
              <a:ea typeface="+mn-ea"/>
              <a:cs typeface="+mn-cs"/>
            </a:endParaRPr>
          </a:p>
        </p:txBody>
      </p:sp>
      <p:sp>
        <p:nvSpPr>
          <p:cNvPr id="30" name="TextBox 10">
            <a:extLst>
              <a:ext uri="{FF2B5EF4-FFF2-40B4-BE49-F238E27FC236}">
                <a16:creationId xmlns:a16="http://schemas.microsoft.com/office/drawing/2014/main" id="{0B1192C3-7FE5-A52B-06A2-A37FDFD8FA02}"/>
              </a:ext>
            </a:extLst>
          </p:cNvPr>
          <p:cNvSpPr txBox="1"/>
          <p:nvPr/>
        </p:nvSpPr>
        <p:spPr>
          <a:xfrm>
            <a:off x="4264152" y="3794759"/>
            <a:ext cx="3291840" cy="203133"/>
          </a:xfrm>
          <a:prstGeom prst="rect">
            <a:avLst/>
          </a:prstGeom>
          <a:noFill/>
        </p:spPr>
        <p:txBody>
          <a:bodyPr wrap="square" lIns="18288" tIns="9144" rIns="18288" bIns="9144" anchor="t">
            <a:spAutoFit/>
          </a:bodyPr>
          <a:lstStyle/>
          <a:p>
            <a:pPr lvl="0" algn="ctr" defTabSz="457200">
              <a:defRPr/>
            </a:pPr>
            <a:r>
              <a:rPr lang="zh-CN" altLang="zh-CN" sz="1200" dirty="0"/>
              <a:t>Hedera 解决了“网络资源如何调度”的问题</a:t>
            </a:r>
            <a:endParaRPr kumimoji="0" sz="1200" b="0" i="0" u="none" strike="noStrike" kern="1200" cap="none" spc="0" normalizeH="0" baseline="0" noProof="0" dirty="0">
              <a:ln>
                <a:noFill/>
              </a:ln>
              <a:solidFill>
                <a:srgbClr val="5F5F5F"/>
              </a:solidFill>
              <a:effectLst/>
              <a:uLnTx/>
              <a:uFillTx/>
              <a:latin typeface="Microsoft YaHei"/>
              <a:ea typeface="+mn-ea"/>
              <a:cs typeface="+mn-cs"/>
            </a:endParaRPr>
          </a:p>
        </p:txBody>
      </p:sp>
      <p:sp>
        <p:nvSpPr>
          <p:cNvPr id="32" name="TextBox 10">
            <a:extLst>
              <a:ext uri="{FF2B5EF4-FFF2-40B4-BE49-F238E27FC236}">
                <a16:creationId xmlns:a16="http://schemas.microsoft.com/office/drawing/2014/main" id="{BF3F37C6-DD3E-3298-EFDC-3F77312F0343}"/>
              </a:ext>
            </a:extLst>
          </p:cNvPr>
          <p:cNvSpPr txBox="1"/>
          <p:nvPr/>
        </p:nvSpPr>
        <p:spPr>
          <a:xfrm>
            <a:off x="8086812" y="3803993"/>
            <a:ext cx="3291840" cy="387798"/>
          </a:xfrm>
          <a:prstGeom prst="rect">
            <a:avLst/>
          </a:prstGeom>
          <a:noFill/>
        </p:spPr>
        <p:txBody>
          <a:bodyPr wrap="square" lIns="18288" tIns="9144" rIns="18288" bIns="9144" anchor="t">
            <a:spAutoFit/>
          </a:bodyPr>
          <a:lstStyle/>
          <a:p>
            <a:r>
              <a:rPr lang="zh-CN" altLang="zh-CN" sz="1200" dirty="0"/>
              <a:t>Jupiter 证明了Clos 网络可以支撑 Google级数据中心，并展示了如何通过集中控制实现工业化运营 </a:t>
            </a:r>
          </a:p>
        </p:txBody>
      </p:sp>
    </p:spTree>
    <p:extLst>
      <p:ext uri="{BB962C8B-B14F-4D97-AF65-F5344CB8AC3E}">
        <p14:creationId xmlns:p14="http://schemas.microsoft.com/office/powerpoint/2010/main" val="1942431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123173" y="1616697"/>
            <a:ext cx="10837204" cy="1707775"/>
          </a:xfrm>
          <a:prstGeom prst="rect">
            <a:avLst/>
          </a:prstGeom>
          <a:noFill/>
          <a:effectLst/>
        </p:spPr>
        <p:txBody>
          <a:bodyPr wrap="square" rtlCol="0">
            <a:spAutoFit/>
          </a:bodyPr>
          <a:lstStyle/>
          <a:p>
            <a:pPr algn="ctr">
              <a:lnSpc>
                <a:spcPct val="125000"/>
              </a:lnSpc>
              <a:defRPr/>
            </a:pPr>
            <a:r>
              <a:rPr lang="en-US" altLang="zh-CN" sz="4400" b="1">
                <a:solidFill>
                  <a:srgbClr val="E9664D"/>
                </a:solidFill>
                <a:latin typeface="微软雅黑" panose="020B0503020204020204" pitchFamily="34" charset="-122"/>
                <a:ea typeface="微软雅黑" panose="020B0503020204020204" pitchFamily="34" charset="-122"/>
                <a:sym typeface="微软雅黑" panose="020B0503020204020204" pitchFamily="34" charset="-122"/>
              </a:rPr>
              <a:t>A Scalable, Commodity Data Center Network Architecture</a:t>
            </a:r>
            <a:endParaRPr lang="zh-CN" altLang="en-US" sz="4400" b="1">
              <a:solidFill>
                <a:srgbClr val="E9664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p:cNvSpPr/>
          <p:nvPr/>
        </p:nvSpPr>
        <p:spPr>
          <a:xfrm>
            <a:off x="3457028" y="4852859"/>
            <a:ext cx="5277944" cy="2964914"/>
          </a:xfrm>
          <a:prstGeom prst="rect">
            <a:avLst/>
          </a:prstGeom>
        </p:spPr>
        <p:txBody>
          <a:bodyPr wrap="square">
            <a:spAutoFit/>
          </a:bodyPr>
          <a:lstStyle/>
          <a:p>
            <a:pPr algn="ctr">
              <a:spcAft>
                <a:spcPts val="800"/>
              </a:spcAft>
            </a:pPr>
            <a:r>
              <a:rPr lang="zh-CN" altLang="en-US" sz="3200" b="1" dirty="0">
                <a:solidFill>
                  <a:srgbClr val="2F5EB0"/>
                </a:solidFill>
                <a:latin typeface="微软雅黑" panose="020B0503020204020204" pitchFamily="34" charset="-122"/>
                <a:ea typeface="微软雅黑" panose="020B0503020204020204" pitchFamily="34" charset="-122"/>
                <a:sym typeface="微软雅黑" panose="020B0503020204020204" pitchFamily="34" charset="-122"/>
              </a:rPr>
              <a:t>授课教师：赵功名</a:t>
            </a:r>
            <a:endParaRPr lang="en-US" altLang="zh-CN" sz="3200" b="1" dirty="0">
              <a:solidFill>
                <a:srgbClr val="2F5EB0"/>
              </a:solidFill>
              <a:latin typeface="微软雅黑" panose="020B0503020204020204" pitchFamily="34" charset="-122"/>
              <a:ea typeface="微软雅黑" panose="020B0503020204020204" pitchFamily="34" charset="-122"/>
              <a:sym typeface="微软雅黑" panose="020B0503020204020204" pitchFamily="34" charset="-122"/>
            </a:endParaRPr>
          </a:p>
          <a:p>
            <a:pPr algn="ctr">
              <a:spcAft>
                <a:spcPts val="800"/>
              </a:spcAft>
            </a:pPr>
            <a:r>
              <a:rPr lang="zh-CN" altLang="en-US" sz="3200" b="1" dirty="0">
                <a:solidFill>
                  <a:srgbClr val="2F5EB0"/>
                </a:solidFill>
                <a:latin typeface="微软雅黑" panose="020B0503020204020204" pitchFamily="34" charset="-122"/>
                <a:ea typeface="微软雅黑" panose="020B0503020204020204" pitchFamily="34" charset="-122"/>
              </a:rPr>
              <a:t>中国科大计算机学院</a:t>
            </a:r>
            <a:endParaRPr lang="en-US" altLang="zh-CN" sz="3200" b="1" dirty="0">
              <a:solidFill>
                <a:srgbClr val="2F5EB0"/>
              </a:solidFill>
              <a:latin typeface="微软雅黑" panose="020B0503020204020204" pitchFamily="34" charset="-122"/>
              <a:ea typeface="微软雅黑" panose="020B0503020204020204" pitchFamily="34" charset="-122"/>
            </a:endParaRPr>
          </a:p>
          <a:p>
            <a:pPr algn="ctr">
              <a:spcAft>
                <a:spcPts val="800"/>
              </a:spcAft>
            </a:pPr>
            <a:r>
              <a:rPr lang="en-US" altLang="zh-CN" sz="3200" b="1" dirty="0">
                <a:solidFill>
                  <a:srgbClr val="2F5EB0"/>
                </a:solidFill>
                <a:latin typeface="微软雅黑" panose="020B0503020204020204" pitchFamily="34" charset="-122"/>
                <a:ea typeface="微软雅黑" panose="020B0503020204020204" pitchFamily="34" charset="-122"/>
              </a:rPr>
              <a:t>2026</a:t>
            </a:r>
            <a:r>
              <a:rPr lang="zh-CN" altLang="en-US" sz="3200" b="1" dirty="0">
                <a:solidFill>
                  <a:srgbClr val="2F5EB0"/>
                </a:solidFill>
                <a:latin typeface="微软雅黑" panose="020B0503020204020204" pitchFamily="34" charset="-122"/>
                <a:ea typeface="微软雅黑" panose="020B0503020204020204" pitchFamily="34" charset="-122"/>
              </a:rPr>
              <a:t>年秋</a:t>
            </a:r>
            <a:r>
              <a:rPr lang="en-US" altLang="zh-CN" sz="3200" b="1" dirty="0">
                <a:solidFill>
                  <a:srgbClr val="2F5EB0"/>
                </a:solidFill>
                <a:latin typeface="微软雅黑" panose="020B0503020204020204" pitchFamily="34" charset="-122"/>
                <a:ea typeface="微软雅黑" panose="020B0503020204020204" pitchFamily="34" charset="-122"/>
              </a:rPr>
              <a:t>·</a:t>
            </a:r>
            <a:r>
              <a:rPr lang="zh-CN" altLang="en-US" sz="3200" b="1" dirty="0">
                <a:solidFill>
                  <a:srgbClr val="2F5EB0"/>
                </a:solidFill>
                <a:latin typeface="微软雅黑" panose="020B0503020204020204" pitchFamily="34" charset="-122"/>
                <a:ea typeface="微软雅黑" panose="020B0503020204020204" pitchFamily="34" charset="-122"/>
              </a:rPr>
              <a:t>高级计算机网络</a:t>
            </a:r>
          </a:p>
          <a:p>
            <a:pPr algn="ctr">
              <a:spcAft>
                <a:spcPts val="800"/>
              </a:spcAft>
            </a:pPr>
            <a:endParaRPr lang="en-US" altLang="zh-CN" sz="3200" b="1" dirty="0">
              <a:solidFill>
                <a:srgbClr val="2F5EB0"/>
              </a:solidFill>
              <a:latin typeface="微软雅黑" panose="020B0503020204020204" pitchFamily="34" charset="-122"/>
              <a:ea typeface="微软雅黑" panose="020B0503020204020204" pitchFamily="34" charset="-122"/>
            </a:endParaRPr>
          </a:p>
          <a:p>
            <a:pPr algn="ctr">
              <a:spcAft>
                <a:spcPts val="800"/>
              </a:spcAft>
            </a:pPr>
            <a:endParaRPr lang="zh-CN" altLang="en-US" sz="3200" dirty="0"/>
          </a:p>
        </p:txBody>
      </p:sp>
      <p:pic>
        <p:nvPicPr>
          <p:cNvPr id="3" name="图片 2" descr="未标题-1"/>
          <p:cNvPicPr>
            <a:picLocks noChangeAspect="1"/>
          </p:cNvPicPr>
          <p:nvPr/>
        </p:nvPicPr>
        <p:blipFill>
          <a:blip r:embed="rId4"/>
          <a:stretch>
            <a:fillRect/>
          </a:stretch>
        </p:blipFill>
        <p:spPr>
          <a:xfrm>
            <a:off x="7852468" y="332656"/>
            <a:ext cx="3423644" cy="576064"/>
          </a:xfrm>
          <a:prstGeom prst="rect">
            <a:avLst/>
          </a:prstGeom>
        </p:spPr>
      </p:pic>
      <p:sp>
        <p:nvSpPr>
          <p:cNvPr id="10" name="文本框 9">
            <a:extLst>
              <a:ext uri="{FF2B5EF4-FFF2-40B4-BE49-F238E27FC236}">
                <a16:creationId xmlns:a16="http://schemas.microsoft.com/office/drawing/2014/main" id="{7155F546-955D-475E-A57D-097E8AB7E520}"/>
              </a:ext>
            </a:extLst>
          </p:cNvPr>
          <p:cNvSpPr txBox="1"/>
          <p:nvPr/>
        </p:nvSpPr>
        <p:spPr>
          <a:xfrm>
            <a:off x="1439347" y="3429000"/>
            <a:ext cx="10204855" cy="1077218"/>
          </a:xfrm>
          <a:prstGeom prst="rect">
            <a:avLst/>
          </a:prstGeom>
          <a:noFill/>
        </p:spPr>
        <p:txBody>
          <a:bodyPr wrap="square">
            <a:spAutoFit/>
          </a:bodyPr>
          <a:lstStyle/>
          <a:p>
            <a:r>
              <a:rPr lang="en-US" altLang="zh-CN" sz="3200">
                <a:solidFill>
                  <a:schemeClr val="accent1"/>
                </a:solidFill>
              </a:rPr>
              <a:t>Mohammad Al-Fares, Alexander </a:t>
            </a:r>
            <a:r>
              <a:rPr lang="en-US" altLang="zh-CN" sz="3200" err="1">
                <a:solidFill>
                  <a:schemeClr val="accent1"/>
                </a:solidFill>
              </a:rPr>
              <a:t>Loukissas</a:t>
            </a:r>
            <a:r>
              <a:rPr lang="en-US" altLang="zh-CN" sz="3200">
                <a:solidFill>
                  <a:schemeClr val="accent1"/>
                </a:solidFill>
              </a:rPr>
              <a:t>, Amin Vahdat</a:t>
            </a:r>
          </a:p>
          <a:p>
            <a:pPr algn="ctr"/>
            <a:r>
              <a:rPr lang="en-US" altLang="zh-CN" sz="3200">
                <a:solidFill>
                  <a:schemeClr val="accent1"/>
                </a:solidFill>
              </a:rPr>
              <a:t>SIGCOMM 2008</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2210304" y="938799"/>
            <a:ext cx="8363187" cy="4980402"/>
          </a:xfrm>
          <a:prstGeom prst="rect">
            <a:avLst/>
          </a:prstGeom>
          <a:noFill/>
        </p:spPr>
        <p:txBody>
          <a:bodyPr wrap="none" rtlCol="0">
            <a:spAutoFit/>
          </a:bodyPr>
          <a:lstStyle/>
          <a:p>
            <a:pPr algn="ctr">
              <a:lnSpc>
                <a:spcPct val="150000"/>
              </a:lnSpc>
            </a:pPr>
            <a:r>
              <a:rPr lang="en-US" altLang="zh-CN" sz="3600" b="1">
                <a:solidFill>
                  <a:srgbClr val="2F5EB0"/>
                </a:solidFill>
                <a:latin typeface="微软雅黑" panose="020B0503020204020204" pitchFamily="34" charset="-122"/>
                <a:ea typeface="微软雅黑" panose="020B0503020204020204" pitchFamily="34" charset="-122"/>
              </a:rPr>
              <a:t>Outline</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Introduction</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Background</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Architecture</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Implementation and evaluation</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Review</a:t>
            </a:r>
            <a:endParaRPr lang="zh-CN" altLang="en-US" sz="3600" b="1">
              <a:solidFill>
                <a:srgbClr val="2F5EB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1083733" y="489734"/>
            <a:ext cx="10532533" cy="5386090"/>
          </a:xfrm>
          <a:prstGeom prst="rect">
            <a:avLst/>
          </a:prstGeom>
          <a:noFill/>
        </p:spPr>
        <p:txBody>
          <a:bodyPr wrap="square" rtlCol="0">
            <a:spAutoFit/>
          </a:bodyPr>
          <a:lstStyle/>
          <a:p>
            <a:pPr algn="ctr"/>
            <a:r>
              <a:rPr lang="en-US" altLang="zh-CN" sz="3600" b="1" dirty="0">
                <a:solidFill>
                  <a:srgbClr val="2F5EB0"/>
                </a:solidFill>
                <a:latin typeface="微软雅黑" panose="020B0503020204020204" pitchFamily="34" charset="-122"/>
                <a:ea typeface="微软雅黑" panose="020B0503020204020204" pitchFamily="34" charset="-122"/>
              </a:rPr>
              <a:t>Outline</a:t>
            </a:r>
          </a:p>
          <a:p>
            <a:pPr marL="857250" indent="-857250">
              <a:buFont typeface="+mj-lt"/>
              <a:buAutoNum type="romanUcPeriod"/>
            </a:pPr>
            <a:r>
              <a:rPr lang="en-US" altLang="zh-CN" sz="3600" b="1" dirty="0">
                <a:solidFill>
                  <a:srgbClr val="2F5EB0"/>
                </a:solidFill>
                <a:latin typeface="微软雅黑" panose="020B0503020204020204" pitchFamily="34" charset="-122"/>
                <a:ea typeface="微软雅黑" panose="020B0503020204020204" pitchFamily="34" charset="-122"/>
              </a:rPr>
              <a:t>Introduction</a:t>
            </a:r>
          </a:p>
          <a:p>
            <a:pPr marL="1028700" lvl="1" indent="-571500">
              <a:buFont typeface="+mj-lt"/>
              <a:buAutoNum type="arabicPeriod"/>
            </a:pPr>
            <a:r>
              <a:rPr lang="en-US" altLang="zh-CN" sz="3200" b="1" dirty="0">
                <a:solidFill>
                  <a:srgbClr val="2F5EB0"/>
                </a:solidFill>
                <a:latin typeface="微软雅黑" panose="020B0503020204020204" pitchFamily="34" charset="-122"/>
                <a:ea typeface="微软雅黑" panose="020B0503020204020204" pitchFamily="34" charset="-122"/>
              </a:rPr>
              <a:t>Data Centers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Traffic Patters in DCs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DC Architectures​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​​Supplement: Fundamental Concepts</a:t>
            </a:r>
          </a:p>
          <a:p>
            <a:pPr marL="571500" indent="-57150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dirty="0">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511813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 name="文本框 2"/>
          <p:cNvSpPr txBox="1"/>
          <p:nvPr/>
        </p:nvSpPr>
        <p:spPr>
          <a:xfrm>
            <a:off x="582801" y="805087"/>
            <a:ext cx="11438282" cy="279704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我们日常使用的各种在线服务，例如谷歌搜索、</a:t>
            </a:r>
            <a:r>
              <a:rPr lang="en-US" altLang="zh-CN" sz="2400">
                <a:latin typeface="微软雅黑" panose="020B0503020204020204" pitchFamily="34" charset="-122"/>
                <a:ea typeface="微软雅黑" panose="020B0503020204020204" pitchFamily="34" charset="-122"/>
              </a:rPr>
              <a:t>YouTube</a:t>
            </a:r>
            <a:r>
              <a:rPr lang="zh-CN" altLang="en-US" sz="2400">
                <a:latin typeface="微软雅黑" panose="020B0503020204020204" pitchFamily="34" charset="-122"/>
                <a:ea typeface="微软雅黑" panose="020B0503020204020204" pitchFamily="34" charset="-122"/>
              </a:rPr>
              <a:t>视频、淘宝购物、微信聊天等，都依赖于大量计算机处理信息与存储数据。</a:t>
            </a:r>
          </a:p>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这些计算机、连接它们的网络设备，以及供电与冷却系统等支持设施，都集中部署在被称为</a:t>
            </a:r>
            <a:r>
              <a:rPr lang="zh-CN" altLang="en-US" sz="2400">
                <a:solidFill>
                  <a:srgbClr val="FF0000"/>
                </a:solidFill>
                <a:latin typeface="微软雅黑" panose="020B0503020204020204" pitchFamily="34" charset="-122"/>
                <a:ea typeface="微软雅黑" panose="020B0503020204020204" pitchFamily="34" charset="-122"/>
              </a:rPr>
              <a:t>数据中心</a:t>
            </a:r>
            <a:r>
              <a:rPr lang="zh-CN" altLang="en-US" sz="2400">
                <a:latin typeface="微软雅黑" panose="020B0503020204020204" pitchFamily="34" charset="-122"/>
                <a:ea typeface="微软雅黑" panose="020B0503020204020204" pitchFamily="34" charset="-122"/>
              </a:rPr>
              <a:t>的巨型设施中。</a:t>
            </a:r>
          </a:p>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数据中心的三大核心功能为：存储数据、运行应用程序和处理请求。</a:t>
            </a:r>
            <a:endParaRPr lang="en-US" altLang="zh-CN" sz="2400">
              <a:latin typeface="微软雅黑" panose="020B0503020204020204" pitchFamily="34" charset="-122"/>
              <a:ea typeface="微软雅黑" panose="020B0503020204020204" pitchFamily="34" charset="-122"/>
            </a:endParaRPr>
          </a:p>
        </p:txBody>
      </p:sp>
      <p:sp>
        <p:nvSpPr>
          <p:cNvPr id="5" name="圆角矩形 1"/>
          <p:cNvSpPr>
            <a:spLocks noChangeArrowheads="1"/>
          </p:cNvSpPr>
          <p:nvPr/>
        </p:nvSpPr>
        <p:spPr bwMode="auto">
          <a:xfrm>
            <a:off x="358140" y="838373"/>
            <a:ext cx="11552555" cy="5579729"/>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4" name="Picture 4" descr="http://cdn.slashgear.com/wp-content/uploads/2012/10/google-datacenter-tech-13-580x386.jpg">
            <a:extLst>
              <a:ext uri="{FF2B5EF4-FFF2-40B4-BE49-F238E27FC236}">
                <a16:creationId xmlns:a16="http://schemas.microsoft.com/office/drawing/2014/main" id="{8C80CCDC-AFE6-4F8A-81E8-6CBB73DC7D65}"/>
              </a:ext>
            </a:extLst>
          </p:cNvPr>
          <p:cNvPicPr>
            <a:picLocks noChangeAspect="1" noChangeArrowheads="1"/>
          </p:cNvPicPr>
          <p:nvPr/>
        </p:nvPicPr>
        <p:blipFill>
          <a:blip r:embed="rId3" cstate="print"/>
          <a:srcRect/>
          <a:stretch>
            <a:fillRect/>
          </a:stretch>
        </p:blipFill>
        <p:spPr bwMode="auto">
          <a:xfrm>
            <a:off x="2297062" y="3602135"/>
            <a:ext cx="3570552" cy="2376264"/>
          </a:xfrm>
          <a:prstGeom prst="rect">
            <a:avLst/>
          </a:prstGeom>
          <a:noFill/>
        </p:spPr>
      </p:pic>
      <p:sp>
        <p:nvSpPr>
          <p:cNvPr id="15" name="TextBox 6">
            <a:extLst>
              <a:ext uri="{FF2B5EF4-FFF2-40B4-BE49-F238E27FC236}">
                <a16:creationId xmlns:a16="http://schemas.microsoft.com/office/drawing/2014/main" id="{A84FF78F-47A8-4AEB-A533-07CAA85A3A79}"/>
              </a:ext>
            </a:extLst>
          </p:cNvPr>
          <p:cNvSpPr txBox="1"/>
          <p:nvPr/>
        </p:nvSpPr>
        <p:spPr>
          <a:xfrm>
            <a:off x="2999656" y="5978399"/>
            <a:ext cx="3096344" cy="461665"/>
          </a:xfrm>
          <a:prstGeom prst="rect">
            <a:avLst/>
          </a:prstGeom>
          <a:noFill/>
        </p:spPr>
        <p:txBody>
          <a:bodyPr wrap="square" rtlCol="0">
            <a:spAutoFit/>
          </a:bodyPr>
          <a:lstStyle/>
          <a:p>
            <a:r>
              <a:rPr lang="zh-CN" altLang="en-US" sz="2400"/>
              <a:t>谷歌数据中心</a:t>
            </a:r>
          </a:p>
        </p:txBody>
      </p:sp>
      <p:pic>
        <p:nvPicPr>
          <p:cNvPr id="16" name="Picture 2" descr="å¾®è½¯æ°´ä¸æ°æ®ä¸­å¿">
            <a:extLst>
              <a:ext uri="{FF2B5EF4-FFF2-40B4-BE49-F238E27FC236}">
                <a16:creationId xmlns:a16="http://schemas.microsoft.com/office/drawing/2014/main" id="{255363A1-56E4-40B3-BC0D-E1483E6F2714}"/>
              </a:ext>
            </a:extLst>
          </p:cNvPr>
          <p:cNvPicPr>
            <a:picLocks noChangeAspect="1" noChangeArrowheads="1"/>
          </p:cNvPicPr>
          <p:nvPr/>
        </p:nvPicPr>
        <p:blipFill>
          <a:blip r:embed="rId4" cstate="print"/>
          <a:srcRect/>
          <a:stretch>
            <a:fillRect/>
          </a:stretch>
        </p:blipFill>
        <p:spPr bwMode="auto">
          <a:xfrm>
            <a:off x="6322223" y="3602135"/>
            <a:ext cx="4158456" cy="2338379"/>
          </a:xfrm>
          <a:prstGeom prst="rect">
            <a:avLst/>
          </a:prstGeom>
          <a:noFill/>
        </p:spPr>
      </p:pic>
      <p:sp>
        <p:nvSpPr>
          <p:cNvPr id="17" name="TextBox 10">
            <a:extLst>
              <a:ext uri="{FF2B5EF4-FFF2-40B4-BE49-F238E27FC236}">
                <a16:creationId xmlns:a16="http://schemas.microsoft.com/office/drawing/2014/main" id="{9188EAF3-13BF-4047-A54D-E13778845519}"/>
              </a:ext>
            </a:extLst>
          </p:cNvPr>
          <p:cNvSpPr txBox="1"/>
          <p:nvPr/>
        </p:nvSpPr>
        <p:spPr>
          <a:xfrm>
            <a:off x="7181741" y="5940514"/>
            <a:ext cx="2654777" cy="461665"/>
          </a:xfrm>
          <a:prstGeom prst="rect">
            <a:avLst/>
          </a:prstGeom>
          <a:noFill/>
        </p:spPr>
        <p:txBody>
          <a:bodyPr wrap="square" rtlCol="0">
            <a:spAutoFit/>
          </a:bodyPr>
          <a:lstStyle/>
          <a:p>
            <a:r>
              <a:rPr lang="zh-CN" altLang="en-US" sz="2400"/>
              <a:t>微软水下数据中心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pic>
        <p:nvPicPr>
          <p:cNvPr id="14" name="Picture 6" descr="See the source image">
            <a:extLst>
              <a:ext uri="{FF2B5EF4-FFF2-40B4-BE49-F238E27FC236}">
                <a16:creationId xmlns:a16="http://schemas.microsoft.com/office/drawing/2014/main" id="{4429F2F5-AD46-4659-914D-1C83A0B0EDC7}"/>
              </a:ext>
            </a:extLst>
          </p:cNvPr>
          <p:cNvPicPr>
            <a:picLocks noChangeAspect="1" noChangeArrowheads="1"/>
          </p:cNvPicPr>
          <p:nvPr/>
        </p:nvPicPr>
        <p:blipFill>
          <a:blip r:embed="rId3" cstate="print"/>
          <a:srcRect/>
          <a:stretch>
            <a:fillRect/>
          </a:stretch>
        </p:blipFill>
        <p:spPr bwMode="auto">
          <a:xfrm>
            <a:off x="7062127" y="950250"/>
            <a:ext cx="2660080" cy="2078187"/>
          </a:xfrm>
          <a:prstGeom prst="rect">
            <a:avLst/>
          </a:prstGeom>
          <a:noFill/>
        </p:spPr>
      </p:pic>
      <p:pic>
        <p:nvPicPr>
          <p:cNvPr id="15" name="Picture 2" descr="See the source image">
            <a:extLst>
              <a:ext uri="{FF2B5EF4-FFF2-40B4-BE49-F238E27FC236}">
                <a16:creationId xmlns:a16="http://schemas.microsoft.com/office/drawing/2014/main" id="{2326796E-37E7-4D83-836F-DE6134693A2A}"/>
              </a:ext>
            </a:extLst>
          </p:cNvPr>
          <p:cNvPicPr>
            <a:picLocks noChangeAspect="1" noChangeArrowheads="1"/>
          </p:cNvPicPr>
          <p:nvPr/>
        </p:nvPicPr>
        <p:blipFill>
          <a:blip r:embed="rId4" cstate="print"/>
          <a:srcRect/>
          <a:stretch>
            <a:fillRect/>
          </a:stretch>
        </p:blipFill>
        <p:spPr bwMode="auto">
          <a:xfrm>
            <a:off x="3200305" y="1473582"/>
            <a:ext cx="4056797" cy="1118259"/>
          </a:xfrm>
          <a:prstGeom prst="rect">
            <a:avLst/>
          </a:prstGeom>
          <a:noFill/>
        </p:spPr>
      </p:pic>
      <p:pic>
        <p:nvPicPr>
          <p:cNvPr id="16" name="Picture 2" descr="C:\Users\TianYe\Desktop\image2s.jpg">
            <a:extLst>
              <a:ext uri="{FF2B5EF4-FFF2-40B4-BE49-F238E27FC236}">
                <a16:creationId xmlns:a16="http://schemas.microsoft.com/office/drawing/2014/main" id="{FBAE320D-E75B-4908-B4B7-4C07C682EC43}"/>
              </a:ext>
            </a:extLst>
          </p:cNvPr>
          <p:cNvPicPr>
            <a:picLocks noChangeAspect="1" noChangeArrowheads="1"/>
          </p:cNvPicPr>
          <p:nvPr/>
        </p:nvPicPr>
        <p:blipFill>
          <a:blip r:embed="rId5" cstate="print">
            <a:lum bright="-20000" contrast="40000"/>
          </a:blip>
          <a:srcRect/>
          <a:stretch>
            <a:fillRect/>
          </a:stretch>
        </p:blipFill>
        <p:spPr bwMode="auto">
          <a:xfrm>
            <a:off x="10166212" y="886253"/>
            <a:ext cx="1747374" cy="2078187"/>
          </a:xfrm>
          <a:prstGeom prst="rect">
            <a:avLst/>
          </a:prstGeom>
          <a:noFill/>
        </p:spPr>
      </p:pic>
      <p:pic>
        <p:nvPicPr>
          <p:cNvPr id="25" name="Picture 4" descr="See the source image">
            <a:extLst>
              <a:ext uri="{FF2B5EF4-FFF2-40B4-BE49-F238E27FC236}">
                <a16:creationId xmlns:a16="http://schemas.microsoft.com/office/drawing/2014/main" id="{EE75D891-5223-45F9-9EF3-0E1F4BAB0A9C}"/>
              </a:ext>
            </a:extLst>
          </p:cNvPr>
          <p:cNvPicPr>
            <a:picLocks noChangeAspect="1" noChangeArrowheads="1"/>
          </p:cNvPicPr>
          <p:nvPr/>
        </p:nvPicPr>
        <p:blipFill>
          <a:blip r:embed="rId6" cstate="print"/>
          <a:srcRect/>
          <a:stretch>
            <a:fillRect/>
          </a:stretch>
        </p:blipFill>
        <p:spPr bwMode="auto">
          <a:xfrm>
            <a:off x="21300" y="3722783"/>
            <a:ext cx="3245649" cy="2633567"/>
          </a:xfrm>
          <a:prstGeom prst="rect">
            <a:avLst/>
          </a:prstGeom>
          <a:noFill/>
        </p:spPr>
      </p:pic>
      <p:sp>
        <p:nvSpPr>
          <p:cNvPr id="26" name="灯片编号占位符 6">
            <a:extLst>
              <a:ext uri="{FF2B5EF4-FFF2-40B4-BE49-F238E27FC236}">
                <a16:creationId xmlns:a16="http://schemas.microsoft.com/office/drawing/2014/main" id="{691C824E-7A93-4A9B-8941-77EEC09CB4C0}"/>
              </a:ext>
            </a:extLst>
          </p:cNvPr>
          <p:cNvSpPr txBox="1">
            <a:spLocks/>
          </p:cNvSpPr>
          <p:nvPr/>
        </p:nvSpPr>
        <p:spPr>
          <a:xfrm>
            <a:off x="7777010" y="6356350"/>
            <a:ext cx="7620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42AED99-7FB4-404E-8A97-64753DCE42EC}" type="slidenum">
              <a:rPr lang="en-US" smtClean="0"/>
              <a:pPr/>
              <a:t>6</a:t>
            </a:fld>
            <a:endParaRPr lang="en-US"/>
          </a:p>
        </p:txBody>
      </p:sp>
      <p:sp>
        <p:nvSpPr>
          <p:cNvPr id="27" name="TextBox 7">
            <a:extLst>
              <a:ext uri="{FF2B5EF4-FFF2-40B4-BE49-F238E27FC236}">
                <a16:creationId xmlns:a16="http://schemas.microsoft.com/office/drawing/2014/main" id="{7798B75D-9D7F-4F75-91BE-2C08D1B46EC7}"/>
              </a:ext>
            </a:extLst>
          </p:cNvPr>
          <p:cNvSpPr txBox="1"/>
          <p:nvPr/>
        </p:nvSpPr>
        <p:spPr>
          <a:xfrm>
            <a:off x="309411" y="937681"/>
            <a:ext cx="3957548" cy="523220"/>
          </a:xfrm>
          <a:prstGeom prst="rect">
            <a:avLst/>
          </a:prstGeom>
          <a:noFill/>
        </p:spPr>
        <p:txBody>
          <a:bodyPr wrap="square" rtlCol="0">
            <a:spAutoFit/>
          </a:bodyPr>
          <a:lstStyle/>
          <a:p>
            <a:pPr algn="ctr"/>
            <a:r>
              <a:rPr lang="zh-CN" altLang="en-US" sz="2800" b="1">
                <a:latin typeface="微软雅黑" panose="020B0503020204020204" pitchFamily="34" charset="-122"/>
                <a:ea typeface="微软雅黑" panose="020B0503020204020204" pitchFamily="34" charset="-122"/>
              </a:rPr>
              <a:t>数据中心设备</a:t>
            </a:r>
          </a:p>
        </p:txBody>
      </p:sp>
      <p:sp>
        <p:nvSpPr>
          <p:cNvPr id="28" name="Rectangle 2">
            <a:extLst>
              <a:ext uri="{FF2B5EF4-FFF2-40B4-BE49-F238E27FC236}">
                <a16:creationId xmlns:a16="http://schemas.microsoft.com/office/drawing/2014/main" id="{335446B3-E83F-484F-924F-BE69DE3759C7}"/>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9" name="文本框 28">
            <a:extLst>
              <a:ext uri="{FF2B5EF4-FFF2-40B4-BE49-F238E27FC236}">
                <a16:creationId xmlns:a16="http://schemas.microsoft.com/office/drawing/2014/main" id="{41522244-5859-428A-8EDA-2D3FDDC851CB}"/>
              </a:ext>
            </a:extLst>
          </p:cNvPr>
          <p:cNvSpPr txBox="1"/>
          <p:nvPr/>
        </p:nvSpPr>
        <p:spPr>
          <a:xfrm>
            <a:off x="3200305" y="3013550"/>
            <a:ext cx="8797852" cy="3615862"/>
          </a:xfrm>
          <a:prstGeom prst="rect">
            <a:avLst/>
          </a:prstGeom>
          <a:noFill/>
        </p:spPr>
        <p:txBody>
          <a:bodyPr wrap="square" rtlCol="0">
            <a:spAutoFit/>
          </a:bodyPr>
          <a:lstStyle/>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数据中心里核心硬件主要有三类：</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服务器​​：成千上万的主机，负责存储和处理数据</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交换机​​：连接所有设备的高速网络枢纽，负责数据流动</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供电与冷却系统​​：</a:t>
            </a:r>
            <a:r>
              <a:rPr lang="en-US" altLang="zh-CN" sz="2400" dirty="0">
                <a:latin typeface="微软雅黑" panose="020B0503020204020204" pitchFamily="34" charset="-122"/>
                <a:ea typeface="微软雅黑" panose="020B0503020204020204" pitchFamily="34" charset="-122"/>
              </a:rPr>
              <a:t>7x24</a:t>
            </a:r>
            <a:r>
              <a:rPr lang="zh-CN" altLang="en-US" sz="2400" dirty="0">
                <a:latin typeface="微软雅黑" panose="020B0503020204020204" pitchFamily="34" charset="-122"/>
                <a:ea typeface="微软雅黑" panose="020B0503020204020204" pitchFamily="34" charset="-122"/>
              </a:rPr>
              <a:t>小时不间断供电和空调，防止设备过热宕机</a:t>
            </a:r>
          </a:p>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服务器端口速率可能受限于少数交换机端口速率</a:t>
            </a:r>
          </a:p>
          <a:p>
            <a:pPr marL="285750" indent="-285750">
              <a:lnSpc>
                <a:spcPts val="40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p:txBody>
      </p:sp>
      <p:sp>
        <p:nvSpPr>
          <p:cNvPr id="30" name="圆角矩形 1">
            <a:extLst>
              <a:ext uri="{FF2B5EF4-FFF2-40B4-BE49-F238E27FC236}">
                <a16:creationId xmlns:a16="http://schemas.microsoft.com/office/drawing/2014/main" id="{F3622C40-989C-481A-8B84-2762CE041886}"/>
              </a:ext>
            </a:extLst>
          </p:cNvPr>
          <p:cNvSpPr>
            <a:spLocks noChangeArrowheads="1"/>
          </p:cNvSpPr>
          <p:nvPr/>
        </p:nvSpPr>
        <p:spPr bwMode="auto">
          <a:xfrm>
            <a:off x="3200305" y="2936312"/>
            <a:ext cx="8797852" cy="3388893"/>
          </a:xfrm>
          <a:prstGeom prst="roundRect">
            <a:avLst>
              <a:gd name="adj" fmla="val 6977"/>
            </a:avLst>
          </a:prstGeom>
          <a:noFill/>
          <a:ln w="25400" cap="flat" cmpd="sng">
            <a:solidFill>
              <a:schemeClr val="accent1">
                <a:lumMod val="75000"/>
              </a:schemeClr>
            </a:solidFill>
            <a:prstDash val="dash"/>
            <a:beve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pic>
        <p:nvPicPr>
          <p:cNvPr id="3" name="图片 2">
            <a:extLst>
              <a:ext uri="{FF2B5EF4-FFF2-40B4-BE49-F238E27FC236}">
                <a16:creationId xmlns:a16="http://schemas.microsoft.com/office/drawing/2014/main" id="{6124E6C9-2B64-A63D-9C4D-07285137C58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542" y="1499711"/>
            <a:ext cx="3060192" cy="2014304"/>
          </a:xfrm>
          <a:prstGeom prst="rect">
            <a:avLst/>
          </a:prstGeom>
        </p:spPr>
      </p:pic>
    </p:spTree>
    <p:extLst>
      <p:ext uri="{BB962C8B-B14F-4D97-AF65-F5344CB8AC3E}">
        <p14:creationId xmlns:p14="http://schemas.microsoft.com/office/powerpoint/2010/main" val="3537290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 name="文本框 2"/>
          <p:cNvSpPr txBox="1"/>
          <p:nvPr/>
        </p:nvSpPr>
        <p:spPr>
          <a:xfrm>
            <a:off x="470470" y="919739"/>
            <a:ext cx="11251059" cy="5416996"/>
          </a:xfrm>
          <a:prstGeom prst="rect">
            <a:avLst/>
          </a:prstGeom>
          <a:noFill/>
        </p:spPr>
        <p:txBody>
          <a:bodyPr wrap="square" rtlCol="0">
            <a:spAutoFit/>
          </a:bodyPr>
          <a:lstStyle/>
          <a:p>
            <a:pPr>
              <a:lnSpc>
                <a:spcPts val="4200"/>
              </a:lnSpc>
            </a:pPr>
            <a:r>
              <a:rPr lang="zh-CN" altLang="en-US" sz="2400" b="1" dirty="0">
                <a:latin typeface="微软雅黑" panose="020B0503020204020204" pitchFamily="34" charset="-122"/>
                <a:ea typeface="微软雅黑" panose="020B0503020204020204" pitchFamily="34" charset="-122"/>
              </a:rPr>
              <a:t>   数据中心正在快速扩张</a:t>
            </a:r>
            <a:endParaRPr lang="en-US" altLang="zh-CN" sz="2400" dirty="0">
              <a:latin typeface="微软雅黑" panose="020B0503020204020204" pitchFamily="34" charset="-122"/>
              <a:ea typeface="微软雅黑" panose="020B0503020204020204" pitchFamily="34" charset="-122"/>
            </a:endParaRPr>
          </a:p>
          <a:p>
            <a:pPr marL="285750" indent="-285750">
              <a:lnSpc>
                <a:spcPts val="4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随着生成式人工智能的蓬勃发展，全球数据总量与算力规模正保持高速增长态</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据</a:t>
            </a:r>
            <a:r>
              <a:rPr lang="en-US" altLang="zh-CN" sz="2400" dirty="0">
                <a:latin typeface="微软雅黑" panose="020B0503020204020204" pitchFamily="34" charset="-122"/>
                <a:ea typeface="微软雅黑" panose="020B0503020204020204" pitchFamily="34" charset="-122"/>
              </a:rPr>
              <a:t>IDC</a:t>
            </a:r>
            <a:r>
              <a:rPr lang="zh-CN" altLang="en-US" sz="2400" dirty="0">
                <a:latin typeface="微软雅黑" panose="020B0503020204020204" pitchFamily="34" charset="-122"/>
                <a:ea typeface="微软雅黑" panose="020B0503020204020204" pitchFamily="34" charset="-122"/>
              </a:rPr>
              <a:t>数据，</a:t>
            </a: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年全球数据总产量为</a:t>
            </a:r>
            <a:r>
              <a:rPr lang="en-US" altLang="zh-CN" sz="2400" dirty="0">
                <a:latin typeface="微软雅黑" panose="020B0503020204020204" pitchFamily="34" charset="-122"/>
                <a:ea typeface="微软雅黑" panose="020B0503020204020204" pitchFamily="34" charset="-122"/>
              </a:rPr>
              <a:t>129.3ZB</a:t>
            </a:r>
            <a:r>
              <a:rPr lang="zh-CN" altLang="en-US" sz="2400" dirty="0">
                <a:latin typeface="微软雅黑" panose="020B0503020204020204" pitchFamily="34" charset="-122"/>
                <a:ea typeface="微软雅黑" panose="020B0503020204020204" pitchFamily="34" charset="-122"/>
              </a:rPr>
              <a:t>，过去五年平均增速超过</a:t>
            </a:r>
            <a:r>
              <a:rPr lang="en-US" altLang="zh-CN" sz="2400" dirty="0">
                <a:solidFill>
                  <a:srgbClr val="FF0000"/>
                </a:solidFill>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，预计</a:t>
            </a:r>
            <a:r>
              <a:rPr lang="en-US" altLang="zh-CN" sz="2400" dirty="0">
                <a:latin typeface="微软雅黑" panose="020B0503020204020204" pitchFamily="34" charset="-122"/>
                <a:ea typeface="微软雅黑" panose="020B0503020204020204" pitchFamily="34" charset="-122"/>
              </a:rPr>
              <a:t>2028</a:t>
            </a:r>
            <a:r>
              <a:rPr lang="zh-CN" altLang="en-US" sz="2400" dirty="0">
                <a:latin typeface="微软雅黑" panose="020B0503020204020204" pitchFamily="34" charset="-122"/>
                <a:ea typeface="微软雅黑" panose="020B0503020204020204" pitchFamily="34" charset="-122"/>
              </a:rPr>
              <a:t>年将达到</a:t>
            </a:r>
            <a:r>
              <a:rPr lang="en-US" altLang="zh-CN" sz="2400" dirty="0">
                <a:latin typeface="微软雅黑" panose="020B0503020204020204" pitchFamily="34" charset="-122"/>
                <a:ea typeface="微软雅黑" panose="020B0503020204020204" pitchFamily="34" charset="-122"/>
              </a:rPr>
              <a:t>384.6ZB</a:t>
            </a:r>
            <a:r>
              <a:rPr lang="zh-CN" altLang="en-US" sz="2400" dirty="0">
                <a:latin typeface="微软雅黑" panose="020B0503020204020204" pitchFamily="34" charset="-122"/>
                <a:ea typeface="微软雅黑" panose="020B0503020204020204" pitchFamily="34" charset="-122"/>
              </a:rPr>
              <a:t>，较</a:t>
            </a: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年翻近 </a:t>
            </a:r>
            <a:r>
              <a:rPr lang="en-US" altLang="zh-CN" sz="2400" dirty="0">
                <a:solidFill>
                  <a:srgbClr val="FF0000"/>
                </a:solidFill>
                <a:latin typeface="微软雅黑" panose="020B0503020204020204" pitchFamily="34" charset="-122"/>
                <a:ea typeface="微软雅黑" panose="020B0503020204020204" pitchFamily="34" charset="-122"/>
              </a:rPr>
              <a:t>3</a:t>
            </a:r>
            <a:r>
              <a:rPr lang="zh-CN" altLang="en-US" sz="2400" dirty="0">
                <a:solidFill>
                  <a:srgbClr val="FF0000"/>
                </a:solidFill>
                <a:latin typeface="微软雅黑" panose="020B0503020204020204" pitchFamily="34" charset="-122"/>
                <a:ea typeface="微软雅黑" panose="020B0503020204020204" pitchFamily="34" charset="-122"/>
              </a:rPr>
              <a:t>倍</a:t>
            </a:r>
            <a:endParaRPr lang="en-US" altLang="zh-CN" sz="2400" dirty="0">
              <a:latin typeface="微软雅黑" panose="020B0503020204020204" pitchFamily="34" charset="-122"/>
              <a:ea typeface="微软雅黑" panose="020B0503020204020204" pitchFamily="34" charset="-122"/>
            </a:endParaRPr>
          </a:p>
          <a:p>
            <a:pPr marL="285750" indent="-285750">
              <a:lnSpc>
                <a:spcPts val="4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数据成为新的生产资料，而算力则成为新的生产力</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中国信通院测算，</a:t>
            </a: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年全球计算设备算力总规模为</a:t>
            </a:r>
            <a:r>
              <a:rPr lang="en-US" altLang="zh-CN" sz="2400" dirty="0">
                <a:latin typeface="微软雅黑" panose="020B0503020204020204" pitchFamily="34" charset="-122"/>
                <a:ea typeface="微软雅黑" panose="020B0503020204020204" pitchFamily="34" charset="-122"/>
              </a:rPr>
              <a:t>1397EFlops</a:t>
            </a:r>
            <a:r>
              <a:rPr lang="zh-CN" altLang="en-US" sz="2400" dirty="0">
                <a:latin typeface="微软雅黑" panose="020B0503020204020204" pitchFamily="34" charset="-122"/>
                <a:ea typeface="微软雅黑" panose="020B0503020204020204" pitchFamily="34" charset="-122"/>
              </a:rPr>
              <a:t>，同比</a:t>
            </a:r>
            <a:r>
              <a:rPr lang="en-US" altLang="zh-CN" sz="2400" dirty="0">
                <a:solidFill>
                  <a:srgbClr val="FF0000"/>
                </a:solidFill>
                <a:latin typeface="微软雅黑" panose="020B0503020204020204" pitchFamily="34" charset="-122"/>
                <a:ea typeface="微软雅黑" panose="020B0503020204020204" pitchFamily="34" charset="-122"/>
              </a:rPr>
              <a:t>+54%</a:t>
            </a:r>
            <a:r>
              <a:rPr lang="zh-CN" altLang="en-US" sz="2400" dirty="0">
                <a:latin typeface="微软雅黑" panose="020B0503020204020204" pitchFamily="34" charset="-122"/>
                <a:ea typeface="微软雅黑" panose="020B0503020204020204" pitchFamily="34" charset="-122"/>
              </a:rPr>
              <a:t>，其中智能算力规模（换算</a:t>
            </a:r>
            <a:r>
              <a:rPr lang="en-US" altLang="zh-CN" sz="2400" dirty="0">
                <a:latin typeface="微软雅黑" panose="020B0503020204020204" pitchFamily="34" charset="-122"/>
                <a:ea typeface="微软雅黑" panose="020B0503020204020204" pitchFamily="34" charset="-122"/>
              </a:rPr>
              <a:t>FP32 )</a:t>
            </a:r>
            <a:r>
              <a:rPr lang="zh-CN" altLang="en-US" sz="2400" dirty="0">
                <a:latin typeface="微软雅黑" panose="020B0503020204020204" pitchFamily="34" charset="-122"/>
                <a:ea typeface="微软雅黑" panose="020B0503020204020204" pitchFamily="34" charset="-122"/>
              </a:rPr>
              <a:t>为</a:t>
            </a:r>
            <a:r>
              <a:rPr lang="en-US" altLang="zh-CN" sz="2400" dirty="0">
                <a:latin typeface="微软雅黑" panose="020B0503020204020204" pitchFamily="34" charset="-122"/>
                <a:ea typeface="微软雅黑" panose="020B0503020204020204" pitchFamily="34" charset="-122"/>
              </a:rPr>
              <a:t>875EFlops</a:t>
            </a:r>
            <a:r>
              <a:rPr lang="zh-CN" altLang="en-US" sz="2400" dirty="0">
                <a:latin typeface="微软雅黑" panose="020B0503020204020204" pitchFamily="34" charset="-122"/>
                <a:ea typeface="微软雅黑" panose="020B0503020204020204" pitchFamily="34" charset="-122"/>
              </a:rPr>
              <a:t>，同比</a:t>
            </a:r>
            <a:r>
              <a:rPr lang="en-US" altLang="zh-CN" sz="2400" dirty="0">
                <a:solidFill>
                  <a:srgbClr val="FF0000"/>
                </a:solidFill>
                <a:latin typeface="微软雅黑" panose="020B0503020204020204" pitchFamily="34" charset="-122"/>
                <a:ea typeface="微软雅黑" panose="020B0503020204020204" pitchFamily="34" charset="-122"/>
              </a:rPr>
              <a:t>+94%</a:t>
            </a:r>
            <a:r>
              <a:rPr lang="zh-CN" altLang="en-US" sz="2400" dirty="0">
                <a:latin typeface="微软雅黑" panose="020B0503020204020204" pitchFamily="34" charset="-122"/>
                <a:ea typeface="微软雅黑" panose="020B0503020204020204" pitchFamily="34" charset="-122"/>
              </a:rPr>
              <a:t>，占总算力的比重为</a:t>
            </a:r>
            <a:r>
              <a:rPr lang="en-US" altLang="zh-CN" sz="2400" dirty="0">
                <a:latin typeface="微软雅黑" panose="020B0503020204020204" pitchFamily="34" charset="-122"/>
                <a:ea typeface="微软雅黑" panose="020B0503020204020204" pitchFamily="34" charset="-122"/>
              </a:rPr>
              <a:t>63%</a:t>
            </a:r>
          </a:p>
          <a:p>
            <a:pPr marL="285750" indent="-285750">
              <a:lnSpc>
                <a:spcPts val="42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2017</a:t>
            </a:r>
            <a:r>
              <a:rPr lang="zh-CN" altLang="en-US" sz="2400" dirty="0">
                <a:latin typeface="微软雅黑" panose="020B0503020204020204" pitchFamily="34" charset="-122"/>
                <a:ea typeface="微软雅黑" panose="020B0503020204020204" pitchFamily="34" charset="-122"/>
              </a:rPr>
              <a:t>年我国机架总数不到</a:t>
            </a:r>
            <a:r>
              <a:rPr lang="en-US" altLang="zh-CN" sz="2400" dirty="0">
                <a:latin typeface="微软雅黑" panose="020B0503020204020204" pitchFamily="34" charset="-122"/>
                <a:ea typeface="微软雅黑" panose="020B0503020204020204" pitchFamily="34" charset="-122"/>
              </a:rPr>
              <a:t>500</a:t>
            </a:r>
            <a:r>
              <a:rPr lang="zh-CN" altLang="en-US" sz="2400" dirty="0">
                <a:latin typeface="微软雅黑" panose="020B0503020204020204" pitchFamily="34" charset="-122"/>
                <a:ea typeface="微软雅黑" panose="020B0503020204020204" pitchFamily="34" charset="-122"/>
              </a:rPr>
              <a:t>万，</a:t>
            </a:r>
            <a:r>
              <a:rPr lang="en-US" altLang="zh-CN" sz="2400" dirty="0">
                <a:latin typeface="微软雅黑" panose="020B0503020204020204" pitchFamily="34" charset="-122"/>
                <a:ea typeface="微软雅黑" panose="020B0503020204020204" pitchFamily="34" charset="-122"/>
              </a:rPr>
              <a:t>2022</a:t>
            </a:r>
            <a:r>
              <a:rPr lang="zh-CN" altLang="en-US" sz="2400" dirty="0">
                <a:latin typeface="微软雅黑" panose="020B0503020204020204" pitchFamily="34" charset="-122"/>
                <a:ea typeface="微软雅黑" panose="020B0503020204020204" pitchFamily="34" charset="-122"/>
              </a:rPr>
              <a:t>年为</a:t>
            </a:r>
            <a:r>
              <a:rPr lang="en-US" altLang="zh-CN" sz="2400" dirty="0">
                <a:latin typeface="微软雅黑" panose="020B0503020204020204" pitchFamily="34" charset="-122"/>
                <a:ea typeface="微软雅黑" panose="020B0503020204020204" pitchFamily="34" charset="-122"/>
              </a:rPr>
              <a:t>650</a:t>
            </a:r>
            <a:r>
              <a:rPr lang="zh-CN" altLang="en-US" sz="2400" dirty="0">
                <a:latin typeface="微软雅黑" panose="020B0503020204020204" pitchFamily="34" charset="-122"/>
                <a:ea typeface="微软雅黑" panose="020B0503020204020204" pitchFamily="34" charset="-122"/>
              </a:rPr>
              <a:t>万； 而</a:t>
            </a:r>
            <a:r>
              <a:rPr lang="en-US" altLang="zh-CN" sz="2400" dirty="0">
                <a:latin typeface="微软雅黑" panose="020B0503020204020204" pitchFamily="34" charset="-122"/>
                <a:ea typeface="微软雅黑" panose="020B0503020204020204" pitchFamily="34" charset="-122"/>
              </a:rPr>
              <a:t>2024</a:t>
            </a:r>
            <a:r>
              <a:rPr lang="zh-CN" altLang="en-US" sz="2400" dirty="0">
                <a:latin typeface="微软雅黑" panose="020B0503020204020204" pitchFamily="34" charset="-122"/>
                <a:ea typeface="微软雅黑" panose="020B0503020204020204" pitchFamily="34" charset="-122"/>
              </a:rPr>
              <a:t>年中国内地数据中心行业市场规模达到</a:t>
            </a:r>
            <a:r>
              <a:rPr lang="en-US" altLang="zh-CN" sz="2400" dirty="0">
                <a:solidFill>
                  <a:srgbClr val="FF0000"/>
                </a:solidFill>
                <a:latin typeface="微软雅黑" panose="020B0503020204020204" pitchFamily="34" charset="-122"/>
                <a:ea typeface="微软雅黑" panose="020B0503020204020204" pitchFamily="34" charset="-122"/>
              </a:rPr>
              <a:t>3048</a:t>
            </a:r>
            <a:r>
              <a:rPr lang="zh-CN" altLang="en-US" sz="2400" dirty="0">
                <a:solidFill>
                  <a:srgbClr val="FF0000"/>
                </a:solidFill>
                <a:latin typeface="微软雅黑" panose="020B0503020204020204" pitchFamily="34" charset="-122"/>
                <a:ea typeface="微软雅黑" panose="020B0503020204020204" pitchFamily="34" charset="-122"/>
              </a:rPr>
              <a:t>亿</a:t>
            </a:r>
            <a:r>
              <a:rPr lang="zh-CN" altLang="en-US" sz="2400" dirty="0">
                <a:latin typeface="微软雅黑" panose="020B0503020204020204" pitchFamily="34" charset="-122"/>
                <a:ea typeface="微软雅黑" panose="020B0503020204020204" pitchFamily="34" charset="-122"/>
              </a:rPr>
              <a:t>元、标准机架规模突破</a:t>
            </a:r>
            <a:r>
              <a:rPr lang="en-US" altLang="zh-CN" sz="2400" dirty="0">
                <a:solidFill>
                  <a:srgbClr val="FF0000"/>
                </a:solidFill>
                <a:latin typeface="微软雅黑" panose="020B0503020204020204" pitchFamily="34" charset="-122"/>
                <a:ea typeface="微软雅黑" panose="020B0503020204020204" pitchFamily="34" charset="-122"/>
              </a:rPr>
              <a:t>1000</a:t>
            </a:r>
            <a:r>
              <a:rPr lang="zh-CN" altLang="en-US" sz="2400" dirty="0">
                <a:solidFill>
                  <a:srgbClr val="FF0000"/>
                </a:solidFill>
                <a:latin typeface="微软雅黑" panose="020B0503020204020204" pitchFamily="34" charset="-122"/>
                <a:ea typeface="微软雅黑" panose="020B0503020204020204" pitchFamily="34" charset="-122"/>
              </a:rPr>
              <a:t>万架</a:t>
            </a:r>
            <a:endParaRPr lang="en-US" altLang="zh-CN" sz="2400" dirty="0">
              <a:latin typeface="微软雅黑" panose="020B0503020204020204" pitchFamily="34" charset="-122"/>
              <a:ea typeface="微软雅黑" panose="020B0503020204020204" pitchFamily="34" charset="-122"/>
            </a:endParaRPr>
          </a:p>
        </p:txBody>
      </p:sp>
      <p:sp>
        <p:nvSpPr>
          <p:cNvPr id="5" name="圆角矩形 1"/>
          <p:cNvSpPr>
            <a:spLocks noChangeArrowheads="1"/>
          </p:cNvSpPr>
          <p:nvPr/>
        </p:nvSpPr>
        <p:spPr bwMode="auto">
          <a:xfrm>
            <a:off x="358140" y="838373"/>
            <a:ext cx="11552555" cy="5579729"/>
          </a:xfrm>
          <a:prstGeom prst="roundRect">
            <a:avLst>
              <a:gd name="adj" fmla="val 6977"/>
            </a:avLst>
          </a:prstGeom>
          <a:noFill/>
          <a:ln w="25400" cap="flat" cmpd="sng">
            <a:solidFill>
              <a:srgbClr val="A5A5A5"/>
            </a:solidFill>
            <a:prstDash val="dash"/>
            <a:bevel/>
          </a:ln>
        </p:spPr>
        <p:txBody>
          <a:bodyPr anchor="ctr"/>
          <a:lstStyle/>
          <a:p>
            <a:pPr algn="ctr">
              <a:lnSpc>
                <a:spcPts val="3400"/>
              </a:lnSpc>
            </a:pP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3" name="TextBox 4">
            <a:extLst>
              <a:ext uri="{FF2B5EF4-FFF2-40B4-BE49-F238E27FC236}">
                <a16:creationId xmlns:a16="http://schemas.microsoft.com/office/drawing/2014/main" id="{8824D4C7-C73A-4373-93B2-796E863DBA64}"/>
              </a:ext>
            </a:extLst>
          </p:cNvPr>
          <p:cNvSpPr txBox="1"/>
          <p:nvPr/>
        </p:nvSpPr>
        <p:spPr>
          <a:xfrm>
            <a:off x="554319" y="1846116"/>
            <a:ext cx="2379828" cy="954107"/>
          </a:xfrm>
          <a:prstGeom prst="rect">
            <a:avLst/>
          </a:prstGeom>
          <a:noFill/>
        </p:spPr>
        <p:txBody>
          <a:bodyPr wrap="square" rtlCol="0">
            <a:spAutoFit/>
          </a:bodyPr>
          <a:lstStyle/>
          <a:p>
            <a:pPr algn="ctr"/>
            <a:r>
              <a:rPr lang="zh-CN" altLang="en-US" sz="2800" b="1">
                <a:latin typeface="微软雅黑" panose="020B0503020204020204" pitchFamily="34" charset="-122"/>
                <a:ea typeface="微软雅黑" panose="020B0503020204020204" pitchFamily="34" charset="-122"/>
              </a:rPr>
              <a:t>腾讯贵安七星</a:t>
            </a:r>
            <a:endParaRPr lang="en-US" altLang="zh-CN" sz="2800" b="1">
              <a:latin typeface="微软雅黑" panose="020B0503020204020204" pitchFamily="34" charset="-122"/>
              <a:ea typeface="微软雅黑" panose="020B0503020204020204" pitchFamily="34" charset="-122"/>
            </a:endParaRPr>
          </a:p>
          <a:p>
            <a:pPr algn="ctr"/>
            <a:r>
              <a:rPr lang="zh-CN" altLang="en-US" sz="2800" b="1">
                <a:latin typeface="微软雅黑" panose="020B0503020204020204" pitchFamily="34" charset="-122"/>
                <a:ea typeface="微软雅黑" panose="020B0503020204020204" pitchFamily="34" charset="-122"/>
              </a:rPr>
              <a:t>数据中心</a:t>
            </a:r>
          </a:p>
        </p:txBody>
      </p:sp>
      <p:pic>
        <p:nvPicPr>
          <p:cNvPr id="23" name="Picture 8" descr="http://www.gz.xinhuanet.com/2020-07/16/1126246590_15948840786931n.jpg">
            <a:extLst>
              <a:ext uri="{FF2B5EF4-FFF2-40B4-BE49-F238E27FC236}">
                <a16:creationId xmlns:a16="http://schemas.microsoft.com/office/drawing/2014/main" id="{127BE52F-1FA8-44DF-95C9-E2C963B77DDB}"/>
              </a:ext>
            </a:extLst>
          </p:cNvPr>
          <p:cNvPicPr>
            <a:picLocks noChangeAspect="1" noChangeArrowheads="1"/>
          </p:cNvPicPr>
          <p:nvPr/>
        </p:nvPicPr>
        <p:blipFill>
          <a:blip r:embed="rId3" cstate="print"/>
          <a:srcRect/>
          <a:stretch>
            <a:fillRect/>
          </a:stretch>
        </p:blipFill>
        <p:spPr bwMode="auto">
          <a:xfrm>
            <a:off x="8065024" y="813012"/>
            <a:ext cx="3272969" cy="2454727"/>
          </a:xfrm>
          <a:prstGeom prst="rect">
            <a:avLst/>
          </a:prstGeom>
          <a:noFill/>
        </p:spPr>
      </p:pic>
      <p:pic>
        <p:nvPicPr>
          <p:cNvPr id="24" name="Picture 9">
            <a:extLst>
              <a:ext uri="{FF2B5EF4-FFF2-40B4-BE49-F238E27FC236}">
                <a16:creationId xmlns:a16="http://schemas.microsoft.com/office/drawing/2014/main" id="{6BAC6AC6-29E4-4D71-A7E8-5567C149B5F5}"/>
              </a:ext>
            </a:extLst>
          </p:cNvPr>
          <p:cNvPicPr>
            <a:picLocks noChangeAspect="1" noChangeArrowheads="1"/>
          </p:cNvPicPr>
          <p:nvPr/>
        </p:nvPicPr>
        <p:blipFill>
          <a:blip r:embed="rId4" cstate="print"/>
          <a:srcRect/>
          <a:stretch>
            <a:fillRect/>
          </a:stretch>
        </p:blipFill>
        <p:spPr bwMode="auto">
          <a:xfrm>
            <a:off x="3454400" y="834860"/>
            <a:ext cx="4090371" cy="2450070"/>
          </a:xfrm>
          <a:prstGeom prst="rect">
            <a:avLst/>
          </a:prstGeom>
          <a:noFill/>
          <a:ln w="9525">
            <a:noFill/>
            <a:miter lim="800000"/>
            <a:headEnd/>
            <a:tailEnd/>
          </a:ln>
        </p:spPr>
      </p:pic>
      <p:sp>
        <p:nvSpPr>
          <p:cNvPr id="25" name="Rectangle 2">
            <a:extLst>
              <a:ext uri="{FF2B5EF4-FFF2-40B4-BE49-F238E27FC236}">
                <a16:creationId xmlns:a16="http://schemas.microsoft.com/office/drawing/2014/main" id="{77DCDF84-3E47-4871-A782-EEF2869B1CA2}"/>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6" name="文本框 25">
            <a:extLst>
              <a:ext uri="{FF2B5EF4-FFF2-40B4-BE49-F238E27FC236}">
                <a16:creationId xmlns:a16="http://schemas.microsoft.com/office/drawing/2014/main" id="{BEA18820-F565-4720-8F0E-4B6A9EAEDDB5}"/>
              </a:ext>
            </a:extLst>
          </p:cNvPr>
          <p:cNvSpPr txBox="1"/>
          <p:nvPr/>
        </p:nvSpPr>
        <p:spPr>
          <a:xfrm>
            <a:off x="369855" y="3525596"/>
            <a:ext cx="11263346" cy="2654060"/>
          </a:xfrm>
          <a:prstGeom prst="rect">
            <a:avLst/>
          </a:prstGeom>
          <a:noFill/>
        </p:spPr>
        <p:txBody>
          <a:bodyPr wrap="square" rtlCol="0">
            <a:spAutoFit/>
          </a:bodyPr>
          <a:lstStyle/>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腾讯把服务器藏进了贵州一处山洞，里面放置了</a:t>
            </a:r>
            <a:r>
              <a:rPr lang="en-US" altLang="zh-CN" sz="2000" dirty="0">
                <a:latin typeface="微软雅黑" panose="020B0503020204020204" pitchFamily="34" charset="-122"/>
                <a:ea typeface="微软雅黑" panose="020B0503020204020204" pitchFamily="34" charset="-122"/>
              </a:rPr>
              <a:t>30</a:t>
            </a:r>
            <a:r>
              <a:rPr lang="zh-CN" altLang="en-US" sz="2000" dirty="0">
                <a:latin typeface="微软雅黑" panose="020B0503020204020204" pitchFamily="34" charset="-122"/>
                <a:ea typeface="微软雅黑" panose="020B0503020204020204" pitchFamily="34" charset="-122"/>
              </a:rPr>
              <a:t>万台服务器，这里就是腾讯贵安七星数据中心，占地面积约</a:t>
            </a:r>
            <a:r>
              <a:rPr lang="en-US" altLang="zh-CN" sz="2000" dirty="0">
                <a:latin typeface="微软雅黑" panose="020B0503020204020204" pitchFamily="34" charset="-122"/>
                <a:ea typeface="微软雅黑" panose="020B0503020204020204" pitchFamily="34" charset="-122"/>
              </a:rPr>
              <a:t>47</a:t>
            </a:r>
            <a:r>
              <a:rPr lang="zh-CN" altLang="en-US" sz="2000" dirty="0">
                <a:latin typeface="微软雅黑" panose="020B0503020204020204" pitchFamily="34" charset="-122"/>
                <a:ea typeface="微软雅黑" panose="020B0503020204020204" pitchFamily="34" charset="-122"/>
              </a:rPr>
              <a:t>万平米，隧洞的面积超过</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万平米，可以塞下</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个标准足球场</a:t>
            </a:r>
            <a:endParaRPr lang="en-US" altLang="zh-CN" sz="2000" dirty="0">
              <a:latin typeface="微软雅黑" panose="020B0503020204020204" pitchFamily="34" charset="-122"/>
              <a:ea typeface="微软雅黑" panose="020B0503020204020204" pitchFamily="34" charset="-122"/>
            </a:endParaRPr>
          </a:p>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为什么把数据中心修在山洞里？从实际能耗来看，</a:t>
            </a:r>
            <a:r>
              <a:rPr lang="en-US" altLang="zh-CN" sz="2000" dirty="0">
                <a:latin typeface="微软雅黑" panose="020B0503020204020204" pitchFamily="34" charset="-122"/>
                <a:ea typeface="微软雅黑" panose="020B0503020204020204" pitchFamily="34" charset="-122"/>
              </a:rPr>
              <a:t>2023 </a:t>
            </a:r>
            <a:r>
              <a:rPr lang="zh-CN" altLang="en-US" sz="2000" dirty="0">
                <a:latin typeface="微软雅黑" panose="020B0503020204020204" pitchFamily="34" charset="-122"/>
                <a:ea typeface="微软雅黑" panose="020B0503020204020204" pitchFamily="34" charset="-122"/>
              </a:rPr>
              <a:t>年我国算力中心总用电量约为 </a:t>
            </a:r>
            <a:r>
              <a:rPr lang="en-US" altLang="zh-CN" sz="2000" dirty="0">
                <a:latin typeface="微软雅黑" panose="020B0503020204020204" pitchFamily="34" charset="-122"/>
                <a:ea typeface="微软雅黑" panose="020B0503020204020204" pitchFamily="34" charset="-122"/>
              </a:rPr>
              <a:t>1500 </a:t>
            </a:r>
            <a:r>
              <a:rPr lang="zh-CN" altLang="en-US" sz="2000" dirty="0">
                <a:latin typeface="微软雅黑" panose="020B0503020204020204" pitchFamily="34" charset="-122"/>
                <a:ea typeface="微软雅黑" panose="020B0503020204020204" pitchFamily="34" charset="-122"/>
              </a:rPr>
              <a:t>亿千瓦时，仅散热环节就消耗了约 </a:t>
            </a:r>
            <a:r>
              <a:rPr lang="en-US" altLang="zh-CN" sz="2000" dirty="0">
                <a:latin typeface="微软雅黑" panose="020B0503020204020204" pitchFamily="34" charset="-122"/>
                <a:ea typeface="微软雅黑" panose="020B0503020204020204" pitchFamily="34" charset="-122"/>
              </a:rPr>
              <a:t>400 </a:t>
            </a:r>
            <a:r>
              <a:rPr lang="zh-CN" altLang="en-US" sz="2000" dirty="0">
                <a:latin typeface="微软雅黑" panose="020B0503020204020204" pitchFamily="34" charset="-122"/>
                <a:ea typeface="微软雅黑" panose="020B0503020204020204" pitchFamily="34" charset="-122"/>
              </a:rPr>
              <a:t>亿度电，这一数字相当于三峡水电站半年的发电量</a:t>
            </a:r>
            <a:endParaRPr lang="en-US" altLang="zh-CN" sz="2000" dirty="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p:txBody>
      </p:sp>
      <p:sp>
        <p:nvSpPr>
          <p:cNvPr id="27" name="圆角矩形 1">
            <a:extLst>
              <a:ext uri="{FF2B5EF4-FFF2-40B4-BE49-F238E27FC236}">
                <a16:creationId xmlns:a16="http://schemas.microsoft.com/office/drawing/2014/main" id="{98E023CD-648E-4D68-842C-AA36B16A099E}"/>
              </a:ext>
            </a:extLst>
          </p:cNvPr>
          <p:cNvSpPr>
            <a:spLocks noChangeArrowheads="1"/>
          </p:cNvSpPr>
          <p:nvPr/>
        </p:nvSpPr>
        <p:spPr bwMode="auto">
          <a:xfrm>
            <a:off x="157828" y="3429000"/>
            <a:ext cx="11724761" cy="2896205"/>
          </a:xfrm>
          <a:prstGeom prst="roundRect">
            <a:avLst>
              <a:gd name="adj" fmla="val 6977"/>
            </a:avLst>
          </a:prstGeom>
          <a:noFill/>
          <a:ln w="25400" cap="flat" cmpd="sng">
            <a:solidFill>
              <a:schemeClr val="accent1">
                <a:lumMod val="75000"/>
              </a:schemeClr>
            </a:solidFill>
            <a:prstDash val="dash"/>
            <a:beve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Tree>
    <p:extLst>
      <p:ext uri="{BB962C8B-B14F-4D97-AF65-F5344CB8AC3E}">
        <p14:creationId xmlns:p14="http://schemas.microsoft.com/office/powerpoint/2010/main" val="1306256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 name="文本框 2"/>
          <p:cNvSpPr txBox="1"/>
          <p:nvPr/>
        </p:nvSpPr>
        <p:spPr>
          <a:xfrm>
            <a:off x="582801" y="851267"/>
            <a:ext cx="11438282" cy="3494033"/>
          </a:xfrm>
          <a:prstGeom prst="rect">
            <a:avLst/>
          </a:prstGeom>
          <a:noFill/>
        </p:spPr>
        <p:txBody>
          <a:bodyPr wrap="square" rtlCol="0">
            <a:spAutoFit/>
          </a:bodyPr>
          <a:lstStyle/>
          <a:p>
            <a:pPr>
              <a:lnSpc>
                <a:spcPts val="3000"/>
              </a:lnSpc>
            </a:pPr>
            <a:r>
              <a:rPr lang="zh-CN" altLang="en-US" sz="2400" b="1" dirty="0">
                <a:latin typeface="微软雅黑" panose="020B0503020204020204" pitchFamily="34" charset="-122"/>
                <a:ea typeface="微软雅黑" panose="020B0503020204020204" pitchFamily="34" charset="-122"/>
              </a:rPr>
              <a:t>   移动算力的</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海上方舟</a:t>
            </a:r>
            <a:r>
              <a:rPr lang="en-US" altLang="zh-CN" sz="2400" b="1" dirty="0">
                <a:latin typeface="微软雅黑" panose="020B0503020204020204" pitchFamily="34" charset="-122"/>
                <a:ea typeface="微软雅黑" panose="020B0503020204020204" pitchFamily="34" charset="-122"/>
              </a:rPr>
              <a:t>"</a:t>
            </a:r>
          </a:p>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日本三井商船株式会社（</a:t>
            </a:r>
            <a:r>
              <a:rPr lang="en-US" altLang="zh-CN" sz="2000" dirty="0">
                <a:latin typeface="微软雅黑" panose="020B0503020204020204" pitchFamily="34" charset="-122"/>
                <a:ea typeface="微软雅黑" panose="020B0503020204020204" pitchFamily="34" charset="-122"/>
              </a:rPr>
              <a:t>MOL</a:t>
            </a:r>
            <a:r>
              <a:rPr lang="zh-CN" altLang="en-US" sz="2000" dirty="0">
                <a:latin typeface="微软雅黑" panose="020B0503020204020204" pitchFamily="34" charset="-122"/>
                <a:ea typeface="微软雅黑" panose="020B0503020204020204" pitchFamily="34" charset="-122"/>
              </a:rPr>
              <a:t>）正在规划一个将船舶改造为 </a:t>
            </a:r>
            <a:r>
              <a:rPr lang="en-US" altLang="zh-CN" sz="2000" dirty="0">
                <a:latin typeface="微软雅黑" panose="020B0503020204020204" pitchFamily="34" charset="-122"/>
                <a:ea typeface="微软雅黑" panose="020B0503020204020204" pitchFamily="34" charset="-122"/>
              </a:rPr>
              <a:t>DC </a:t>
            </a:r>
            <a:r>
              <a:rPr lang="zh-CN" altLang="en-US" sz="2000" dirty="0">
                <a:latin typeface="微软雅黑" panose="020B0503020204020204" pitchFamily="34" charset="-122"/>
                <a:ea typeface="微软雅黑" panose="020B0503020204020204" pitchFamily="34" charset="-122"/>
              </a:rPr>
              <a:t>的项目。该公司准备将一艘</a:t>
            </a:r>
            <a:r>
              <a:rPr lang="en-US" altLang="zh-CN" sz="2000" dirty="0">
                <a:latin typeface="微软雅黑" panose="020B0503020204020204" pitchFamily="34" charset="-122"/>
                <a:ea typeface="微软雅黑" panose="020B0503020204020204" pitchFamily="34" charset="-122"/>
              </a:rPr>
              <a:t>120</a:t>
            </a:r>
            <a:r>
              <a:rPr lang="zh-CN" altLang="en-US" sz="2000" dirty="0">
                <a:latin typeface="微软雅黑" panose="020B0503020204020204" pitchFamily="34" charset="-122"/>
                <a:ea typeface="微软雅黑" panose="020B0503020204020204" pitchFamily="34" charset="-122"/>
              </a:rPr>
              <a:t>米长的运输船改造为浮动数据中心，准备</a:t>
            </a:r>
            <a:r>
              <a:rPr lang="en-US" altLang="zh-CN" sz="2000" dirty="0">
                <a:latin typeface="微软雅黑" panose="020B0503020204020204" pitchFamily="34" charset="-122"/>
                <a:ea typeface="微软雅黑" panose="020B0503020204020204" pitchFamily="34" charset="-122"/>
              </a:rPr>
              <a:t>2027</a:t>
            </a:r>
            <a:r>
              <a:rPr lang="zh-CN" altLang="en-US" sz="2000" dirty="0">
                <a:latin typeface="微软雅黑" panose="020B0503020204020204" pitchFamily="34" charset="-122"/>
                <a:ea typeface="微软雅黑" panose="020B0503020204020204" pitchFamily="34" charset="-122"/>
              </a:rPr>
              <a:t>年正式投入运营</a:t>
            </a:r>
            <a:endParaRPr lang="en-US" altLang="zh-CN" sz="2000" dirty="0">
              <a:latin typeface="微软雅黑" panose="020B0503020204020204" pitchFamily="34" charset="-122"/>
              <a:ea typeface="微软雅黑" panose="020B0503020204020204" pitchFamily="34" charset="-122"/>
            </a:endParaRPr>
          </a:p>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这个数据中心的特色就是其冷却系统</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直接引入海水或河水进行散热，使能效提升</a:t>
            </a:r>
            <a:r>
              <a:rPr lang="en-US" altLang="zh-CN" sz="2000" dirty="0">
                <a:latin typeface="微软雅黑" panose="020B0503020204020204" pitchFamily="34" charset="-122"/>
                <a:ea typeface="微软雅黑" panose="020B0503020204020204" pitchFamily="34" charset="-122"/>
              </a:rPr>
              <a:t>30%</a:t>
            </a:r>
            <a:r>
              <a:rPr lang="zh-CN" altLang="en-US" sz="2000" dirty="0">
                <a:latin typeface="微软雅黑" panose="020B0503020204020204" pitchFamily="34" charset="-122"/>
                <a:ea typeface="微软雅黑" panose="020B0503020204020204" pitchFamily="34" charset="-122"/>
              </a:rPr>
              <a:t>以上</a:t>
            </a:r>
            <a:endParaRPr lang="en-US" altLang="zh-CN" sz="2000" dirty="0">
              <a:latin typeface="微软雅黑" panose="020B0503020204020204" pitchFamily="34" charset="-122"/>
              <a:ea typeface="微软雅黑" panose="020B0503020204020204" pitchFamily="34" charset="-122"/>
            </a:endParaRPr>
          </a:p>
          <a:p>
            <a:pPr marL="285750" indent="-285750">
              <a:lnSpc>
                <a:spcPts val="38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相较于陆地数据中心，浮动方案具备三大战略优势：第一是地理灵活性：可根据电力供需变化在沿海、港口或公海间迁移；其次是建设周期短，从改装到投运仅需</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年，较传统项目提速</a:t>
            </a:r>
            <a:r>
              <a:rPr lang="en-US" altLang="zh-CN" sz="2000" dirty="0">
                <a:latin typeface="微软雅黑" panose="020B0503020204020204" pitchFamily="34" charset="-122"/>
                <a:ea typeface="微软雅黑" panose="020B0503020204020204" pitchFamily="34" charset="-122"/>
              </a:rPr>
              <a:t>400%</a:t>
            </a:r>
            <a:r>
              <a:rPr lang="zh-CN" altLang="en-US" sz="2000" dirty="0">
                <a:latin typeface="微软雅黑" panose="020B0503020204020204" pitchFamily="34" charset="-122"/>
                <a:ea typeface="微软雅黑" panose="020B0503020204020204" pitchFamily="34" charset="-122"/>
              </a:rPr>
              <a:t>；第三是成本可控性，规避大都市区高昂地价，停泊费用仅为陆地成本的</a:t>
            </a:r>
            <a:r>
              <a:rPr lang="en-US" altLang="zh-CN" sz="2000" dirty="0">
                <a:latin typeface="微软雅黑" panose="020B0503020204020204" pitchFamily="34" charset="-122"/>
                <a:ea typeface="微软雅黑" panose="020B0503020204020204" pitchFamily="34" charset="-122"/>
              </a:rPr>
              <a:t>15%</a:t>
            </a:r>
          </a:p>
        </p:txBody>
      </p:sp>
      <p:sp>
        <p:nvSpPr>
          <p:cNvPr id="5" name="圆角矩形 1"/>
          <p:cNvSpPr>
            <a:spLocks noChangeArrowheads="1"/>
          </p:cNvSpPr>
          <p:nvPr/>
        </p:nvSpPr>
        <p:spPr bwMode="auto">
          <a:xfrm>
            <a:off x="358140" y="838373"/>
            <a:ext cx="11552555" cy="5579729"/>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026" name="Picture 2" descr="图片">
            <a:extLst>
              <a:ext uri="{FF2B5EF4-FFF2-40B4-BE49-F238E27FC236}">
                <a16:creationId xmlns:a16="http://schemas.microsoft.com/office/drawing/2014/main" id="{DCBA51C2-E6DE-4B17-9B74-DAC9E655CC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993" y="4486365"/>
            <a:ext cx="3634517" cy="19223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图片">
            <a:extLst>
              <a:ext uri="{FF2B5EF4-FFF2-40B4-BE49-F238E27FC236}">
                <a16:creationId xmlns:a16="http://schemas.microsoft.com/office/drawing/2014/main" id="{D88EF339-4603-4A41-857C-9650E77DED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8767" y="4499259"/>
            <a:ext cx="3475326" cy="19094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图片">
            <a:extLst>
              <a:ext uri="{FF2B5EF4-FFF2-40B4-BE49-F238E27FC236}">
                <a16:creationId xmlns:a16="http://schemas.microsoft.com/office/drawing/2014/main" id="{53F3C578-B64B-4E8A-96A0-986FB1A071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68145" y="4508672"/>
            <a:ext cx="3103410" cy="1909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994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Data Centers</a:t>
            </a:r>
          </a:p>
        </p:txBody>
      </p:sp>
      <p:sp>
        <p:nvSpPr>
          <p:cNvPr id="2" name="文本框 2"/>
          <p:cNvSpPr txBox="1"/>
          <p:nvPr/>
        </p:nvSpPr>
        <p:spPr>
          <a:xfrm>
            <a:off x="582801" y="851267"/>
            <a:ext cx="11438282" cy="3583802"/>
          </a:xfrm>
          <a:prstGeom prst="rect">
            <a:avLst/>
          </a:prstGeom>
          <a:noFill/>
        </p:spPr>
        <p:txBody>
          <a:bodyPr wrap="square" rtlCol="0">
            <a:spAutoFit/>
          </a:bodyPr>
          <a:lstStyle/>
          <a:p>
            <a:pPr>
              <a:lnSpc>
                <a:spcPts val="3000"/>
              </a:lnSpc>
              <a:spcAft>
                <a:spcPts val="600"/>
              </a:spcAft>
            </a:pPr>
            <a:r>
              <a:rPr lang="zh-CN" altLang="en-US" sz="2400" b="1" dirty="0">
                <a:latin typeface="微软雅黑" panose="020B0503020204020204" pitchFamily="34" charset="-122"/>
                <a:ea typeface="微软雅黑" panose="020B0503020204020204" pitchFamily="34" charset="-122"/>
              </a:rPr>
              <a:t>   千奇百怪的选址</a:t>
            </a:r>
            <a:endParaRPr lang="en-US" altLang="zh-CN" sz="2400" b="1" dirty="0">
              <a:latin typeface="微软雅黑" panose="020B0503020204020204" pitchFamily="34" charset="-122"/>
              <a:ea typeface="微软雅黑" panose="020B0503020204020204" pitchFamily="34" charset="-122"/>
            </a:endParaRPr>
          </a:p>
          <a:p>
            <a:pPr marL="285750"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美国国家科学基金会数据中心将高性能计算集群安置在南极的冰川上；</a:t>
            </a:r>
            <a:endParaRPr lang="en-US" altLang="zh-CN" sz="2000" dirty="0">
              <a:latin typeface="微软雅黑" panose="020B0503020204020204" pitchFamily="34" charset="-122"/>
              <a:ea typeface="微软雅黑" panose="020B0503020204020204" pitchFamily="34" charset="-122"/>
            </a:endParaRPr>
          </a:p>
          <a:p>
            <a:pPr marL="285750"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微软开发的纳蒂克数据中心项目，直接将数据中心转移到海底世界中；</a:t>
            </a:r>
            <a:endParaRPr lang="en-US" altLang="zh-CN" sz="2000" dirty="0">
              <a:latin typeface="微软雅黑" panose="020B0503020204020204" pitchFamily="34" charset="-122"/>
              <a:ea typeface="微软雅黑" panose="020B0503020204020204" pitchFamily="34" charset="-122"/>
            </a:endParaRPr>
          </a:p>
          <a:p>
            <a:pPr marL="285750" indent="-285750">
              <a:lnSpc>
                <a:spcPts val="2600"/>
              </a:lnSpc>
              <a:spcAft>
                <a:spcPts val="600"/>
              </a:spcAft>
              <a:buFont typeface="Wingdings" panose="05000000000000000000" pitchFamily="2" charset="2"/>
              <a:buChar char="Ø"/>
            </a:pPr>
            <a:r>
              <a:rPr lang="en-US" altLang="zh-CN" sz="2000" dirty="0" err="1">
                <a:latin typeface="微软雅黑" panose="020B0503020204020204" pitchFamily="34" charset="-122"/>
                <a:ea typeface="微软雅黑" panose="020B0503020204020204" pitchFamily="34" charset="-122"/>
              </a:rPr>
              <a:t>SuperNAP</a:t>
            </a:r>
            <a:r>
              <a:rPr lang="zh-CN" altLang="en-US" sz="2000" dirty="0">
                <a:latin typeface="微软雅黑" panose="020B0503020204020204" pitchFamily="34" charset="-122"/>
                <a:ea typeface="微软雅黑" panose="020B0503020204020204" pitchFamily="34" charset="-122"/>
              </a:rPr>
              <a:t>将数据中心建在了美国拉斯维加斯的沙漠中；</a:t>
            </a:r>
            <a:endParaRPr lang="en-US" altLang="zh-CN" sz="2000" dirty="0">
              <a:latin typeface="微软雅黑" panose="020B0503020204020204" pitchFamily="34" charset="-122"/>
              <a:ea typeface="微软雅黑" panose="020B0503020204020204" pitchFamily="34" charset="-122"/>
            </a:endParaRPr>
          </a:p>
          <a:p>
            <a:pPr marL="285750"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阿里巴巴千岛湖数据中心是国内首个采用自然水制冷技术的数据中心，空调系统采用两路进水，湖水和冷冻水，可以实现同时或单独运行</a:t>
            </a:r>
            <a:r>
              <a:rPr lang="en-US" altLang="zh-CN" sz="2000" dirty="0">
                <a:latin typeface="微软雅黑" panose="020B0503020204020204" pitchFamily="34" charset="-122"/>
                <a:ea typeface="微软雅黑" panose="020B0503020204020204" pitchFamily="34" charset="-122"/>
              </a:rPr>
              <a:t>……</a:t>
            </a:r>
          </a:p>
          <a:p>
            <a:pPr marL="285750"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数据中心的选址看似奇怪，其实极其考究：</a:t>
            </a:r>
            <a:endParaRPr lang="en-US" altLang="zh-CN" sz="2000" dirty="0">
              <a:latin typeface="微软雅黑" panose="020B0503020204020204" pitchFamily="34" charset="-122"/>
              <a:ea typeface="微软雅黑" panose="020B0503020204020204" pitchFamily="34" charset="-122"/>
            </a:endParaRPr>
          </a:p>
          <a:p>
            <a:pPr marL="742950" lvl="1" indent="-285750">
              <a:lnSpc>
                <a:spcPts val="26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大量且廉价的电力</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设备易冷却；地价便宜；隐秘性和安全性；和其他数据中心的连接；税收优惠</a:t>
            </a:r>
            <a:r>
              <a:rPr lang="en-US" altLang="zh-CN" sz="2000" dirty="0">
                <a:latin typeface="微软雅黑" panose="020B0503020204020204" pitchFamily="34" charset="-122"/>
                <a:ea typeface="微软雅黑" panose="020B0503020204020204" pitchFamily="34" charset="-122"/>
              </a:rPr>
              <a:t>……</a:t>
            </a:r>
          </a:p>
        </p:txBody>
      </p:sp>
      <p:sp>
        <p:nvSpPr>
          <p:cNvPr id="5" name="圆角矩形 1"/>
          <p:cNvSpPr>
            <a:spLocks noChangeArrowheads="1"/>
          </p:cNvSpPr>
          <p:nvPr/>
        </p:nvSpPr>
        <p:spPr bwMode="auto">
          <a:xfrm>
            <a:off x="358140" y="838373"/>
            <a:ext cx="11552555" cy="5579729"/>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3" name="图片 2">
            <a:extLst>
              <a:ext uri="{FF2B5EF4-FFF2-40B4-BE49-F238E27FC236}">
                <a16:creationId xmlns:a16="http://schemas.microsoft.com/office/drawing/2014/main" id="{08EDB5F5-0DBD-49B3-9E5A-CB02C748E6BF}"/>
              </a:ext>
            </a:extLst>
          </p:cNvPr>
          <p:cNvPicPr>
            <a:picLocks noChangeAspect="1"/>
          </p:cNvPicPr>
          <p:nvPr/>
        </p:nvPicPr>
        <p:blipFill>
          <a:blip r:embed="rId3"/>
          <a:stretch>
            <a:fillRect/>
          </a:stretch>
        </p:blipFill>
        <p:spPr>
          <a:xfrm>
            <a:off x="582801" y="4396789"/>
            <a:ext cx="3103409" cy="2066066"/>
          </a:xfrm>
          <a:prstGeom prst="rect">
            <a:avLst/>
          </a:prstGeom>
        </p:spPr>
      </p:pic>
      <p:pic>
        <p:nvPicPr>
          <p:cNvPr id="4" name="图片 3">
            <a:extLst>
              <a:ext uri="{FF2B5EF4-FFF2-40B4-BE49-F238E27FC236}">
                <a16:creationId xmlns:a16="http://schemas.microsoft.com/office/drawing/2014/main" id="{470DA8A1-34CC-48F3-934E-4735B5B9D6FF}"/>
              </a:ext>
            </a:extLst>
          </p:cNvPr>
          <p:cNvPicPr>
            <a:picLocks noChangeAspect="1"/>
          </p:cNvPicPr>
          <p:nvPr/>
        </p:nvPicPr>
        <p:blipFill rotWithShape="1">
          <a:blip r:embed="rId4"/>
          <a:srcRect r="4703" b="12906"/>
          <a:stretch/>
        </p:blipFill>
        <p:spPr>
          <a:xfrm>
            <a:off x="3823856" y="4396789"/>
            <a:ext cx="4328896" cy="2066066"/>
          </a:xfrm>
          <a:prstGeom prst="rect">
            <a:avLst/>
          </a:prstGeom>
        </p:spPr>
      </p:pic>
      <p:pic>
        <p:nvPicPr>
          <p:cNvPr id="6" name="图片 5">
            <a:extLst>
              <a:ext uri="{FF2B5EF4-FFF2-40B4-BE49-F238E27FC236}">
                <a16:creationId xmlns:a16="http://schemas.microsoft.com/office/drawing/2014/main" id="{209F2774-56D1-40CF-8A43-7C390213B47C}"/>
              </a:ext>
            </a:extLst>
          </p:cNvPr>
          <p:cNvPicPr>
            <a:picLocks noChangeAspect="1"/>
          </p:cNvPicPr>
          <p:nvPr/>
        </p:nvPicPr>
        <p:blipFill rotWithShape="1">
          <a:blip r:embed="rId5"/>
          <a:srcRect r="2485" b="9887"/>
          <a:stretch/>
        </p:blipFill>
        <p:spPr>
          <a:xfrm>
            <a:off x="8228702" y="4396789"/>
            <a:ext cx="3309186" cy="2036620"/>
          </a:xfrm>
          <a:prstGeom prst="rect">
            <a:avLst/>
          </a:prstGeom>
        </p:spPr>
      </p:pic>
    </p:spTree>
    <p:extLst>
      <p:ext uri="{BB962C8B-B14F-4D97-AF65-F5344CB8AC3E}">
        <p14:creationId xmlns:p14="http://schemas.microsoft.com/office/powerpoint/2010/main" val="3150948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5025AA4-7ED3-4584-9AD4-2374D23B323B}"/>
              </a:ext>
            </a:extLst>
          </p:cNvPr>
          <p:cNvSpPr txBox="1"/>
          <p:nvPr/>
        </p:nvSpPr>
        <p:spPr>
          <a:xfrm>
            <a:off x="1016000" y="489734"/>
            <a:ext cx="10532533" cy="5386090"/>
          </a:xfrm>
          <a:prstGeom prst="rect">
            <a:avLst/>
          </a:prstGeom>
          <a:noFill/>
        </p:spPr>
        <p:txBody>
          <a:bodyPr wrap="square" rtlCol="0">
            <a:spAutoFit/>
          </a:bodyPr>
          <a:lstStyle/>
          <a:p>
            <a:pPr algn="ctr"/>
            <a:r>
              <a:rPr lang="en-US" altLang="zh-CN" sz="3600" b="1" dirty="0">
                <a:solidFill>
                  <a:srgbClr val="2F5EB0"/>
                </a:solidFill>
                <a:latin typeface="微软雅黑" panose="020B0503020204020204" pitchFamily="34" charset="-122"/>
                <a:ea typeface="微软雅黑" panose="020B0503020204020204" pitchFamily="34" charset="-122"/>
              </a:rPr>
              <a:t>Outline</a:t>
            </a:r>
          </a:p>
          <a:p>
            <a:pPr marL="857250" indent="-857250">
              <a:buFont typeface="+mj-lt"/>
              <a:buAutoNum type="romanUcPeriod"/>
            </a:pPr>
            <a:r>
              <a:rPr lang="en-US" altLang="zh-CN" sz="3600" b="1" dirty="0">
                <a:solidFill>
                  <a:srgbClr val="2F5EB0"/>
                </a:solidFill>
                <a:latin typeface="微软雅黑" panose="020B0503020204020204" pitchFamily="34" charset="-122"/>
                <a:ea typeface="微软雅黑" panose="020B0503020204020204" pitchFamily="34" charset="-122"/>
              </a:rPr>
              <a:t>Introduction</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Data Centers</a:t>
            </a:r>
          </a:p>
          <a:p>
            <a:pPr marL="1028700" lvl="1" indent="-571500">
              <a:buFont typeface="+mj-lt"/>
              <a:buAutoNum type="arabicPeriod"/>
            </a:pPr>
            <a:r>
              <a:rPr lang="en-US" altLang="zh-CN" sz="3200" b="1" dirty="0">
                <a:solidFill>
                  <a:srgbClr val="2F5EB0"/>
                </a:solidFill>
                <a:latin typeface="微软雅黑" panose="020B0503020204020204" pitchFamily="34" charset="-122"/>
                <a:ea typeface="微软雅黑" panose="020B0503020204020204" pitchFamily="34" charset="-122"/>
              </a:rPr>
              <a:t>Traffic Patters in DCs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DC Architectures​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​​Supplement: Fundamental Concepts</a:t>
            </a:r>
          </a:p>
          <a:p>
            <a:pPr marL="571500" indent="-57150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dirty="0">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52741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ChangeArrowheads="1"/>
          </p:cNvSpPr>
          <p:nvPr/>
        </p:nvSpPr>
        <p:spPr bwMode="auto">
          <a:xfrm>
            <a:off x="309411" y="0"/>
            <a:ext cx="9339413"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411202" y="1423070"/>
            <a:ext cx="8221560" cy="3529299"/>
          </a:xfrm>
          <a:prstGeom prst="rect">
            <a:avLst/>
          </a:prstGeom>
          <a:noFill/>
        </p:spPr>
        <p:txBody>
          <a:bodyPr wrap="square" rtlCol="0">
            <a:spAutoFit/>
          </a:bodyPr>
          <a:lstStyle/>
          <a:p>
            <a:pPr marL="285750" indent="-285750">
              <a:lnSpc>
                <a:spcPts val="3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大规模集群中存在大量机器间通信，其核心瓶颈往往在于节点间的通信带宽。</a:t>
            </a:r>
          </a:p>
          <a:p>
            <a:pPr marL="742950" lvl="1" indent="-285750">
              <a:lnSpc>
                <a:spcPts val="3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MapReduce</a:t>
            </a:r>
            <a:r>
              <a:rPr lang="zh-CN" altLang="en-US" sz="2400">
                <a:latin typeface="微软雅黑" panose="020B0503020204020204" pitchFamily="34" charset="-122"/>
                <a:ea typeface="微软雅黑" panose="020B0503020204020204" pitchFamily="34" charset="-122"/>
              </a:rPr>
              <a:t>：必须执行大量数据混洗操作，以传递映射阶段的输出结果，才能继续执行归约阶段。</a:t>
            </a:r>
          </a:p>
          <a:p>
            <a:pPr marL="742950" lvl="1" indent="-285750">
              <a:lnSpc>
                <a:spcPts val="3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网络搜索引擎：通常需要与托管倒排索引的集群中所有节点进行并行通信，以返回最相关的结果。</a:t>
            </a:r>
          </a:p>
          <a:p>
            <a:pPr>
              <a:lnSpc>
                <a:spcPts val="3900"/>
              </a:lnSpc>
            </a:pPr>
            <a:endParaRPr lang="zh-CN" altLang="en-US" sz="2000">
              <a:latin typeface="微软雅黑" panose="020B0503020204020204" pitchFamily="34" charset="-122"/>
              <a:ea typeface="微软雅黑" panose="020B0503020204020204" pitchFamily="34" charset="-122"/>
            </a:endParaRPr>
          </a:p>
        </p:txBody>
      </p:sp>
      <p:sp>
        <p:nvSpPr>
          <p:cNvPr id="6" name="文本框 5"/>
          <p:cNvSpPr txBox="1"/>
          <p:nvPr/>
        </p:nvSpPr>
        <p:spPr>
          <a:xfrm>
            <a:off x="455814" y="899850"/>
            <a:ext cx="6574926" cy="523220"/>
          </a:xfrm>
          <a:prstGeom prst="rect">
            <a:avLst/>
          </a:prstGeom>
          <a:noFill/>
        </p:spPr>
        <p:txBody>
          <a:bodyPr wrap="square" rtlCol="0">
            <a:spAutoFit/>
          </a:bodyPr>
          <a:lstStyle/>
          <a:p>
            <a:r>
              <a:rPr lang="zh-CN" altLang="en-US" sz="2800" b="1">
                <a:latin typeface="微软雅黑" panose="020B0503020204020204" pitchFamily="34" charset="-122"/>
                <a:ea typeface="微软雅黑" panose="020B0503020204020204" pitchFamily="34" charset="-122"/>
              </a:rPr>
              <a:t>数据中心内的流量</a:t>
            </a:r>
            <a:endParaRPr lang="zh-CN" altLang="en-US" sz="2400" b="1">
              <a:latin typeface="微软雅黑" panose="020B0503020204020204" pitchFamily="34" charset="-122"/>
              <a:ea typeface="微软雅黑" panose="020B0503020204020204" pitchFamily="34" charset="-122"/>
            </a:endParaRPr>
          </a:p>
        </p:txBody>
      </p:sp>
      <p:sp>
        <p:nvSpPr>
          <p:cNvPr id="17" name="文本框 16"/>
          <p:cNvSpPr txBox="1"/>
          <p:nvPr/>
        </p:nvSpPr>
        <p:spPr>
          <a:xfrm>
            <a:off x="408421" y="4894651"/>
            <a:ext cx="6164618" cy="523220"/>
          </a:xfrm>
          <a:prstGeom prst="rect">
            <a:avLst/>
          </a:prstGeom>
          <a:noFill/>
        </p:spPr>
        <p:txBody>
          <a:bodyPr wrap="square" rtlCol="0">
            <a:spAutoFit/>
          </a:bodyPr>
          <a:lstStyle/>
          <a:p>
            <a:r>
              <a:rPr lang="zh-CN" altLang="en-US" sz="2800" b="1">
                <a:latin typeface="微软雅黑" panose="020B0503020204020204" pitchFamily="34" charset="-122"/>
                <a:ea typeface="微软雅黑" panose="020B0503020204020204" pitchFamily="34" charset="-122"/>
              </a:rPr>
              <a:t>对网络的要求</a:t>
            </a:r>
            <a:endParaRPr lang="zh-CN" altLang="en-US" sz="2400" b="1">
              <a:latin typeface="微软雅黑" panose="020B0503020204020204" pitchFamily="34" charset="-122"/>
              <a:ea typeface="微软雅黑" panose="020B0503020204020204" pitchFamily="34" charset="-122"/>
            </a:endParaRPr>
          </a:p>
        </p:txBody>
      </p:sp>
      <p:pic>
        <p:nvPicPr>
          <p:cNvPr id="21" name="Picture 6" descr="What are Cloud Service Providers | How to Choose O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9096" y="2602262"/>
            <a:ext cx="3186285" cy="217452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Know about Cloud Computing Architecture - Knoldus Blog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7344" y="899850"/>
            <a:ext cx="2834354" cy="2077050"/>
          </a:xfrm>
          <a:prstGeom prst="rect">
            <a:avLst/>
          </a:prstGeom>
          <a:noFill/>
          <a:extLst>
            <a:ext uri="{909E8E84-426E-40DD-AFC4-6F175D3DCCD1}">
              <a14:hiddenFill xmlns:a14="http://schemas.microsoft.com/office/drawing/2010/main">
                <a:solidFill>
                  <a:srgbClr val="FFFFFF"/>
                </a:solidFill>
              </a14:hiddenFill>
            </a:ext>
          </a:extLst>
        </p:spPr>
      </p:pic>
      <p:sp>
        <p:nvSpPr>
          <p:cNvPr id="3" name="圆角矩形 1"/>
          <p:cNvSpPr>
            <a:spLocks noChangeArrowheads="1"/>
          </p:cNvSpPr>
          <p:nvPr/>
        </p:nvSpPr>
        <p:spPr bwMode="auto">
          <a:xfrm>
            <a:off x="230171" y="837238"/>
            <a:ext cx="11714179" cy="3716655"/>
          </a:xfrm>
          <a:prstGeom prst="roundRect">
            <a:avLst>
              <a:gd name="adj" fmla="val 6977"/>
            </a:avLst>
          </a:prstGeom>
          <a:noFill/>
          <a:ln w="25400" cap="flat" cmpd="sng">
            <a:solidFill>
              <a:schemeClr val="accent1">
                <a:lumMod val="75000"/>
              </a:schemeClr>
            </a:solidFill>
            <a:prstDash val="dash"/>
            <a:beve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4" name="圆角矩形 1"/>
          <p:cNvSpPr>
            <a:spLocks noChangeArrowheads="1"/>
          </p:cNvSpPr>
          <p:nvPr/>
        </p:nvSpPr>
        <p:spPr bwMode="auto">
          <a:xfrm>
            <a:off x="230171" y="4687905"/>
            <a:ext cx="11714179" cy="1587165"/>
          </a:xfrm>
          <a:prstGeom prst="roundRect">
            <a:avLst>
              <a:gd name="adj" fmla="val 6977"/>
            </a:avLst>
          </a:prstGeom>
          <a:noFill/>
          <a:ln w="28575" cap="flat" cmpd="sng">
            <a:solidFill>
              <a:srgbClr val="F26849"/>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Rectangle 2">
            <a:extLst>
              <a:ext uri="{FF2B5EF4-FFF2-40B4-BE49-F238E27FC236}">
                <a16:creationId xmlns:a16="http://schemas.microsoft.com/office/drawing/2014/main" id="{EE658DD0-6EE5-4E6F-9941-D02DD9DD4980}"/>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Traffic Patters in DCs</a:t>
            </a:r>
          </a:p>
        </p:txBody>
      </p:sp>
      <p:sp>
        <p:nvSpPr>
          <p:cNvPr id="16" name="文本框 15">
            <a:extLst>
              <a:ext uri="{FF2B5EF4-FFF2-40B4-BE49-F238E27FC236}">
                <a16:creationId xmlns:a16="http://schemas.microsoft.com/office/drawing/2014/main" id="{11A3AD51-0DF5-4028-BD90-283071900A56}"/>
              </a:ext>
            </a:extLst>
          </p:cNvPr>
          <p:cNvSpPr txBox="1"/>
          <p:nvPr/>
        </p:nvSpPr>
        <p:spPr>
          <a:xfrm>
            <a:off x="408421" y="5434930"/>
            <a:ext cx="11470496" cy="1135054"/>
          </a:xfrm>
          <a:prstGeom prst="rect">
            <a:avLst/>
          </a:prstGeom>
          <a:noFill/>
        </p:spPr>
        <p:txBody>
          <a:bodyPr wrap="square" rtlCol="0">
            <a:spAutoFit/>
          </a:bodyPr>
          <a:lstStyle/>
          <a:p>
            <a:pPr>
              <a:lnSpc>
                <a:spcPct val="150000"/>
              </a:lnSpc>
            </a:pPr>
            <a:r>
              <a:rPr lang="zh-CN" altLang="en-US" sz="2400">
                <a:latin typeface="微软雅黑" panose="020B0503020204020204" pitchFamily="34" charset="-122"/>
                <a:ea typeface="微软雅黑" panose="020B0503020204020204" pitchFamily="34" charset="-122"/>
              </a:rPr>
              <a:t>服务器需要持续相互通信，要求数据中心内部具备</a:t>
            </a:r>
            <a:r>
              <a:rPr lang="zh-CN" altLang="en-US" sz="2400" b="1">
                <a:latin typeface="微软雅黑" panose="020B0503020204020204" pitchFamily="34" charset="-122"/>
                <a:ea typeface="微软雅黑" panose="020B0503020204020204" pitchFamily="34" charset="-122"/>
              </a:rPr>
              <a:t>高速、高效且可靠</a:t>
            </a:r>
            <a:r>
              <a:rPr lang="zh-CN" altLang="en-US" sz="2400">
                <a:latin typeface="微软雅黑" panose="020B0503020204020204" pitchFamily="34" charset="-122"/>
                <a:ea typeface="微软雅黑" panose="020B0503020204020204" pitchFamily="34" charset="-122"/>
              </a:rPr>
              <a:t>的网络互联能力</a:t>
            </a:r>
          </a:p>
          <a:p>
            <a:pPr>
              <a:lnSpc>
                <a:spcPct val="150000"/>
              </a:lnSpc>
            </a:pPr>
            <a:endParaRPr lang="zh-CN" altLang="en-US" sz="24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43993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1EC8D98-F01D-4299-92D0-FD759A5BBE8A}"/>
              </a:ext>
            </a:extLst>
          </p:cNvPr>
          <p:cNvSpPr txBox="1"/>
          <p:nvPr/>
        </p:nvSpPr>
        <p:spPr>
          <a:xfrm>
            <a:off x="1032933" y="489734"/>
            <a:ext cx="10532533" cy="5386090"/>
          </a:xfrm>
          <a:prstGeom prst="rect">
            <a:avLst/>
          </a:prstGeom>
          <a:noFill/>
        </p:spPr>
        <p:txBody>
          <a:bodyPr wrap="square" rtlCol="0">
            <a:spAutoFit/>
          </a:bodyPr>
          <a:lstStyle/>
          <a:p>
            <a:pPr algn="ctr"/>
            <a:r>
              <a:rPr lang="en-US" altLang="zh-CN" sz="3600" b="1" dirty="0">
                <a:solidFill>
                  <a:srgbClr val="2F5EB0"/>
                </a:solidFill>
                <a:latin typeface="微软雅黑" panose="020B0503020204020204" pitchFamily="34" charset="-122"/>
                <a:ea typeface="微软雅黑" panose="020B0503020204020204" pitchFamily="34" charset="-122"/>
              </a:rPr>
              <a:t>Outline</a:t>
            </a:r>
          </a:p>
          <a:p>
            <a:pPr marL="857250" indent="-857250">
              <a:buFont typeface="+mj-lt"/>
              <a:buAutoNum type="romanUcPeriod"/>
            </a:pPr>
            <a:r>
              <a:rPr lang="en-US" altLang="zh-CN" sz="3600" b="1" dirty="0">
                <a:solidFill>
                  <a:srgbClr val="2F5EB0"/>
                </a:solidFill>
                <a:latin typeface="微软雅黑" panose="020B0503020204020204" pitchFamily="34" charset="-122"/>
                <a:ea typeface="微软雅黑" panose="020B0503020204020204" pitchFamily="34" charset="-122"/>
              </a:rPr>
              <a:t>Introduction</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Data Centers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Traffic Patters in DCs</a:t>
            </a:r>
          </a:p>
          <a:p>
            <a:pPr marL="1028700" lvl="1" indent="-571500">
              <a:buFont typeface="+mj-lt"/>
              <a:buAutoNum type="arabicPeriod"/>
            </a:pPr>
            <a:r>
              <a:rPr lang="en-US" altLang="zh-CN" sz="3200" b="1" dirty="0">
                <a:solidFill>
                  <a:srgbClr val="2F5EB0"/>
                </a:solidFill>
                <a:latin typeface="微软雅黑" panose="020B0503020204020204" pitchFamily="34" charset="-122"/>
                <a:ea typeface="微软雅黑" panose="020B0503020204020204" pitchFamily="34" charset="-122"/>
              </a:rPr>
              <a:t>DC Architectures​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​​Supplement: Fundamental Concepts </a:t>
            </a:r>
          </a:p>
          <a:p>
            <a:pPr marL="571500" indent="-57150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dirty="0">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6560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551EC-22B7-EAED-6A68-DCF1CFED9CF0}"/>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8E551346-FC67-AAAD-0014-669E6D749EA2}"/>
              </a:ext>
            </a:extLst>
          </p:cNvPr>
          <p:cNvSpPr>
            <a:spLocks noChangeArrowheads="1"/>
          </p:cNvSpPr>
          <p:nvPr/>
        </p:nvSpPr>
        <p:spPr bwMode="auto">
          <a:xfrm>
            <a:off x="309411" y="0"/>
            <a:ext cx="9339413"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549CB33B-2119-8A3A-280D-2DFF06FA5EEE}"/>
              </a:ext>
            </a:extLst>
          </p:cNvPr>
          <p:cNvSpPr txBox="1"/>
          <p:nvPr/>
        </p:nvSpPr>
        <p:spPr>
          <a:xfrm>
            <a:off x="362489" y="1561349"/>
            <a:ext cx="4351996" cy="1704441"/>
          </a:xfrm>
          <a:prstGeom prst="rect">
            <a:avLst/>
          </a:prstGeom>
          <a:noFill/>
        </p:spPr>
        <p:txBody>
          <a:bodyPr wrap="square" rtlCol="0">
            <a:spAutoFit/>
          </a:bodyPr>
          <a:lstStyle/>
          <a:p>
            <a:pPr marL="285750"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例如：</a:t>
            </a:r>
            <a:r>
              <a:rPr lang="en-US" altLang="zh-CN" sz="2400">
                <a:latin typeface="微软雅黑" panose="020B0503020204020204" pitchFamily="34" charset="-122"/>
                <a:ea typeface="微软雅黑" panose="020B0503020204020204" pitchFamily="34" charset="-122"/>
              </a:rPr>
              <a:t>InfiniBand</a:t>
            </a:r>
            <a:r>
              <a:rPr lang="zh-CN" altLang="en-US" sz="2400">
                <a:latin typeface="微软雅黑" panose="020B0503020204020204" pitchFamily="34" charset="-122"/>
                <a:ea typeface="微软雅黑" panose="020B0503020204020204" pitchFamily="34" charset="-122"/>
              </a:rPr>
              <a:t>、</a:t>
            </a:r>
            <a:r>
              <a:rPr lang="en-US" altLang="zh-CN" sz="2400" err="1">
                <a:latin typeface="微软雅黑" panose="020B0503020204020204" pitchFamily="34" charset="-122"/>
                <a:ea typeface="微软雅黑" panose="020B0503020204020204" pitchFamily="34" charset="-122"/>
              </a:rPr>
              <a:t>Myrinet</a:t>
            </a:r>
            <a:endParaRPr lang="en-US" altLang="zh-CN" sz="240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不采用商用硬件组件，</a:t>
            </a:r>
            <a:r>
              <a:rPr lang="zh-CN" altLang="en-US" sz="2400" b="1">
                <a:latin typeface="微软雅黑" panose="020B0503020204020204" pitchFamily="34" charset="-122"/>
                <a:ea typeface="微软雅黑" panose="020B0503020204020204" pitchFamily="34" charset="-122"/>
              </a:rPr>
              <a:t>成本高昂</a:t>
            </a:r>
          </a:p>
          <a:p>
            <a:pPr marL="285750"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与</a:t>
            </a:r>
            <a:r>
              <a:rPr lang="en-US" altLang="zh-CN" sz="2400">
                <a:latin typeface="微软雅黑" panose="020B0503020204020204" pitchFamily="34" charset="-122"/>
                <a:ea typeface="微软雅黑" panose="020B0503020204020204" pitchFamily="34" charset="-122"/>
              </a:rPr>
              <a:t>TCP/IP</a:t>
            </a:r>
            <a:r>
              <a:rPr lang="zh-CN" altLang="en-US" sz="2400">
                <a:latin typeface="微软雅黑" panose="020B0503020204020204" pitchFamily="34" charset="-122"/>
                <a:ea typeface="微软雅黑" panose="020B0503020204020204" pitchFamily="34" charset="-122"/>
              </a:rPr>
              <a:t>应用不兼容</a:t>
            </a:r>
          </a:p>
        </p:txBody>
      </p:sp>
      <p:sp>
        <p:nvSpPr>
          <p:cNvPr id="6" name="文本框 5">
            <a:extLst>
              <a:ext uri="{FF2B5EF4-FFF2-40B4-BE49-F238E27FC236}">
                <a16:creationId xmlns:a16="http://schemas.microsoft.com/office/drawing/2014/main" id="{5DD8CA2B-BA4D-98FD-2C6B-0DEC68457AAD}"/>
              </a:ext>
            </a:extLst>
          </p:cNvPr>
          <p:cNvSpPr txBox="1"/>
          <p:nvPr/>
        </p:nvSpPr>
        <p:spPr>
          <a:xfrm>
            <a:off x="309411" y="1038129"/>
            <a:ext cx="6574926"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方案一：专用硬件与协议</a:t>
            </a:r>
            <a:endParaRPr lang="zh-CN" altLang="en-US" sz="2400" b="1"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D7ACF9D6-CDAA-E4FD-B302-C6018BCE227F}"/>
              </a:ext>
            </a:extLst>
          </p:cNvPr>
          <p:cNvSpPr txBox="1"/>
          <p:nvPr/>
        </p:nvSpPr>
        <p:spPr>
          <a:xfrm>
            <a:off x="548477" y="3937475"/>
            <a:ext cx="9100347"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本文研究场景：方案二</a:t>
            </a:r>
            <a:endParaRPr lang="zh-CN" altLang="en-US" sz="2400" b="1" dirty="0">
              <a:latin typeface="微软雅黑" panose="020B0503020204020204" pitchFamily="34" charset="-122"/>
              <a:ea typeface="微软雅黑" panose="020B0503020204020204" pitchFamily="34" charset="-122"/>
            </a:endParaRPr>
          </a:p>
        </p:txBody>
      </p:sp>
      <p:sp>
        <p:nvSpPr>
          <p:cNvPr id="3" name="圆角矩形 1">
            <a:extLst>
              <a:ext uri="{FF2B5EF4-FFF2-40B4-BE49-F238E27FC236}">
                <a16:creationId xmlns:a16="http://schemas.microsoft.com/office/drawing/2014/main" id="{E1994D42-5583-C102-5DFE-B6BDCADD0B4E}"/>
              </a:ext>
            </a:extLst>
          </p:cNvPr>
          <p:cNvSpPr>
            <a:spLocks noChangeArrowheads="1"/>
          </p:cNvSpPr>
          <p:nvPr/>
        </p:nvSpPr>
        <p:spPr bwMode="auto">
          <a:xfrm>
            <a:off x="230173" y="1003980"/>
            <a:ext cx="4443428" cy="2521613"/>
          </a:xfrm>
          <a:prstGeom prst="roundRect">
            <a:avLst>
              <a:gd name="adj" fmla="val 6977"/>
            </a:avLst>
          </a:prstGeom>
          <a:noFill/>
          <a:ln w="25400" cap="flat" cmpd="sng">
            <a:solidFill>
              <a:schemeClr val="accent1">
                <a:lumMod val="75000"/>
              </a:schemeClr>
            </a:solidFill>
            <a:prstDash val="dash"/>
            <a:beve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4" name="圆角矩形 1">
            <a:extLst>
              <a:ext uri="{FF2B5EF4-FFF2-40B4-BE49-F238E27FC236}">
                <a16:creationId xmlns:a16="http://schemas.microsoft.com/office/drawing/2014/main" id="{88DDFB0A-CEBA-379C-B03E-7D96514720B8}"/>
              </a:ext>
            </a:extLst>
          </p:cNvPr>
          <p:cNvSpPr>
            <a:spLocks noChangeArrowheads="1"/>
          </p:cNvSpPr>
          <p:nvPr/>
        </p:nvSpPr>
        <p:spPr bwMode="auto">
          <a:xfrm>
            <a:off x="230171" y="3776565"/>
            <a:ext cx="11714179" cy="2590368"/>
          </a:xfrm>
          <a:prstGeom prst="roundRect">
            <a:avLst>
              <a:gd name="adj" fmla="val 6977"/>
            </a:avLst>
          </a:prstGeom>
          <a:noFill/>
          <a:ln w="28575" cap="flat" cmpd="sng">
            <a:solidFill>
              <a:schemeClr val="accent4">
                <a:lumMod val="75000"/>
              </a:schemeClr>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Rectangle 2">
            <a:extLst>
              <a:ext uri="{FF2B5EF4-FFF2-40B4-BE49-F238E27FC236}">
                <a16:creationId xmlns:a16="http://schemas.microsoft.com/office/drawing/2014/main" id="{1F94ACEB-81DB-656E-FE23-DE512B301BFC}"/>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DC Architectures​</a:t>
            </a:r>
          </a:p>
        </p:txBody>
      </p:sp>
      <p:sp>
        <p:nvSpPr>
          <p:cNvPr id="16" name="文本框 15">
            <a:extLst>
              <a:ext uri="{FF2B5EF4-FFF2-40B4-BE49-F238E27FC236}">
                <a16:creationId xmlns:a16="http://schemas.microsoft.com/office/drawing/2014/main" id="{3B4068D5-D78D-6EB5-84E6-247E268CD45B}"/>
              </a:ext>
            </a:extLst>
          </p:cNvPr>
          <p:cNvSpPr txBox="1"/>
          <p:nvPr/>
        </p:nvSpPr>
        <p:spPr>
          <a:xfrm>
            <a:off x="548476" y="4431065"/>
            <a:ext cx="11390391" cy="1896801"/>
          </a:xfrm>
          <a:prstGeom prst="rect">
            <a:avLst/>
          </a:prstGeom>
          <a:noFill/>
        </p:spPr>
        <p:txBody>
          <a:bodyPr wrap="square" rtlCol="0">
            <a:spAutoFit/>
          </a:bodyPr>
          <a:lstStyle/>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出于兼容性和成本考量，大多数集群通信系统采用第二种方案。</a:t>
            </a:r>
          </a:p>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然而在大型集群中，通信带宽可能因通信模式的影响出现显著超额订阅（</a:t>
            </a:r>
            <a:r>
              <a:rPr lang="en-US" altLang="zh-CN" sz="2400" dirty="0">
                <a:latin typeface="微软雅黑" panose="020B0503020204020204" pitchFamily="34" charset="-122"/>
                <a:ea typeface="微软雅黑" panose="020B0503020204020204" pitchFamily="34" charset="-122"/>
              </a:rPr>
              <a:t>oversubscription</a:t>
            </a:r>
            <a:r>
              <a:rPr lang="zh-CN" altLang="en-US" sz="2400" dirty="0">
                <a:latin typeface="微软雅黑" panose="020B0503020204020204" pitchFamily="34" charset="-122"/>
                <a:ea typeface="微软雅黑" panose="020B0503020204020204" pitchFamily="34" charset="-122"/>
              </a:rPr>
              <a:t>）现象。</a:t>
            </a:r>
          </a:p>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如何通过商用解决方案应对这些瓶颈？例如采用</a:t>
            </a:r>
            <a:r>
              <a:rPr lang="en-US" altLang="zh-CN" sz="2400" dirty="0">
                <a:latin typeface="微软雅黑" panose="020B0503020204020204" pitchFamily="34" charset="-122"/>
                <a:ea typeface="微软雅黑" panose="020B0503020204020204" pitchFamily="34" charset="-122"/>
              </a:rPr>
              <a:t>10Gbps</a:t>
            </a:r>
            <a:r>
              <a:rPr lang="zh-CN" altLang="en-US" sz="2400" dirty="0">
                <a:latin typeface="微软雅黑" panose="020B0503020204020204" pitchFamily="34" charset="-122"/>
                <a:ea typeface="微软雅黑" panose="020B0503020204020204" pitchFamily="34" charset="-122"/>
              </a:rPr>
              <a:t>交换机与路由器？</a:t>
            </a:r>
          </a:p>
        </p:txBody>
      </p:sp>
      <p:sp>
        <p:nvSpPr>
          <p:cNvPr id="13" name="文本框 12">
            <a:extLst>
              <a:ext uri="{FF2B5EF4-FFF2-40B4-BE49-F238E27FC236}">
                <a16:creationId xmlns:a16="http://schemas.microsoft.com/office/drawing/2014/main" id="{AECC5D52-C308-59E9-409D-ADABBBB46F4F}"/>
              </a:ext>
            </a:extLst>
          </p:cNvPr>
          <p:cNvSpPr txBox="1"/>
          <p:nvPr/>
        </p:nvSpPr>
        <p:spPr>
          <a:xfrm>
            <a:off x="5039837" y="994582"/>
            <a:ext cx="6842752" cy="954107"/>
          </a:xfrm>
          <a:prstGeom prst="rect">
            <a:avLst/>
          </a:prstGeom>
          <a:noFill/>
        </p:spPr>
        <p:txBody>
          <a:bodyPr wrap="square" rtlCol="0">
            <a:spAutoFit/>
          </a:bodyPr>
          <a:lstStyle/>
          <a:p>
            <a:r>
              <a:rPr lang="zh-CN" altLang="en-US" sz="2800" b="1">
                <a:latin typeface="微软雅黑" panose="020B0503020204020204" pitchFamily="34" charset="-122"/>
                <a:ea typeface="微软雅黑" panose="020B0503020204020204" pitchFamily="34" charset="-122"/>
              </a:rPr>
              <a:t>方案二：采用商用以太网交换机与路由器互联集群机器</a:t>
            </a:r>
            <a:endParaRPr lang="zh-CN" altLang="en-US" sz="2400" b="1">
              <a:latin typeface="微软雅黑" panose="020B0503020204020204" pitchFamily="34" charset="-122"/>
              <a:ea typeface="微软雅黑" panose="020B0503020204020204" pitchFamily="34" charset="-122"/>
            </a:endParaRPr>
          </a:p>
        </p:txBody>
      </p:sp>
      <p:sp>
        <p:nvSpPr>
          <p:cNvPr id="14" name="圆角矩形 1">
            <a:extLst>
              <a:ext uri="{FF2B5EF4-FFF2-40B4-BE49-F238E27FC236}">
                <a16:creationId xmlns:a16="http://schemas.microsoft.com/office/drawing/2014/main" id="{7D216961-1334-09CD-0C6A-F1DD3CD5CEBD}"/>
              </a:ext>
            </a:extLst>
          </p:cNvPr>
          <p:cNvSpPr>
            <a:spLocks noChangeArrowheads="1"/>
          </p:cNvSpPr>
          <p:nvPr/>
        </p:nvSpPr>
        <p:spPr bwMode="auto">
          <a:xfrm>
            <a:off x="4938233" y="1003980"/>
            <a:ext cx="7000635" cy="2521613"/>
          </a:xfrm>
          <a:prstGeom prst="roundRect">
            <a:avLst>
              <a:gd name="adj" fmla="val 6977"/>
            </a:avLst>
          </a:prstGeom>
          <a:noFill/>
          <a:ln w="28575" cap="flat" cmpd="sng">
            <a:solidFill>
              <a:srgbClr val="F26849"/>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8" name="文本框 17">
            <a:extLst>
              <a:ext uri="{FF2B5EF4-FFF2-40B4-BE49-F238E27FC236}">
                <a16:creationId xmlns:a16="http://schemas.microsoft.com/office/drawing/2014/main" id="{5536517D-DFAB-326D-6B89-15109A3385AF}"/>
              </a:ext>
            </a:extLst>
          </p:cNvPr>
          <p:cNvSpPr txBox="1"/>
          <p:nvPr/>
        </p:nvSpPr>
        <p:spPr>
          <a:xfrm>
            <a:off x="4979117" y="1862103"/>
            <a:ext cx="6872608" cy="1608261"/>
          </a:xfrm>
          <a:prstGeom prst="rect">
            <a:avLst/>
          </a:prstGeom>
          <a:noFill/>
        </p:spPr>
        <p:txBody>
          <a:bodyPr wrap="square" rtlCol="0">
            <a:spAutoFit/>
          </a:bodyPr>
          <a:lstStyle/>
          <a:p>
            <a:pPr marL="285750"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无需修改应用程序、操作系统及硬件</a:t>
            </a:r>
          </a:p>
          <a:p>
            <a:pPr marL="285750"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但存在明显缺陷：集群总带宽随规模扩展的</a:t>
            </a:r>
            <a:r>
              <a:rPr lang="zh-CN" altLang="en-US" sz="2400" b="1">
                <a:latin typeface="微软雅黑" panose="020B0503020204020204" pitchFamily="34" charset="-122"/>
                <a:ea typeface="微软雅黑" panose="020B0503020204020204" pitchFamily="34" charset="-122"/>
              </a:rPr>
              <a:t>效果差</a:t>
            </a:r>
            <a:r>
              <a:rPr lang="zh-CN" altLang="en-US" sz="2400">
                <a:latin typeface="微软雅黑" panose="020B0503020204020204" pitchFamily="34" charset="-122"/>
                <a:ea typeface="微软雅黑" panose="020B0503020204020204" pitchFamily="34" charset="-122"/>
              </a:rPr>
              <a:t>，且要达到最高带宽级别时，成本会随集群规模呈现非线性增长</a:t>
            </a:r>
          </a:p>
        </p:txBody>
      </p:sp>
    </p:spTree>
    <p:extLst>
      <p:ext uri="{BB962C8B-B14F-4D97-AF65-F5344CB8AC3E}">
        <p14:creationId xmlns:p14="http://schemas.microsoft.com/office/powerpoint/2010/main" val="369665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ChangeArrowheads="1"/>
          </p:cNvSpPr>
          <p:nvPr/>
        </p:nvSpPr>
        <p:spPr bwMode="auto">
          <a:xfrm>
            <a:off x="309411" y="0"/>
            <a:ext cx="9339413"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4" name="圆角矩形 1"/>
          <p:cNvSpPr>
            <a:spLocks noChangeArrowheads="1"/>
          </p:cNvSpPr>
          <p:nvPr/>
        </p:nvSpPr>
        <p:spPr bwMode="auto">
          <a:xfrm>
            <a:off x="230171" y="997527"/>
            <a:ext cx="11714179" cy="5369406"/>
          </a:xfrm>
          <a:prstGeom prst="roundRect">
            <a:avLst>
              <a:gd name="adj" fmla="val 6977"/>
            </a:avLst>
          </a:prstGeom>
          <a:noFill/>
          <a:ln w="28575" cap="flat" cmpd="sng">
            <a:solidFill>
              <a:schemeClr val="accent4">
                <a:lumMod val="75000"/>
              </a:schemeClr>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Rectangle 2">
            <a:extLst>
              <a:ext uri="{FF2B5EF4-FFF2-40B4-BE49-F238E27FC236}">
                <a16:creationId xmlns:a16="http://schemas.microsoft.com/office/drawing/2014/main" id="{EE658DD0-6EE5-4E6F-9941-D02DD9DD4980}"/>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DC Architectures​</a:t>
            </a:r>
          </a:p>
        </p:txBody>
      </p:sp>
      <p:sp>
        <p:nvSpPr>
          <p:cNvPr id="5" name="文本框 4">
            <a:extLst>
              <a:ext uri="{FF2B5EF4-FFF2-40B4-BE49-F238E27FC236}">
                <a16:creationId xmlns:a16="http://schemas.microsoft.com/office/drawing/2014/main" id="{BBE4962A-EEA6-B9F5-A996-656F84A5AB0A}"/>
              </a:ext>
            </a:extLst>
          </p:cNvPr>
          <p:cNvSpPr txBox="1"/>
          <p:nvPr/>
        </p:nvSpPr>
        <p:spPr>
          <a:xfrm>
            <a:off x="428943" y="1111148"/>
            <a:ext cx="9100347"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IB</a:t>
            </a:r>
            <a:r>
              <a:rPr lang="zh-CN" altLang="en-US" sz="2800" b="1" dirty="0">
                <a:latin typeface="微软雅黑" panose="020B0503020204020204" pitchFamily="34" charset="-122"/>
                <a:ea typeface="微软雅黑" panose="020B0503020204020204" pitchFamily="34" charset="-122"/>
              </a:rPr>
              <a:t>网络和以太网的区别在哪？</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7" name="表格 6">
            <a:extLst>
              <a:ext uri="{FF2B5EF4-FFF2-40B4-BE49-F238E27FC236}">
                <a16:creationId xmlns:a16="http://schemas.microsoft.com/office/drawing/2014/main" id="{1F58110C-A94A-7B48-5788-304125CF17D9}"/>
              </a:ext>
            </a:extLst>
          </p:cNvPr>
          <p:cNvGraphicFramePr>
            <a:graphicFrameLocks noGrp="1"/>
          </p:cNvGraphicFramePr>
          <p:nvPr>
            <p:extLst>
              <p:ext uri="{D42A27DB-BD31-4B8C-83A1-F6EECF244321}">
                <p14:modId xmlns:p14="http://schemas.microsoft.com/office/powerpoint/2010/main" val="4127886317"/>
              </p:ext>
            </p:extLst>
          </p:nvPr>
        </p:nvGraphicFramePr>
        <p:xfrm>
          <a:off x="350319" y="1688670"/>
          <a:ext cx="11516100" cy="4400403"/>
        </p:xfrm>
        <a:graphic>
          <a:graphicData uri="http://schemas.openxmlformats.org/drawingml/2006/table">
            <a:tbl>
              <a:tblPr>
                <a:tableStyleId>{00A15C55-8517-42AA-B614-E9B94910E393}</a:tableStyleId>
              </a:tblPr>
              <a:tblGrid>
                <a:gridCol w="2694217">
                  <a:extLst>
                    <a:ext uri="{9D8B030D-6E8A-4147-A177-3AD203B41FA5}">
                      <a16:colId xmlns:a16="http://schemas.microsoft.com/office/drawing/2014/main" val="2316840463"/>
                    </a:ext>
                  </a:extLst>
                </a:gridCol>
                <a:gridCol w="4831773">
                  <a:extLst>
                    <a:ext uri="{9D8B030D-6E8A-4147-A177-3AD203B41FA5}">
                      <a16:colId xmlns:a16="http://schemas.microsoft.com/office/drawing/2014/main" val="3194632876"/>
                    </a:ext>
                  </a:extLst>
                </a:gridCol>
                <a:gridCol w="3990110">
                  <a:extLst>
                    <a:ext uri="{9D8B030D-6E8A-4147-A177-3AD203B41FA5}">
                      <a16:colId xmlns:a16="http://schemas.microsoft.com/office/drawing/2014/main" val="29198389"/>
                    </a:ext>
                  </a:extLst>
                </a:gridCol>
              </a:tblGrid>
              <a:tr h="451323">
                <a:tc>
                  <a:txBody>
                    <a:bodyPr/>
                    <a:lstStyle/>
                    <a:p>
                      <a:pPr algn="just">
                        <a:buNone/>
                      </a:pPr>
                      <a:r>
                        <a:rPr lang="zh-CN" altLang="en-US" dirty="0"/>
                        <a:t>特性</a:t>
                      </a:r>
                    </a:p>
                  </a:txBody>
                  <a:tcPr anchor="ctr">
                    <a:solidFill>
                      <a:schemeClr val="accent4">
                        <a:lumMod val="40000"/>
                        <a:lumOff val="60000"/>
                      </a:schemeClr>
                    </a:solidFill>
                  </a:tcPr>
                </a:tc>
                <a:tc>
                  <a:txBody>
                    <a:bodyPr/>
                    <a:lstStyle/>
                    <a:p>
                      <a:pPr algn="just">
                        <a:buNone/>
                      </a:pPr>
                      <a:r>
                        <a:rPr lang="en-US" dirty="0"/>
                        <a:t>InfiniBand (IB)</a:t>
                      </a:r>
                    </a:p>
                  </a:txBody>
                  <a:tcPr anchor="ctr">
                    <a:solidFill>
                      <a:schemeClr val="accent4">
                        <a:lumMod val="40000"/>
                        <a:lumOff val="60000"/>
                      </a:schemeClr>
                    </a:solidFill>
                  </a:tcPr>
                </a:tc>
                <a:tc>
                  <a:txBody>
                    <a:bodyPr/>
                    <a:lstStyle/>
                    <a:p>
                      <a:pPr algn="just">
                        <a:buNone/>
                      </a:pPr>
                      <a:r>
                        <a:rPr lang="zh-CN" altLang="en-US" dirty="0"/>
                        <a:t>以太网 </a:t>
                      </a:r>
                      <a:r>
                        <a:rPr lang="en-US" altLang="zh-CN" dirty="0"/>
                        <a:t>(</a:t>
                      </a:r>
                      <a:r>
                        <a:rPr lang="en-US" dirty="0"/>
                        <a:t>Ethernet)</a:t>
                      </a:r>
                    </a:p>
                  </a:txBody>
                  <a:tcPr anchor="ctr">
                    <a:solidFill>
                      <a:schemeClr val="accent4">
                        <a:lumMod val="40000"/>
                        <a:lumOff val="60000"/>
                      </a:schemeClr>
                    </a:solidFill>
                  </a:tcPr>
                </a:tc>
                <a:extLst>
                  <a:ext uri="{0D108BD9-81ED-4DB2-BD59-A6C34878D82A}">
                    <a16:rowId xmlns:a16="http://schemas.microsoft.com/office/drawing/2014/main" val="3149779692"/>
                  </a:ext>
                </a:extLst>
              </a:tr>
              <a:tr h="789816">
                <a:tc>
                  <a:txBody>
                    <a:bodyPr/>
                    <a:lstStyle/>
                    <a:p>
                      <a:pPr algn="just">
                        <a:buNone/>
                      </a:pPr>
                      <a:r>
                        <a:rPr lang="zh-CN" altLang="en-US" b="1"/>
                        <a:t>设计目标</a:t>
                      </a:r>
                      <a:endParaRPr lang="zh-CN" altLang="en-US"/>
                    </a:p>
                  </a:txBody>
                  <a:tcPr anchor="ctr"/>
                </a:tc>
                <a:tc>
                  <a:txBody>
                    <a:bodyPr/>
                    <a:lstStyle/>
                    <a:p>
                      <a:pPr algn="just">
                        <a:buNone/>
                      </a:pPr>
                      <a:r>
                        <a:rPr lang="zh-CN" altLang="en-US"/>
                        <a:t>为高性能计算（</a:t>
                      </a:r>
                      <a:r>
                        <a:rPr lang="en-US" altLang="zh-CN"/>
                        <a:t>HPC</a:t>
                      </a:r>
                      <a:r>
                        <a:rPr lang="zh-CN" altLang="en-US"/>
                        <a:t>）设计，注重超低延迟和高带宽 。</a:t>
                      </a:r>
                    </a:p>
                  </a:txBody>
                  <a:tcPr anchor="ctr"/>
                </a:tc>
                <a:tc>
                  <a:txBody>
                    <a:bodyPr/>
                    <a:lstStyle/>
                    <a:p>
                      <a:pPr algn="just">
                        <a:buNone/>
                      </a:pPr>
                      <a:r>
                        <a:rPr lang="zh-CN" altLang="en-US" dirty="0"/>
                        <a:t>为通用数据通信设计，注重普适性、兼容性和成本效益 。</a:t>
                      </a:r>
                    </a:p>
                  </a:txBody>
                  <a:tcPr anchor="ctr"/>
                </a:tc>
                <a:extLst>
                  <a:ext uri="{0D108BD9-81ED-4DB2-BD59-A6C34878D82A}">
                    <a16:rowId xmlns:a16="http://schemas.microsoft.com/office/drawing/2014/main" val="947964548"/>
                  </a:ext>
                </a:extLst>
              </a:tr>
              <a:tr h="789816">
                <a:tc>
                  <a:txBody>
                    <a:bodyPr/>
                    <a:lstStyle/>
                    <a:p>
                      <a:pPr algn="just">
                        <a:buNone/>
                      </a:pPr>
                      <a:r>
                        <a:rPr lang="zh-CN" altLang="en-US" b="1" dirty="0"/>
                        <a:t>核心技术</a:t>
                      </a:r>
                      <a:endParaRPr lang="zh-CN" altLang="en-US" dirty="0"/>
                    </a:p>
                  </a:txBody>
                  <a:tcPr anchor="ctr"/>
                </a:tc>
                <a:tc>
                  <a:txBody>
                    <a:bodyPr/>
                    <a:lstStyle/>
                    <a:p>
                      <a:pPr algn="just">
                        <a:buNone/>
                      </a:pPr>
                      <a:r>
                        <a:rPr lang="zh-CN" altLang="en-US"/>
                        <a:t>基于通道（</a:t>
                      </a:r>
                      <a:r>
                        <a:rPr lang="en-US"/>
                        <a:t>Channel-based）</a:t>
                      </a:r>
                      <a:r>
                        <a:rPr lang="zh-CN" altLang="en-US"/>
                        <a:t>的点对点交换网络。</a:t>
                      </a:r>
                    </a:p>
                  </a:txBody>
                  <a:tcPr anchor="ctr"/>
                </a:tc>
                <a:tc>
                  <a:txBody>
                    <a:bodyPr/>
                    <a:lstStyle/>
                    <a:p>
                      <a:pPr algn="just">
                        <a:buNone/>
                      </a:pPr>
                      <a:r>
                        <a:rPr lang="zh-CN" altLang="en-US"/>
                        <a:t>基于数据包（</a:t>
                      </a:r>
                      <a:r>
                        <a:rPr lang="en-US"/>
                        <a:t>Packet-based）</a:t>
                      </a:r>
                      <a:r>
                        <a:rPr lang="zh-CN" altLang="en-US"/>
                        <a:t>的共享介质或交换网络。</a:t>
                      </a:r>
                    </a:p>
                  </a:txBody>
                  <a:tcPr anchor="ctr"/>
                </a:tc>
                <a:extLst>
                  <a:ext uri="{0D108BD9-81ED-4DB2-BD59-A6C34878D82A}">
                    <a16:rowId xmlns:a16="http://schemas.microsoft.com/office/drawing/2014/main" val="1384843048"/>
                  </a:ext>
                </a:extLst>
              </a:tr>
              <a:tr h="789816">
                <a:tc>
                  <a:txBody>
                    <a:bodyPr/>
                    <a:lstStyle/>
                    <a:p>
                      <a:pPr algn="just">
                        <a:buNone/>
                      </a:pPr>
                      <a:r>
                        <a:rPr lang="zh-CN" altLang="en-US" b="1" dirty="0"/>
                        <a:t>性能</a:t>
                      </a:r>
                      <a:endParaRPr lang="zh-CN" altLang="en-US" dirty="0"/>
                    </a:p>
                  </a:txBody>
                  <a:tcPr anchor="ctr"/>
                </a:tc>
                <a:tc>
                  <a:txBody>
                    <a:bodyPr/>
                    <a:lstStyle/>
                    <a:p>
                      <a:pPr algn="just">
                        <a:buNone/>
                      </a:pPr>
                      <a:r>
                        <a:rPr lang="zh-CN" altLang="en-US" b="1"/>
                        <a:t>延迟极低</a:t>
                      </a:r>
                      <a:r>
                        <a:rPr lang="zh-CN" altLang="en-US"/>
                        <a:t>：通常在亚微秒（</a:t>
                      </a:r>
                      <a:r>
                        <a:rPr lang="en-US"/>
                        <a:t>sub-microsecond）</a:t>
                      </a:r>
                      <a:r>
                        <a:rPr lang="zh-CN" altLang="en-US"/>
                        <a:t>级别。</a:t>
                      </a:r>
                    </a:p>
                  </a:txBody>
                  <a:tcPr anchor="ctr"/>
                </a:tc>
                <a:tc>
                  <a:txBody>
                    <a:bodyPr/>
                    <a:lstStyle/>
                    <a:p>
                      <a:pPr algn="just">
                        <a:buNone/>
                      </a:pPr>
                      <a:r>
                        <a:rPr lang="zh-CN" altLang="en-US" b="1" dirty="0"/>
                        <a:t>延迟相对较高</a:t>
                      </a:r>
                      <a:r>
                        <a:rPr lang="zh-CN" altLang="en-US" dirty="0"/>
                        <a:t>：通常在几微秒到几十微秒级别</a:t>
                      </a:r>
                    </a:p>
                  </a:txBody>
                  <a:tcPr anchor="ctr"/>
                </a:tc>
                <a:extLst>
                  <a:ext uri="{0D108BD9-81ED-4DB2-BD59-A6C34878D82A}">
                    <a16:rowId xmlns:a16="http://schemas.microsoft.com/office/drawing/2014/main" val="3603691661"/>
                  </a:ext>
                </a:extLst>
              </a:tr>
              <a:tr h="789816">
                <a:tc>
                  <a:txBody>
                    <a:bodyPr/>
                    <a:lstStyle/>
                    <a:p>
                      <a:pPr algn="just">
                        <a:buNone/>
                      </a:pPr>
                      <a:r>
                        <a:rPr lang="zh-CN" altLang="en-US" b="1" dirty="0"/>
                        <a:t>成本</a:t>
                      </a:r>
                      <a:endParaRPr lang="zh-CN" altLang="en-US" dirty="0"/>
                    </a:p>
                  </a:txBody>
                  <a:tcPr anchor="ctr"/>
                </a:tc>
                <a:tc>
                  <a:txBody>
                    <a:bodyPr/>
                    <a:lstStyle/>
                    <a:p>
                      <a:pPr algn="just">
                        <a:buNone/>
                      </a:pPr>
                      <a:r>
                        <a:rPr lang="zh-CN" altLang="en-US" dirty="0"/>
                        <a:t>硬件（交换机、网卡）通常比以太网更昂贵，因为它不采用商用部件</a:t>
                      </a:r>
                    </a:p>
                  </a:txBody>
                  <a:tcPr anchor="ctr"/>
                </a:tc>
                <a:tc>
                  <a:txBody>
                    <a:bodyPr/>
                    <a:lstStyle/>
                    <a:p>
                      <a:pPr algn="just">
                        <a:buNone/>
                      </a:pPr>
                      <a:r>
                        <a:rPr lang="zh-CN" altLang="en-US" dirty="0"/>
                        <a:t>受益于巨大的市场规模和充分的竞争，是成本效益最高的网络技术 </a:t>
                      </a:r>
                    </a:p>
                  </a:txBody>
                  <a:tcPr anchor="ctr"/>
                </a:tc>
                <a:extLst>
                  <a:ext uri="{0D108BD9-81ED-4DB2-BD59-A6C34878D82A}">
                    <a16:rowId xmlns:a16="http://schemas.microsoft.com/office/drawing/2014/main" val="769820569"/>
                  </a:ext>
                </a:extLst>
              </a:tr>
              <a:tr h="789816">
                <a:tc>
                  <a:txBody>
                    <a:bodyPr/>
                    <a:lstStyle/>
                    <a:p>
                      <a:pPr algn="just">
                        <a:buNone/>
                      </a:pPr>
                      <a:r>
                        <a:rPr lang="zh-CN" altLang="en-US" b="1" dirty="0"/>
                        <a:t>拓扑结构</a:t>
                      </a:r>
                      <a:endParaRPr lang="zh-CN" altLang="en-US" dirty="0"/>
                    </a:p>
                  </a:txBody>
                  <a:tcPr anchor="ctr"/>
                </a:tc>
                <a:tc>
                  <a:txBody>
                    <a:bodyPr/>
                    <a:lstStyle/>
                    <a:p>
                      <a:pPr algn="just">
                        <a:buNone/>
                      </a:pPr>
                      <a:r>
                        <a:rPr lang="zh-CN" altLang="en-US"/>
                        <a:t>常采用胖树（</a:t>
                      </a:r>
                      <a:r>
                        <a:rPr lang="en-US" altLang="zh-CN"/>
                        <a:t>Fat-Tree</a:t>
                      </a:r>
                      <a:r>
                        <a:rPr lang="zh-CN" altLang="en-US"/>
                        <a:t>）等</a:t>
                      </a:r>
                      <a:r>
                        <a:rPr lang="en-US" altLang="zh-CN"/>
                        <a:t>Clos</a:t>
                      </a:r>
                      <a:r>
                        <a:rPr lang="zh-CN" altLang="en-US"/>
                        <a:t>网络拓扑，以实现可扩展的高带宽 。</a:t>
                      </a:r>
                    </a:p>
                  </a:txBody>
                  <a:tcPr anchor="ctr"/>
                </a:tc>
                <a:tc>
                  <a:txBody>
                    <a:bodyPr/>
                    <a:lstStyle/>
                    <a:p>
                      <a:pPr algn="just">
                        <a:buNone/>
                      </a:pPr>
                      <a:r>
                        <a:rPr lang="zh-CN" altLang="en-US" dirty="0"/>
                        <a:t>拓扑灵活，但传统数据中心多采用分层树状结构 。</a:t>
                      </a:r>
                    </a:p>
                  </a:txBody>
                  <a:tcPr anchor="ctr"/>
                </a:tc>
                <a:extLst>
                  <a:ext uri="{0D108BD9-81ED-4DB2-BD59-A6C34878D82A}">
                    <a16:rowId xmlns:a16="http://schemas.microsoft.com/office/drawing/2014/main" val="716357689"/>
                  </a:ext>
                </a:extLst>
              </a:tr>
            </a:tbl>
          </a:graphicData>
        </a:graphic>
      </p:graphicFrame>
    </p:spTree>
    <p:extLst>
      <p:ext uri="{BB962C8B-B14F-4D97-AF65-F5344CB8AC3E}">
        <p14:creationId xmlns:p14="http://schemas.microsoft.com/office/powerpoint/2010/main" val="2647666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ChangeArrowheads="1"/>
          </p:cNvSpPr>
          <p:nvPr/>
        </p:nvSpPr>
        <p:spPr bwMode="auto">
          <a:xfrm>
            <a:off x="309411" y="0"/>
            <a:ext cx="9339413"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1142999" y="1497296"/>
            <a:ext cx="9100347" cy="523220"/>
          </a:xfrm>
          <a:prstGeom prst="rect">
            <a:avLst/>
          </a:prstGeom>
          <a:noFill/>
        </p:spPr>
        <p:txBody>
          <a:bodyPr wrap="square" rtlCol="0">
            <a:spAutoFit/>
          </a:bodyPr>
          <a:lstStyle/>
          <a:p>
            <a:r>
              <a:rPr lang="zh-CN" altLang="en-US" sz="2800" b="1">
                <a:latin typeface="微软雅黑" panose="020B0503020204020204" pitchFamily="34" charset="-122"/>
                <a:ea typeface="微软雅黑" panose="020B0503020204020204" pitchFamily="34" charset="-122"/>
              </a:rPr>
              <a:t>数据中心网络架构的理想特性</a:t>
            </a:r>
            <a:endParaRPr lang="zh-CN" altLang="en-US" sz="2400" b="1">
              <a:latin typeface="微软雅黑" panose="020B0503020204020204" pitchFamily="34" charset="-122"/>
              <a:ea typeface="微软雅黑" panose="020B0503020204020204" pitchFamily="34" charset="-122"/>
            </a:endParaRPr>
          </a:p>
        </p:txBody>
      </p:sp>
      <p:sp>
        <p:nvSpPr>
          <p:cNvPr id="4" name="圆角矩形 1"/>
          <p:cNvSpPr>
            <a:spLocks noChangeArrowheads="1"/>
          </p:cNvSpPr>
          <p:nvPr/>
        </p:nvSpPr>
        <p:spPr bwMode="auto">
          <a:xfrm>
            <a:off x="728134" y="1320805"/>
            <a:ext cx="10566400" cy="4522860"/>
          </a:xfrm>
          <a:prstGeom prst="roundRect">
            <a:avLst>
              <a:gd name="adj" fmla="val 6977"/>
            </a:avLst>
          </a:prstGeom>
          <a:noFill/>
          <a:ln w="28575" cap="flat" cmpd="sng">
            <a:solidFill>
              <a:schemeClr val="accent4">
                <a:lumMod val="75000"/>
              </a:schemeClr>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Rectangle 2">
            <a:extLst>
              <a:ext uri="{FF2B5EF4-FFF2-40B4-BE49-F238E27FC236}">
                <a16:creationId xmlns:a16="http://schemas.microsoft.com/office/drawing/2014/main" id="{EE658DD0-6EE5-4E6F-9941-D02DD9DD4980}"/>
              </a:ext>
            </a:extLst>
          </p:cNvPr>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DC Architectures​</a:t>
            </a:r>
          </a:p>
        </p:txBody>
      </p:sp>
      <p:sp>
        <p:nvSpPr>
          <p:cNvPr id="16" name="文本框 15">
            <a:extLst>
              <a:ext uri="{FF2B5EF4-FFF2-40B4-BE49-F238E27FC236}">
                <a16:creationId xmlns:a16="http://schemas.microsoft.com/office/drawing/2014/main" id="{11A3AD51-0DF5-4028-BD90-283071900A56}"/>
              </a:ext>
            </a:extLst>
          </p:cNvPr>
          <p:cNvSpPr txBox="1"/>
          <p:nvPr/>
        </p:nvSpPr>
        <p:spPr>
          <a:xfrm>
            <a:off x="1142999" y="2186149"/>
            <a:ext cx="9906001" cy="3351046"/>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可扩展的互联带宽（</a:t>
            </a:r>
            <a:r>
              <a:rPr lang="en-US" altLang="zh-CN" sz="2400">
                <a:latin typeface="微软雅黑" panose="020B0503020204020204" pitchFamily="34" charset="-122"/>
                <a:ea typeface="微软雅黑" panose="020B0503020204020204" pitchFamily="34" charset="-122"/>
              </a:rPr>
              <a:t>Scalable interconnection bandwidth</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任意主机均能以本地网络接口的全带宽能力与其他主机进行通信</a:t>
            </a:r>
          </a:p>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规模经济效益（</a:t>
            </a:r>
            <a:r>
              <a:rPr lang="en-US" altLang="zh-CN" sz="2400">
                <a:latin typeface="微软雅黑" panose="020B0503020204020204" pitchFamily="34" charset="-122"/>
                <a:ea typeface="微软雅黑" panose="020B0503020204020204" pitchFamily="34" charset="-122"/>
              </a:rPr>
              <a:t>Economies of scale</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采用廉价的现成以太网交换机作为大规模数据中心网络的基础架构</a:t>
            </a:r>
          </a:p>
          <a:p>
            <a:pPr marL="285750"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向后兼容性（</a:t>
            </a:r>
            <a:r>
              <a:rPr lang="en-US" altLang="zh-CN" sz="2400">
                <a:latin typeface="微软雅黑" panose="020B0503020204020204" pitchFamily="34" charset="-122"/>
                <a:ea typeface="微软雅黑" panose="020B0503020204020204" pitchFamily="34" charset="-122"/>
              </a:rPr>
              <a:t>Backward compatibility</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整个系统应向后兼容运行以太网和</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协议的主机</a:t>
            </a:r>
          </a:p>
        </p:txBody>
      </p:sp>
    </p:spTree>
    <p:extLst>
      <p:ext uri="{BB962C8B-B14F-4D97-AF65-F5344CB8AC3E}">
        <p14:creationId xmlns:p14="http://schemas.microsoft.com/office/powerpoint/2010/main" val="2928646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C28DA9B-D958-49BD-B4FC-921D70FA2CBA}"/>
              </a:ext>
            </a:extLst>
          </p:cNvPr>
          <p:cNvSpPr txBox="1"/>
          <p:nvPr/>
        </p:nvSpPr>
        <p:spPr>
          <a:xfrm>
            <a:off x="1117600" y="489734"/>
            <a:ext cx="10532533" cy="5386090"/>
          </a:xfrm>
          <a:prstGeom prst="rect">
            <a:avLst/>
          </a:prstGeom>
          <a:noFill/>
        </p:spPr>
        <p:txBody>
          <a:bodyPr wrap="square" rtlCol="0">
            <a:spAutoFit/>
          </a:bodyPr>
          <a:lstStyle/>
          <a:p>
            <a:pPr algn="ctr"/>
            <a:r>
              <a:rPr lang="en-US" altLang="zh-CN" sz="3600" b="1" dirty="0">
                <a:solidFill>
                  <a:srgbClr val="2F5EB0"/>
                </a:solidFill>
                <a:latin typeface="微软雅黑" panose="020B0503020204020204" pitchFamily="34" charset="-122"/>
                <a:ea typeface="微软雅黑" panose="020B0503020204020204" pitchFamily="34" charset="-122"/>
              </a:rPr>
              <a:t>Outline</a:t>
            </a:r>
          </a:p>
          <a:p>
            <a:pPr marL="857250" indent="-857250">
              <a:buFont typeface="+mj-lt"/>
              <a:buAutoNum type="romanUcPeriod"/>
            </a:pPr>
            <a:r>
              <a:rPr lang="en-US" altLang="zh-CN" sz="3600" b="1" dirty="0">
                <a:solidFill>
                  <a:srgbClr val="2F5EB0"/>
                </a:solidFill>
                <a:latin typeface="微软雅黑" panose="020B0503020204020204" pitchFamily="34" charset="-122"/>
                <a:ea typeface="微软雅黑" panose="020B0503020204020204" pitchFamily="34" charset="-122"/>
              </a:rPr>
              <a:t>Introduction</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Introduction to Data Centers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Traffic Patters in DCs</a:t>
            </a:r>
          </a:p>
          <a:p>
            <a:pPr marL="1028700" lvl="1" indent="-571500">
              <a:buFont typeface="+mj-lt"/>
              <a:buAutoNum type="arabi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DC Architectures​</a:t>
            </a:r>
          </a:p>
          <a:p>
            <a:pPr marL="1028700" lvl="1" indent="-571500">
              <a:buFont typeface="+mj-lt"/>
              <a:buAutoNum type="arabicPeriod"/>
            </a:pPr>
            <a:r>
              <a:rPr lang="en-US" altLang="zh-CN" sz="3200" b="1" dirty="0">
                <a:solidFill>
                  <a:srgbClr val="2F5EB0"/>
                </a:solidFill>
                <a:latin typeface="微软雅黑" panose="020B0503020204020204" pitchFamily="34" charset="-122"/>
                <a:ea typeface="微软雅黑" panose="020B0503020204020204" pitchFamily="34" charset="-122"/>
              </a:rPr>
              <a:t>Supplement: Fundamental Concepts</a:t>
            </a:r>
          </a:p>
          <a:p>
            <a:pPr marL="571500" indent="-571500">
              <a:buFont typeface="+mj-lt"/>
              <a:buAutoNum type="romanUcPeriod"/>
            </a:pPr>
            <a:r>
              <a:rPr lang="en-US" altLang="zh-CN" sz="3200" b="1" dirty="0">
                <a:solidFill>
                  <a:schemeClr val="bg2">
                    <a:lumMod val="75000"/>
                  </a:schemeClr>
                </a:solidFill>
                <a:latin typeface="微软雅黑" panose="020B0503020204020204" pitchFamily="34" charset="-122"/>
                <a:ea typeface="微软雅黑" panose="020B0503020204020204" pitchFamily="34" charset="-122"/>
              </a:rPr>
              <a:t>​​</a:t>
            </a: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buFont typeface="+mj-lt"/>
              <a:buAutoNum type="romanUcPeriod"/>
            </a:pPr>
            <a:r>
              <a:rPr lang="en-US" altLang="zh-CN" sz="3600" b="1" dirty="0">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dirty="0">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029518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：本文涉及的基础概念</a:t>
            </a:r>
          </a:p>
        </p:txBody>
      </p:sp>
      <p:sp>
        <p:nvSpPr>
          <p:cNvPr id="26" name="灯片编号占位符 6">
            <a:extLst>
              <a:ext uri="{FF2B5EF4-FFF2-40B4-BE49-F238E27FC236}">
                <a16:creationId xmlns:a16="http://schemas.microsoft.com/office/drawing/2014/main" id="{691C824E-7A93-4A9B-8941-77EEC09CB4C0}"/>
              </a:ext>
            </a:extLst>
          </p:cNvPr>
          <p:cNvSpPr txBox="1">
            <a:spLocks/>
          </p:cNvSpPr>
          <p:nvPr/>
        </p:nvSpPr>
        <p:spPr>
          <a:xfrm>
            <a:off x="7777010" y="6356350"/>
            <a:ext cx="7620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42AED99-7FB4-404E-8A97-64753DCE42EC}" type="slidenum">
              <a:rPr lang="en-US" smtClean="0"/>
              <a:pPr/>
              <a:t>18</a:t>
            </a:fld>
            <a:endParaRPr lang="en-US"/>
          </a:p>
        </p:txBody>
      </p:sp>
      <p:sp>
        <p:nvSpPr>
          <p:cNvPr id="13" name="文本框 2">
            <a:extLst>
              <a:ext uri="{FF2B5EF4-FFF2-40B4-BE49-F238E27FC236}">
                <a16:creationId xmlns:a16="http://schemas.microsoft.com/office/drawing/2014/main" id="{849DB1BC-D8B3-4A86-94CF-04D2CB765F82}"/>
              </a:ext>
            </a:extLst>
          </p:cNvPr>
          <p:cNvSpPr txBox="1"/>
          <p:nvPr/>
        </p:nvSpPr>
        <p:spPr>
          <a:xfrm>
            <a:off x="680642" y="1093850"/>
            <a:ext cx="10681456" cy="501303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交换机</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Switch</a:t>
            </a:r>
            <a:r>
              <a:rPr lang="zh-CN" altLang="en-US" sz="2400">
                <a:latin typeface="微软雅黑" panose="020B0503020204020204" pitchFamily="34" charset="-122"/>
                <a:ea typeface="微软雅黑" panose="020B0503020204020204" pitchFamily="34" charset="-122"/>
              </a:rPr>
              <a:t>）：在数据中心语境下，“交换机”通常指集成第二层交换与第三层路由功能的设备。因其需同时处理局域网内服务器通信与跨子网服务器通信</a:t>
            </a:r>
          </a:p>
          <a:p>
            <a:pPr marL="285750" indent="-285750">
              <a:lnSpc>
                <a:spcPct val="1500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聚合带宽</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​​Aggregate Bandwidth</a:t>
            </a:r>
            <a:r>
              <a:rPr lang="zh-CN" altLang="en-US" sz="2400">
                <a:latin typeface="微软雅黑" panose="020B0503020204020204" pitchFamily="34" charset="-122"/>
                <a:ea typeface="微软雅黑" panose="020B0503020204020204" pitchFamily="34" charset="-122"/>
              </a:rPr>
              <a:t>）：网络中所有连接带宽容量的总和</a:t>
            </a:r>
            <a:endParaRPr lang="en-US" altLang="zh-CN" sz="2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二分带宽</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​​Bisection Bandwidth</a:t>
            </a:r>
            <a:r>
              <a:rPr lang="zh-CN" altLang="en-US" sz="2400">
                <a:latin typeface="微软雅黑" panose="020B0503020204020204" pitchFamily="34" charset="-122"/>
                <a:ea typeface="微软雅黑" panose="020B0503020204020204" pitchFamily="34" charset="-122"/>
              </a:rPr>
              <a:t>）：假设将整个网络划分为两个对等部分，连接这两个部分的全部链路带宽之和即为二分带宽，对应图论中的割概念。该指标用于评估网络的整体通信能力</a:t>
            </a:r>
          </a:p>
          <a:p>
            <a:pPr marL="285750" indent="-285750">
              <a:lnSpc>
                <a:spcPct val="1500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商用硬件</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​​​​Commodity Hardware</a:t>
            </a:r>
            <a:r>
              <a:rPr lang="zh-CN" altLang="en-US" sz="2400">
                <a:latin typeface="微软雅黑" panose="020B0503020204020204" pitchFamily="34" charset="-122"/>
                <a:ea typeface="微软雅黑" panose="020B0503020204020204" pitchFamily="34" charset="-122"/>
              </a:rPr>
              <a:t>）：指广泛可得、成本相对较低且功能标准化的通用硬件设备，区别于专用化、昂贵的高端定制设备</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58140" y="1143972"/>
            <a:ext cx="11552555" cy="5013038"/>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535321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980318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Introduction</a:t>
            </a:r>
            <a:r>
              <a:rPr kumimoji="0" lang="zh-CN" altLang="en-US" sz="32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：本文涉及的基础概念</a:t>
            </a:r>
          </a:p>
        </p:txBody>
      </p:sp>
      <p:sp>
        <p:nvSpPr>
          <p:cNvPr id="13" name="文本框 2">
            <a:extLst>
              <a:ext uri="{FF2B5EF4-FFF2-40B4-BE49-F238E27FC236}">
                <a16:creationId xmlns:a16="http://schemas.microsoft.com/office/drawing/2014/main" id="{849DB1BC-D8B3-4A86-94CF-04D2CB765F82}"/>
              </a:ext>
            </a:extLst>
          </p:cNvPr>
          <p:cNvSpPr txBox="1"/>
          <p:nvPr/>
        </p:nvSpPr>
        <p:spPr>
          <a:xfrm>
            <a:off x="501321" y="980684"/>
            <a:ext cx="10681456" cy="5023939"/>
          </a:xfrm>
          <a:prstGeom prst="rect">
            <a:avLst/>
          </a:prstGeom>
          <a:noFill/>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传统三层分层网络互连模型（</a:t>
            </a:r>
            <a:r>
              <a:rPr lang="en-US" altLang="zh-CN" sz="2400" b="1" dirty="0">
                <a:latin typeface="微软雅黑" panose="020B0503020204020204" pitchFamily="34" charset="-122"/>
                <a:ea typeface="微软雅黑" panose="020B0503020204020204" pitchFamily="34" charset="-122"/>
              </a:rPr>
              <a:t>Three-tier Hierarchical Model</a:t>
            </a:r>
            <a:r>
              <a:rPr lang="zh-CN" altLang="en-US" sz="2400" b="1" dirty="0">
                <a:latin typeface="微软雅黑" panose="020B0503020204020204" pitchFamily="34" charset="-122"/>
                <a:ea typeface="微软雅黑" panose="020B0503020204020204" pitchFamily="34" charset="-122"/>
              </a:rPr>
              <a:t>）</a:t>
            </a: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最早由 </a:t>
            </a:r>
            <a:r>
              <a:rPr lang="en-US" altLang="zh-CN" sz="2400" dirty="0">
                <a:latin typeface="微软雅黑" panose="020B0503020204020204" pitchFamily="34" charset="-122"/>
                <a:ea typeface="微软雅黑" panose="020B0503020204020204" pitchFamily="34" charset="-122"/>
              </a:rPr>
              <a:t>Cisco </a:t>
            </a:r>
            <a:r>
              <a:rPr lang="zh-CN" altLang="en-US" sz="2400" dirty="0">
                <a:latin typeface="微软雅黑" panose="020B0503020204020204" pitchFamily="34" charset="-122"/>
                <a:ea typeface="微软雅黑" panose="020B0503020204020204" pitchFamily="34" charset="-122"/>
              </a:rPr>
              <a:t>提出，是一种被广泛采用的网络设计方法，尤其常见于企业环境中。该模型通过将网络划分为三个功能明确的层级来实现架构优化：</a:t>
            </a:r>
            <a:endParaRPr lang="en-US" altLang="zh-CN" sz="2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Access Layer</a:t>
            </a:r>
            <a:r>
              <a:rPr lang="zh-CN" altLang="en-US" sz="2000" dirty="0">
                <a:latin typeface="微软雅黑" panose="020B0503020204020204" pitchFamily="34" charset="-122"/>
                <a:ea typeface="微软雅黑" panose="020B0503020204020204" pitchFamily="34" charset="-122"/>
              </a:rPr>
              <a:t>：网络最外层，直接连接终端设备（如服务器、计算机）的层级</a:t>
            </a:r>
          </a:p>
          <a:p>
            <a:pPr marL="742950" lvl="1" indent="-285750">
              <a:lnSpc>
                <a:spcPct val="15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Aggregation Layer</a:t>
            </a:r>
            <a:r>
              <a:rPr lang="zh-CN" altLang="en-US" sz="2000" dirty="0">
                <a:latin typeface="微软雅黑" panose="020B0503020204020204" pitchFamily="34" charset="-122"/>
                <a:ea typeface="微软雅黑" panose="020B0503020204020204" pitchFamily="34" charset="-122"/>
              </a:rPr>
              <a:t>：连接接入层与核心层的中间层级，负责流量聚合及实施网络策略（如路由策略、安全策略）</a:t>
            </a:r>
          </a:p>
          <a:p>
            <a:pPr marL="742950" lvl="1" indent="-28575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Core Layer</a:t>
            </a:r>
            <a:r>
              <a:rPr lang="zh-CN" altLang="en-US" sz="2000" dirty="0">
                <a:latin typeface="微软雅黑" panose="020B0503020204020204" pitchFamily="34" charset="-122"/>
                <a:ea typeface="微软雅黑" panose="020B0503020204020204" pitchFamily="34" charset="-122"/>
              </a:rPr>
              <a:t>​​：网络骨干层，专用于在不同汇聚层之间进行极高速数据转发的层级</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优缺点：</a:t>
            </a:r>
            <a:endParaRPr lang="en-US" altLang="zh-CN" sz="2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优点是结构清晰、管理方便</a:t>
            </a:r>
            <a:endParaRPr lang="en-US" altLang="zh-CN" sz="20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缺点是上层链路需要承载越多越多下层主机的流量</a:t>
            </a:r>
            <a:endParaRPr lang="en-US" altLang="zh-CN" sz="20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19722" y="942768"/>
            <a:ext cx="11552555" cy="515926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119465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1117601" y="1166842"/>
            <a:ext cx="10329334" cy="4503797"/>
          </a:xfrm>
          <a:prstGeom prst="rect">
            <a:avLst/>
          </a:prstGeom>
          <a:noFill/>
        </p:spPr>
        <p:txBody>
          <a:bodyPr wrap="square" rtlCol="0">
            <a:spAutoFit/>
          </a:bodyPr>
          <a:lstStyle/>
          <a:p>
            <a:pPr algn="ctr">
              <a:lnSpc>
                <a:spcPts val="4320"/>
              </a:lnSpc>
            </a:pPr>
            <a:r>
              <a:rPr lang="en-US" altLang="zh-CN" sz="3600" b="1">
                <a:solidFill>
                  <a:srgbClr val="2F5EB0"/>
                </a:solidFill>
                <a:latin typeface="微软雅黑" panose="020B0503020204020204" pitchFamily="34" charset="-122"/>
                <a:ea typeface="微软雅黑" panose="020B0503020204020204" pitchFamily="34" charset="-122"/>
              </a:rPr>
              <a:t>Outline</a:t>
            </a:r>
            <a:endParaRPr lang="en-US" altLang="zh-CN" sz="3600" b="1">
              <a:solidFill>
                <a:schemeClr val="bg2">
                  <a:lumMod val="75000"/>
                </a:schemeClr>
              </a:solidFill>
              <a:latin typeface="微软雅黑" panose="020B0503020204020204" pitchFamily="34" charset="-122"/>
              <a:ea typeface="微软雅黑" panose="020B0503020204020204" pitchFamily="34" charset="-122"/>
            </a:endParaRP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4320"/>
              </a:lnSpc>
              <a:buFont typeface="+mj-lt"/>
              <a:buAutoNum type="romanUcPeriod"/>
            </a:pPr>
            <a:r>
              <a:rPr lang="en-US" altLang="zh-CN" sz="3600" b="1">
                <a:solidFill>
                  <a:srgbClr val="4472C4"/>
                </a:solidFill>
                <a:latin typeface="微软雅黑" panose="020B0503020204020204" pitchFamily="34" charset="-122"/>
                <a:ea typeface="微软雅黑" panose="020B0503020204020204" pitchFamily="34" charset="-122"/>
              </a:rPr>
              <a:t>Background</a:t>
            </a:r>
          </a:p>
          <a:p>
            <a:pPr lvl="1">
              <a:lnSpc>
                <a:spcPts val="4320"/>
              </a:lnSpc>
            </a:pPr>
            <a:r>
              <a:rPr lang="en-US" altLang="zh-CN" sz="3200" b="1">
                <a:solidFill>
                  <a:srgbClr val="4472C4"/>
                </a:solidFill>
                <a:latin typeface="微软雅黑" panose="020B0503020204020204" pitchFamily="34" charset="-122"/>
                <a:ea typeface="微软雅黑" panose="020B0503020204020204" pitchFamily="34" charset="-122"/>
              </a:rPr>
              <a:t>2.1 Current Data Center Network Topologies</a:t>
            </a:r>
          </a:p>
          <a:p>
            <a:pPr lvl="1">
              <a:lnSpc>
                <a:spcPts val="4320"/>
              </a:lnSpc>
            </a:pPr>
            <a:r>
              <a:rPr lang="en-US" altLang="zh-CN" sz="3200" b="1">
                <a:solidFill>
                  <a:schemeClr val="bg2">
                    <a:lumMod val="75000"/>
                  </a:schemeClr>
                </a:solidFill>
                <a:latin typeface="微软雅黑" panose="020B0503020204020204" pitchFamily="34" charset="-122"/>
                <a:ea typeface="微软雅黑" panose="020B0503020204020204" pitchFamily="34" charset="-122"/>
              </a:rPr>
              <a:t>2.2 Clos Networks/Fat-Trees</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684145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705870" y="4220770"/>
            <a:ext cx="10681456" cy="1938992"/>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三层架构：核心层、汇聚层、边缘层（机柜顶部交换机）</a:t>
            </a:r>
          </a:p>
          <a:p>
            <a:pPr marL="285750" indent="-285750">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两种交换机类型：</a:t>
            </a:r>
            <a:endParaRPr lang="en-US" altLang="zh-CN" sz="240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48</a:t>
            </a:r>
            <a:r>
              <a:rPr lang="zh-CN" altLang="en-US" sz="2400">
                <a:latin typeface="微软雅黑" panose="020B0503020204020204" pitchFamily="34" charset="-122"/>
                <a:ea typeface="微软雅黑" panose="020B0503020204020204" pitchFamily="34" charset="-122"/>
              </a:rPr>
              <a:t>端口千兆以太网交换机：配备</a:t>
            </a:r>
            <a:r>
              <a:rPr lang="en-US" altLang="zh-CN" sz="2400">
                <a:latin typeface="微软雅黑" panose="020B0503020204020204" pitchFamily="34" charset="-122"/>
                <a:ea typeface="微软雅黑" panose="020B0503020204020204" pitchFamily="34" charset="-122"/>
              </a:rPr>
              <a:t>4</a:t>
            </a:r>
            <a:r>
              <a:rPr lang="zh-CN" altLang="en-US" sz="2400">
                <a:latin typeface="微软雅黑" panose="020B0503020204020204" pitchFamily="34" charset="-122"/>
                <a:ea typeface="微软雅黑" panose="020B0503020204020204" pitchFamily="34" charset="-122"/>
              </a:rPr>
              <a:t>个万兆上行链路，用于树形架构边缘层</a:t>
            </a:r>
          </a:p>
          <a:p>
            <a:pPr marL="742950" lvl="1" indent="-285750">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128</a:t>
            </a:r>
            <a:r>
              <a:rPr lang="zh-CN" altLang="en-US" sz="2400">
                <a:latin typeface="微软雅黑" panose="020B0503020204020204" pitchFamily="34" charset="-122"/>
                <a:ea typeface="微软雅黑" panose="020B0503020204020204" pitchFamily="34" charset="-122"/>
              </a:rPr>
              <a:t>端口万兆以太网交换机：用于通信层级中的更高层级</a:t>
            </a:r>
          </a:p>
          <a:p>
            <a:pPr marL="285750" indent="-285750">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两类交换机均支持所有直连主机以网络接口全速相互通信</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450100" y="4080933"/>
            <a:ext cx="10937226" cy="217942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198">
            <a:extLst>
              <a:ext uri="{FF2B5EF4-FFF2-40B4-BE49-F238E27FC236}">
                <a16:creationId xmlns:a16="http://schemas.microsoft.com/office/drawing/2014/main" id="{ED44C421-DC41-4FF3-9503-21BFD537BD14}"/>
              </a:ext>
            </a:extLst>
          </p:cNvPr>
          <p:cNvPicPr>
            <a:picLocks noChangeAspect="1" noChangeArrowheads="1"/>
          </p:cNvPicPr>
          <p:nvPr/>
        </p:nvPicPr>
        <p:blipFill>
          <a:blip r:embed="rId3" cstate="print"/>
          <a:srcRect/>
          <a:stretch>
            <a:fillRect/>
          </a:stretch>
        </p:blipFill>
        <p:spPr bwMode="auto">
          <a:xfrm>
            <a:off x="3414520" y="868609"/>
            <a:ext cx="7421646" cy="3154200"/>
          </a:xfrm>
          <a:prstGeom prst="rect">
            <a:avLst/>
          </a:prstGeom>
          <a:noFill/>
          <a:ln w="19050">
            <a:noFill/>
            <a:miter lim="800000"/>
            <a:headEnd/>
            <a:tailEnd/>
          </a:ln>
        </p:spPr>
      </p:pic>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2.1.1 Topology</a:t>
            </a:r>
            <a:endParaRPr lang="zh-CN" altLang="en-US" sz="2400"/>
          </a:p>
        </p:txBody>
      </p:sp>
    </p:spTree>
    <p:extLst>
      <p:ext uri="{BB962C8B-B14F-4D97-AF65-F5344CB8AC3E}">
        <p14:creationId xmlns:p14="http://schemas.microsoft.com/office/powerpoint/2010/main" val="2392528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19723" y="1593569"/>
            <a:ext cx="11161078" cy="4666790"/>
          </a:xfrm>
          <a:prstGeom prst="rect">
            <a:avLst/>
          </a:prstGeom>
          <a:noFill/>
        </p:spPr>
        <p:txBody>
          <a:bodyPr wrap="square" rtlCol="0">
            <a:spAutoFit/>
          </a:bodyPr>
          <a:lstStyle/>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超额订阅：指特定通信拓扑的总二分带宽与终端主机间最差情况下可达聚合带宽的比值</a:t>
            </a:r>
          </a:p>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理想状态</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（所有主机均可能以网络接口全速与任意其他主机通信）</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无带宽争用，性能最高，但成本也最高</a:t>
            </a:r>
          </a:p>
          <a:p>
            <a:pPr marL="285750"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典型设计</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通常存在</a:t>
            </a:r>
            <a:r>
              <a:rPr lang="en-US" altLang="zh-CN" sz="2400" dirty="0">
                <a:latin typeface="微软雅黑" panose="020B0503020204020204" pitchFamily="34" charset="-122"/>
                <a:ea typeface="微软雅黑" panose="020B0503020204020204" pitchFamily="34" charset="-122"/>
              </a:rPr>
              <a:t>2.5:1</a:t>
            </a:r>
            <a:r>
              <a:rPr lang="zh-CN" altLang="en-US" sz="2400" dirty="0">
                <a:latin typeface="微软雅黑" panose="020B0503020204020204" pitchFamily="34" charset="-122"/>
                <a:ea typeface="微软雅黑" panose="020B0503020204020204" pitchFamily="34" charset="-122"/>
              </a:rPr>
              <a:t>至</a:t>
            </a:r>
            <a:r>
              <a:rPr lang="en-US" altLang="zh-CN" sz="2400" dirty="0">
                <a:latin typeface="微软雅黑" panose="020B0503020204020204" pitchFamily="34" charset="-122"/>
                <a:ea typeface="微软雅黑" panose="020B0503020204020204" pitchFamily="34" charset="-122"/>
              </a:rPr>
              <a:t>8:1</a:t>
            </a:r>
            <a:r>
              <a:rPr lang="zh-CN" altLang="en-US" sz="2400" dirty="0">
                <a:latin typeface="微软雅黑" panose="020B0503020204020204" pitchFamily="34" charset="-122"/>
                <a:ea typeface="微软雅黑" panose="020B0503020204020204" pitchFamily="34" charset="-122"/>
              </a:rPr>
              <a:t>的超额订阅</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 对于</a:t>
            </a:r>
            <a:r>
              <a:rPr lang="en-US" altLang="zh-CN" sz="2400" dirty="0">
                <a:latin typeface="微软雅黑" panose="020B0503020204020204" pitchFamily="34" charset="-122"/>
                <a:ea typeface="微软雅黑" panose="020B0503020204020204" pitchFamily="34" charset="-122"/>
              </a:rPr>
              <a:t>1 Gb/s</a:t>
            </a:r>
            <a:r>
              <a:rPr lang="zh-CN" altLang="en-US" sz="2400" dirty="0">
                <a:latin typeface="微软雅黑" panose="020B0503020204020204" pitchFamily="34" charset="-122"/>
                <a:ea typeface="微软雅黑" panose="020B0503020204020204" pitchFamily="34" charset="-122"/>
              </a:rPr>
              <a:t>网卡，​​</a:t>
            </a:r>
            <a:r>
              <a:rPr lang="en-US" altLang="zh-CN" sz="2400" dirty="0">
                <a:latin typeface="微软雅黑" panose="020B0503020204020204" pitchFamily="34" charset="-122"/>
                <a:ea typeface="微软雅黑" panose="020B0503020204020204" pitchFamily="34" charset="-122"/>
              </a:rPr>
              <a:t>5:1​​ </a:t>
            </a:r>
            <a:r>
              <a:rPr lang="zh-CN" altLang="en-US" sz="2400" dirty="0">
                <a:latin typeface="微软雅黑" panose="020B0503020204020204" pitchFamily="34" charset="-122"/>
                <a:ea typeface="微软雅黑" panose="020B0503020204020204" pitchFamily="34" charset="-122"/>
              </a:rPr>
              <a:t>意味着在某些情况下保证带宽仅为 ​​</a:t>
            </a:r>
            <a:r>
              <a:rPr lang="en-US" altLang="zh-CN" sz="2400" dirty="0">
                <a:latin typeface="微软雅黑" panose="020B0503020204020204" pitchFamily="34" charset="-122"/>
                <a:ea typeface="微软雅黑" panose="020B0503020204020204" pitchFamily="34" charset="-122"/>
              </a:rPr>
              <a:t>200 Mbps​​</a:t>
            </a:r>
          </a:p>
          <a:p>
            <a:pPr marL="742950" lvl="1" indent="-285750">
              <a:lnSpc>
                <a:spcPts val="36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大多数实际的数据中心设计都​​有意采用超额订阅​​，以在成本与性能之间取得平衡</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458207"/>
            <a:ext cx="11552555"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2.1.2 Oversubscription</a:t>
            </a:r>
            <a:endParaRPr lang="zh-CN" altLang="en-US" sz="2400"/>
          </a:p>
        </p:txBody>
      </p:sp>
    </p:spTree>
    <p:extLst>
      <p:ext uri="{BB962C8B-B14F-4D97-AF65-F5344CB8AC3E}">
        <p14:creationId xmlns:p14="http://schemas.microsoft.com/office/powerpoint/2010/main" val="3012476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18922-E21F-5453-4402-19AB3DE0C60C}"/>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E2F477C1-C837-FC16-98C2-43B20025B34C}"/>
              </a:ext>
            </a:extLst>
          </p:cNvPr>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a:extLst>
              <a:ext uri="{FF2B5EF4-FFF2-40B4-BE49-F238E27FC236}">
                <a16:creationId xmlns:a16="http://schemas.microsoft.com/office/drawing/2014/main" id="{86A5FB65-9E0F-305E-7A7A-E8F085AA742B}"/>
              </a:ext>
            </a:extLst>
          </p:cNvPr>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a:extLst>
              <a:ext uri="{FF2B5EF4-FFF2-40B4-BE49-F238E27FC236}">
                <a16:creationId xmlns:a16="http://schemas.microsoft.com/office/drawing/2014/main" id="{868D75E8-B6F9-F7E9-DCE4-141B705DD72C}"/>
              </a:ext>
            </a:extLst>
          </p:cNvPr>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a:extLst>
              <a:ext uri="{FF2B5EF4-FFF2-40B4-BE49-F238E27FC236}">
                <a16:creationId xmlns:a16="http://schemas.microsoft.com/office/drawing/2014/main" id="{96BCDD33-F176-7800-71FE-BDE8592794AC}"/>
              </a:ext>
            </a:extLst>
          </p:cNvPr>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7" name="圆角矩形 1">
            <a:extLst>
              <a:ext uri="{FF2B5EF4-FFF2-40B4-BE49-F238E27FC236}">
                <a16:creationId xmlns:a16="http://schemas.microsoft.com/office/drawing/2014/main" id="{C27F3C78-9EE3-0016-F2D5-115523B62525}"/>
              </a:ext>
            </a:extLst>
          </p:cNvPr>
          <p:cNvSpPr>
            <a:spLocks noChangeArrowheads="1"/>
          </p:cNvSpPr>
          <p:nvPr/>
        </p:nvSpPr>
        <p:spPr bwMode="auto">
          <a:xfrm>
            <a:off x="270321" y="1458207"/>
            <a:ext cx="11552555"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BBDE2AD0-202E-AA30-06EF-D3DF837415B3}"/>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2.1.2 Oversubscription</a:t>
            </a:r>
            <a:endParaRPr lang="zh-CN" altLang="en-US" sz="2400"/>
          </a:p>
        </p:txBody>
      </p:sp>
      <p:pic>
        <p:nvPicPr>
          <p:cNvPr id="3" name="图片 2">
            <a:extLst>
              <a:ext uri="{FF2B5EF4-FFF2-40B4-BE49-F238E27FC236}">
                <a16:creationId xmlns:a16="http://schemas.microsoft.com/office/drawing/2014/main" id="{FE69DE49-DC63-6ABD-C518-CAF3AEE9D4BA}"/>
              </a:ext>
            </a:extLst>
          </p:cNvPr>
          <p:cNvPicPr>
            <a:picLocks noChangeAspect="1"/>
          </p:cNvPicPr>
          <p:nvPr/>
        </p:nvPicPr>
        <p:blipFill>
          <a:blip r:embed="rId3"/>
          <a:stretch>
            <a:fillRect/>
          </a:stretch>
        </p:blipFill>
        <p:spPr>
          <a:xfrm>
            <a:off x="270321" y="1809142"/>
            <a:ext cx="5157417" cy="4173763"/>
          </a:xfrm>
          <a:prstGeom prst="rect">
            <a:avLst/>
          </a:prstGeom>
        </p:spPr>
      </p:pic>
      <p:sp>
        <p:nvSpPr>
          <p:cNvPr id="6" name="文本框 5">
            <a:extLst>
              <a:ext uri="{FF2B5EF4-FFF2-40B4-BE49-F238E27FC236}">
                <a16:creationId xmlns:a16="http://schemas.microsoft.com/office/drawing/2014/main" id="{7AAE6667-3450-3791-0EE2-521636EC46BD}"/>
              </a:ext>
            </a:extLst>
          </p:cNvPr>
          <p:cNvSpPr txBox="1"/>
          <p:nvPr/>
        </p:nvSpPr>
        <p:spPr>
          <a:xfrm>
            <a:off x="5140657" y="1809142"/>
            <a:ext cx="6781021" cy="3609771"/>
          </a:xfrm>
          <a:prstGeom prst="rect">
            <a:avLst/>
          </a:prstGeom>
          <a:noFill/>
        </p:spPr>
        <p:txBody>
          <a:bodyPr wrap="square">
            <a:spAutoFit/>
          </a:bodyPr>
          <a:lstStyle/>
          <a:p>
            <a:pPr marL="285750" indent="-285750">
              <a:lnSpc>
                <a:spcPts val="4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传统架构成本高昂：</a:t>
            </a:r>
            <a:r>
              <a:rPr lang="zh-CN" altLang="en-US" dirty="0">
                <a:latin typeface="微软雅黑" panose="020B0503020204020204" pitchFamily="34" charset="-122"/>
                <a:ea typeface="微软雅黑" panose="020B0503020204020204" pitchFamily="34" charset="-122"/>
              </a:rPr>
              <a:t>在传统分层架构中，要为大规模集群（如超过</a:t>
            </a:r>
            <a:r>
              <a:rPr lang="en-US" altLang="zh-CN" dirty="0">
                <a:latin typeface="微软雅黑" panose="020B0503020204020204" pitchFamily="34" charset="-122"/>
                <a:ea typeface="微软雅黑" panose="020B0503020204020204" pitchFamily="34" charset="-122"/>
              </a:rPr>
              <a:t>10,000</a:t>
            </a:r>
            <a:r>
              <a:rPr lang="zh-CN" altLang="en-US" dirty="0">
                <a:latin typeface="微软雅黑" panose="020B0503020204020204" pitchFamily="34" charset="-122"/>
                <a:ea typeface="微软雅黑" panose="020B0503020204020204" pitchFamily="34" charset="-122"/>
              </a:rPr>
              <a:t>台主机）提供高带宽（即低收敛比），成本会急剧上升 </a:t>
            </a:r>
            <a:endParaRPr lang="en-US" altLang="zh-CN"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收敛比是降低成本的手段：</a:t>
            </a:r>
            <a:r>
              <a:rPr lang="zh-CN" altLang="en-US" dirty="0">
                <a:latin typeface="微软雅黑" panose="020B0503020204020204" pitchFamily="34" charset="-122"/>
                <a:ea typeface="微软雅黑" panose="020B0503020204020204" pitchFamily="34" charset="-122"/>
              </a:rPr>
              <a:t>引入较高的收敛比（如</a:t>
            </a:r>
            <a:r>
              <a:rPr lang="en-US" altLang="zh-CN" dirty="0">
                <a:latin typeface="微软雅黑" panose="020B0503020204020204" pitchFamily="34" charset="-122"/>
                <a:ea typeface="微软雅黑" panose="020B0503020204020204" pitchFamily="34" charset="-122"/>
              </a:rPr>
              <a:t>3:1</a:t>
            </a:r>
            <a:r>
              <a:rPr lang="zh-CN" altLang="en-US" dirty="0">
                <a:latin typeface="微软雅黑" panose="020B0503020204020204" pitchFamily="34" charset="-122"/>
                <a:ea typeface="微软雅黑" panose="020B0503020204020204" pitchFamily="34" charset="-122"/>
              </a:rPr>
              <a:t>或更高）是降低传统架构成本的常用方法，但这会牺牲网络性能</a:t>
            </a:r>
            <a:endParaRPr lang="en-US" altLang="zh-CN"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胖树架构的成本优势：</a:t>
            </a:r>
            <a:r>
              <a:rPr lang="zh-CN" altLang="en-US" dirty="0">
                <a:latin typeface="微软雅黑" panose="020B0503020204020204" pitchFamily="34" charset="-122"/>
                <a:ea typeface="微软雅黑" panose="020B0503020204020204" pitchFamily="34" charset="-122"/>
              </a:rPr>
              <a:t>与传统架构相比，胖树架构在提供</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全带宽的情况下，成本要低得多，且成本增长曲线更为平缓</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64184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19722" y="1535445"/>
            <a:ext cx="11453751" cy="4649991"/>
          </a:xfrm>
          <a:prstGeom prst="rect">
            <a:avLst/>
          </a:prstGeom>
          <a:noFill/>
        </p:spPr>
        <p:txBody>
          <a:bodyPr wrap="square" rtlCol="0">
            <a:spAutoFit/>
          </a:bodyPr>
          <a:lstStyle/>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大规模集群需“多根树”结构</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要为大量主机提供</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超售的全带宽，需采用具有多个核心交换机的 ​​“多根树”​​ 拓扑</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单一核心交换机的设计，其规模极限约为 ​​</a:t>
            </a:r>
            <a:r>
              <a:rPr lang="en-US" altLang="zh-CN" sz="2400" dirty="0">
                <a:latin typeface="微软雅黑" panose="020B0503020204020204" pitchFamily="34" charset="-122"/>
                <a:ea typeface="微软雅黑" panose="020B0503020204020204" pitchFamily="34" charset="-122"/>
              </a:rPr>
              <a:t>1280</a:t>
            </a:r>
            <a:r>
              <a:rPr lang="zh-CN" altLang="en-US" sz="2400" dirty="0">
                <a:latin typeface="微软雅黑" panose="020B0503020204020204" pitchFamily="34" charset="-122"/>
                <a:ea typeface="微软雅黑" panose="020B0503020204020204" pitchFamily="34" charset="-122"/>
              </a:rPr>
              <a:t>个节点​​（基于一个</a:t>
            </a:r>
            <a:r>
              <a:rPr lang="en-US" altLang="zh-CN" sz="2400" dirty="0">
                <a:latin typeface="微软雅黑" panose="020B0503020204020204" pitchFamily="34" charset="-122"/>
                <a:ea typeface="微软雅黑" panose="020B0503020204020204" pitchFamily="34" charset="-122"/>
              </a:rPr>
              <a:t>128</a:t>
            </a:r>
            <a:r>
              <a:rPr lang="zh-CN" altLang="en-US" sz="2400" dirty="0">
                <a:latin typeface="微软雅黑" panose="020B0503020204020204" pitchFamily="34" charset="-122"/>
                <a:ea typeface="微软雅黑" panose="020B0503020204020204" pitchFamily="34" charset="-122"/>
              </a:rPr>
              <a:t>端口的</a:t>
            </a:r>
            <a:r>
              <a:rPr lang="en-US" altLang="zh-CN" sz="2400" dirty="0">
                <a:latin typeface="微软雅黑" panose="020B0503020204020204" pitchFamily="34" charset="-122"/>
                <a:ea typeface="微软雅黑" panose="020B0503020204020204" pitchFamily="34" charset="-122"/>
              </a:rPr>
              <a:t>10G</a:t>
            </a:r>
            <a:r>
              <a:rPr lang="zh-CN" altLang="en-US" sz="2400" dirty="0">
                <a:latin typeface="微软雅黑" panose="020B0503020204020204" pitchFamily="34" charset="-122"/>
                <a:ea typeface="微软雅黑" panose="020B0503020204020204" pitchFamily="34" charset="-122"/>
              </a:rPr>
              <a:t>交换机）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无带宽争用，性能最高，但成本也最高</a:t>
            </a:r>
          </a:p>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等价多路径 </a:t>
            </a:r>
            <a:r>
              <a:rPr lang="en-US" altLang="zh-CN" sz="2400" dirty="0">
                <a:latin typeface="微软雅黑" panose="020B0503020204020204" pitchFamily="34" charset="-122"/>
                <a:ea typeface="微软雅黑" panose="020B0503020204020204" pitchFamily="34" charset="-122"/>
              </a:rPr>
              <a:t>ECMP</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多根树需要 ​​</a:t>
            </a:r>
            <a:r>
              <a:rPr lang="en-US" altLang="zh-CN" sz="2400" dirty="0">
                <a:latin typeface="微软雅黑" panose="020B0503020204020204" pitchFamily="34" charset="-122"/>
                <a:ea typeface="微软雅黑" panose="020B0503020204020204" pitchFamily="34" charset="-122"/>
              </a:rPr>
              <a:t>ECMP </a:t>
            </a:r>
            <a:r>
              <a:rPr lang="zh-CN" altLang="en-US" sz="2400" dirty="0">
                <a:latin typeface="微软雅黑" panose="020B0503020204020204" pitchFamily="34" charset="-122"/>
                <a:ea typeface="微软雅黑" panose="020B0503020204020204" pitchFamily="34" charset="-122"/>
              </a:rPr>
              <a:t>等技术来利用多条路径</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​​ECMP</a:t>
            </a:r>
            <a:r>
              <a:rPr lang="zh-CN" altLang="en-US" sz="2400" dirty="0">
                <a:latin typeface="微软雅黑" panose="020B0503020204020204" pitchFamily="34" charset="-122"/>
                <a:ea typeface="微软雅黑" panose="020B0503020204020204" pitchFamily="34" charset="-122"/>
              </a:rPr>
              <a:t>的工作原理：​​ 在多个可用路径上对数据流进行​​静态的负载分割​​</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458207"/>
            <a:ext cx="11552555"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2.1.3 Multi-path Routing</a:t>
            </a:r>
            <a:endParaRPr lang="zh-CN" altLang="en-US" sz="2400"/>
          </a:p>
        </p:txBody>
      </p:sp>
    </p:spTree>
    <p:extLst>
      <p:ext uri="{BB962C8B-B14F-4D97-AF65-F5344CB8AC3E}">
        <p14:creationId xmlns:p14="http://schemas.microsoft.com/office/powerpoint/2010/main" val="3509270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1354121"/>
            <a:ext cx="11453751" cy="4912883"/>
          </a:xfrm>
          <a:prstGeom prst="rect">
            <a:avLst/>
          </a:prstGeom>
          <a:noFill/>
        </p:spPr>
        <p:txBody>
          <a:bodyPr wrap="square" rtlCol="0">
            <a:spAutoFit/>
          </a:bodyPr>
          <a:lstStyle/>
          <a:p>
            <a:pPr>
              <a:lnSpc>
                <a:spcPts val="3800"/>
              </a:lnSpc>
            </a:pPr>
            <a:r>
              <a:rPr lang="en-US" altLang="zh-CN" sz="2400" b="1" dirty="0">
                <a:latin typeface="微软雅黑" panose="020B0503020204020204" pitchFamily="34" charset="-122"/>
                <a:ea typeface="微软雅黑" panose="020B0503020204020204" pitchFamily="34" charset="-122"/>
              </a:rPr>
              <a:t>  ECMP</a:t>
            </a:r>
            <a:r>
              <a:rPr lang="zh-CN" altLang="en-US" sz="2400" b="1" dirty="0">
                <a:latin typeface="微软雅黑" panose="020B0503020204020204" pitchFamily="34" charset="-122"/>
                <a:ea typeface="微软雅黑" panose="020B0503020204020204" pitchFamily="34" charset="-122"/>
              </a:rPr>
              <a:t>的局限性​​</a:t>
            </a:r>
            <a:endParaRPr lang="en-US" altLang="zh-CN" sz="2400" b="1" dirty="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局限一：静态分配，无视流量带宽​​</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ECMP</a:t>
            </a:r>
            <a:r>
              <a:rPr lang="zh-CN" altLang="en-US" sz="2400" dirty="0">
                <a:latin typeface="微软雅黑" panose="020B0503020204020204" pitchFamily="34" charset="-122"/>
                <a:ea typeface="微软雅黑" panose="020B0503020204020204" pitchFamily="34" charset="-122"/>
              </a:rPr>
              <a:t>仅根据流进行静态分配，​​决策时不考虑每条流所需的实际带宽​​</a:t>
            </a: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这可能导致即使是在简单的通信模式下，​​链路实际上仍被超额订阅​​</a:t>
            </a:r>
            <a:endParaRPr lang="en-US" altLang="zh-CN" sz="2400" dirty="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局限二：路径数量不足​​</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当前</a:t>
            </a:r>
            <a:r>
              <a:rPr lang="en-US" altLang="zh-CN" sz="2400" dirty="0">
                <a:latin typeface="微软雅黑" panose="020B0503020204020204" pitchFamily="34" charset="-122"/>
                <a:ea typeface="微软雅黑" panose="020B0503020204020204" pitchFamily="34" charset="-122"/>
              </a:rPr>
              <a:t>ECMP</a:t>
            </a:r>
            <a:r>
              <a:rPr lang="zh-CN" altLang="en-US" sz="2400" dirty="0">
                <a:latin typeface="微软雅黑" panose="020B0503020204020204" pitchFamily="34" charset="-122"/>
                <a:ea typeface="微软雅黑" panose="020B0503020204020204" pitchFamily="34" charset="-122"/>
              </a:rPr>
              <a:t>实现通常将路径数量限制在 ​​</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至</a:t>
            </a:r>
            <a:r>
              <a:rPr lang="en-US" altLang="zh-CN" sz="2400" dirty="0">
                <a:latin typeface="微软雅黑" panose="020B0503020204020204" pitchFamily="34" charset="-122"/>
                <a:ea typeface="微软雅黑" panose="020B0503020204020204" pitchFamily="34" charset="-122"/>
              </a:rPr>
              <a:t>16</a:t>
            </a:r>
            <a:r>
              <a:rPr lang="zh-CN" altLang="en-US" sz="2400" dirty="0">
                <a:latin typeface="微软雅黑" panose="020B0503020204020204" pitchFamily="34" charset="-122"/>
                <a:ea typeface="微软雅黑" panose="020B0503020204020204" pitchFamily="34" charset="-122"/>
              </a:rPr>
              <a:t>条​​</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对于超大规模数据中心，这个路径多样性​​通常不足以提供高的二分带宽​​</a:t>
            </a:r>
            <a:endParaRPr lang="en-US" altLang="zh-CN" sz="2400" dirty="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局限三：路由表膨胀​​</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路由表条目数会随着路径数量的增加而​​成倍增长​​</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这会导致：​​</a:t>
            </a: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硬件成本增加； </a:t>
            </a: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可能增加查找延迟，影响性能​​</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336760"/>
            <a:ext cx="11552555" cy="4930243"/>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2.1.3 Multi-path Routing</a:t>
            </a:r>
            <a:endParaRPr lang="zh-CN" altLang="en-US" sz="2400"/>
          </a:p>
        </p:txBody>
      </p:sp>
    </p:spTree>
    <p:extLst>
      <p:ext uri="{BB962C8B-B14F-4D97-AF65-F5344CB8AC3E}">
        <p14:creationId xmlns:p14="http://schemas.microsoft.com/office/powerpoint/2010/main" val="1531858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19722" y="1508630"/>
            <a:ext cx="11702560" cy="4791825"/>
          </a:xfrm>
          <a:prstGeom prst="rect">
            <a:avLst/>
          </a:prstGeom>
          <a:noFill/>
        </p:spPr>
        <p:txBody>
          <a:bodyPr wrap="square" rtlCol="0">
            <a:spAutoFit/>
          </a:bodyPr>
          <a:lstStyle/>
          <a:p>
            <a:pPr>
              <a:lnSpc>
                <a:spcPts val="3700"/>
              </a:lnSpc>
            </a:pPr>
            <a:r>
              <a:rPr lang="zh-CN" altLang="en-US" sz="2400" b="1" dirty="0">
                <a:latin typeface="微软雅黑" panose="020B0503020204020204" pitchFamily="34" charset="-122"/>
                <a:ea typeface="微软雅黑" panose="020B0503020204020204" pitchFamily="34" charset="-122"/>
              </a:rPr>
              <a:t>成本是首要驱动因素​​​</a:t>
            </a:r>
            <a:endParaRPr lang="en-US" altLang="zh-CN" sz="2400" b="1"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构建大型集群网络互联的​​成本极大地影响​​最终的设计决策</a:t>
            </a:r>
            <a:endParaRPr lang="en-US" altLang="zh-CN" sz="24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引入​​超额订阅（</a:t>
            </a:r>
            <a:r>
              <a:rPr lang="en-US" altLang="zh-CN" sz="2400" dirty="0">
                <a:latin typeface="微软雅黑" panose="020B0503020204020204" pitchFamily="34" charset="-122"/>
                <a:ea typeface="微软雅黑" panose="020B0503020204020204" pitchFamily="34" charset="-122"/>
              </a:rPr>
              <a:t>Oversubscription</a:t>
            </a:r>
            <a:r>
              <a:rPr lang="zh-CN" altLang="en-US" sz="2400" dirty="0">
                <a:latin typeface="微软雅黑" panose="020B0503020204020204" pitchFamily="34" charset="-122"/>
                <a:ea typeface="微软雅黑" panose="020B0503020204020204" pitchFamily="34" charset="-122"/>
              </a:rPr>
              <a:t>）​​ 是降低总成本的典型手段</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假设：​​边缘层：</a:t>
            </a:r>
            <a:r>
              <a:rPr lang="en-US" altLang="zh-CN" sz="2400" dirty="0">
                <a:latin typeface="微软雅黑" panose="020B0503020204020204" pitchFamily="34" charset="-122"/>
                <a:ea typeface="微软雅黑" panose="020B0503020204020204" pitchFamily="34" charset="-122"/>
              </a:rPr>
              <a:t>48</a:t>
            </a:r>
            <a:r>
              <a:rPr lang="zh-CN" altLang="en-US" sz="2400" dirty="0">
                <a:latin typeface="微软雅黑" panose="020B0503020204020204" pitchFamily="34" charset="-122"/>
                <a:ea typeface="微软雅黑" panose="020B0503020204020204" pitchFamily="34" charset="-122"/>
              </a:rPr>
              <a:t>端口千兆交换机，单价 </a:t>
            </a:r>
            <a:r>
              <a:rPr lang="en-US" altLang="zh-CN" sz="2400" dirty="0">
                <a:latin typeface="微软雅黑" panose="020B0503020204020204" pitchFamily="34" charset="-122"/>
                <a:ea typeface="微软雅黑" panose="020B0503020204020204" pitchFamily="34" charset="-122"/>
              </a:rPr>
              <a:t>$7,000</a:t>
            </a:r>
            <a:r>
              <a:rPr lang="zh-CN" altLang="en-US" sz="2400" dirty="0">
                <a:latin typeface="微软雅黑" panose="020B0503020204020204" pitchFamily="34" charset="-122"/>
                <a:ea typeface="微软雅黑" panose="020B0503020204020204" pitchFamily="34" charset="-122"/>
              </a:rPr>
              <a:t>；汇聚</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核心层：</a:t>
            </a:r>
            <a:r>
              <a:rPr lang="en-US" altLang="zh-CN" sz="2400" dirty="0">
                <a:latin typeface="微软雅黑" panose="020B0503020204020204" pitchFamily="34" charset="-122"/>
                <a:ea typeface="微软雅黑" panose="020B0503020204020204" pitchFamily="34" charset="-122"/>
              </a:rPr>
              <a:t>128</a:t>
            </a:r>
            <a:r>
              <a:rPr lang="zh-CN" altLang="en-US" sz="2400" dirty="0">
                <a:latin typeface="微软雅黑" panose="020B0503020204020204" pitchFamily="34" charset="-122"/>
                <a:ea typeface="微软雅黑" panose="020B0503020204020204" pitchFamily="34" charset="-122"/>
              </a:rPr>
              <a:t>端口万兆交换机，单价 </a:t>
            </a:r>
            <a:r>
              <a:rPr lang="en-US" altLang="zh-CN" sz="2400" dirty="0">
                <a:latin typeface="微软雅黑" panose="020B0503020204020204" pitchFamily="34" charset="-122"/>
                <a:ea typeface="微软雅黑" panose="020B0503020204020204" pitchFamily="34" charset="-122"/>
              </a:rPr>
              <a:t>$700,000</a:t>
            </a: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互联</a:t>
            </a:r>
            <a:r>
              <a:rPr lang="en-US" altLang="zh-CN" sz="2400" dirty="0">
                <a:latin typeface="微软雅黑" panose="020B0503020204020204" pitchFamily="34" charset="-122"/>
                <a:ea typeface="微软雅黑" panose="020B0503020204020204" pitchFamily="34" charset="-122"/>
              </a:rPr>
              <a:t>20,000</a:t>
            </a:r>
            <a:r>
              <a:rPr lang="zh-CN" altLang="en-US" sz="2400" dirty="0">
                <a:latin typeface="微软雅黑" panose="020B0503020204020204" pitchFamily="34" charset="-122"/>
                <a:ea typeface="微软雅黑" panose="020B0503020204020204" pitchFamily="34" charset="-122"/>
              </a:rPr>
              <a:t>台主机并实现 ​​</a:t>
            </a:r>
            <a:r>
              <a:rPr lang="en-US" altLang="zh-CN" sz="2400" dirty="0">
                <a:latin typeface="微软雅黑" panose="020B0503020204020204" pitchFamily="34" charset="-122"/>
                <a:ea typeface="微软雅黑" panose="020B0503020204020204" pitchFamily="34" charset="-122"/>
              </a:rPr>
              <a:t>1:1 </a:t>
            </a:r>
            <a:r>
              <a:rPr lang="zh-CN" altLang="en-US" sz="2400" dirty="0">
                <a:latin typeface="微软雅黑" panose="020B0503020204020204" pitchFamily="34" charset="-122"/>
                <a:ea typeface="微软雅黑" panose="020B0503020204020204" pitchFamily="34" charset="-122"/>
              </a:rPr>
              <a:t>全带宽​​，硬件成本高达约 ​​</a:t>
            </a:r>
            <a:r>
              <a:rPr lang="en-US" altLang="zh-CN" sz="2400" dirty="0">
                <a:latin typeface="微软雅黑" panose="020B0503020204020204" pitchFamily="34" charset="-122"/>
                <a:ea typeface="微软雅黑" panose="020B0503020204020204" pitchFamily="34" charset="-122"/>
              </a:rPr>
              <a:t>$3700</a:t>
            </a:r>
            <a:r>
              <a:rPr lang="zh-CN" altLang="en-US" sz="2400" dirty="0">
                <a:latin typeface="微软雅黑" panose="020B0503020204020204" pitchFamily="34" charset="-122"/>
                <a:ea typeface="微软雅黑" panose="020B0503020204020204" pitchFamily="34" charset="-122"/>
              </a:rPr>
              <a:t>万美元​​</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实现 ​​</a:t>
            </a:r>
            <a:r>
              <a:rPr lang="en-US" altLang="zh-CN" sz="2400" dirty="0">
                <a:latin typeface="微软雅黑" panose="020B0503020204020204" pitchFamily="34" charset="-122"/>
                <a:ea typeface="微软雅黑" panose="020B0503020204020204" pitchFamily="34" charset="-122"/>
              </a:rPr>
              <a:t>3:1 </a:t>
            </a:r>
            <a:r>
              <a:rPr lang="zh-CN" altLang="en-US" sz="2400" dirty="0">
                <a:latin typeface="微软雅黑" panose="020B0503020204020204" pitchFamily="34" charset="-122"/>
                <a:ea typeface="微软雅黑" panose="020B0503020204020204" pitchFamily="34" charset="-122"/>
              </a:rPr>
              <a:t>的超额订阅（单主机保证带宽约</a:t>
            </a:r>
            <a:r>
              <a:rPr lang="en-US" altLang="zh-CN" sz="2400" dirty="0">
                <a:latin typeface="微软雅黑" panose="020B0503020204020204" pitchFamily="34" charset="-122"/>
                <a:ea typeface="微软雅黑" panose="020B0503020204020204" pitchFamily="34" charset="-122"/>
              </a:rPr>
              <a:t>330Mbps</a:t>
            </a:r>
            <a:r>
              <a:rPr lang="zh-CN" altLang="en-US" sz="2400" dirty="0">
                <a:latin typeface="微软雅黑" panose="020B0503020204020204" pitchFamily="34" charset="-122"/>
                <a:ea typeface="微软雅黑" panose="020B0503020204020204" pitchFamily="34" charset="-122"/>
              </a:rPr>
              <a:t>），成本则显著降低</a:t>
            </a:r>
            <a:endParaRPr lang="en-US" altLang="zh-CN" sz="24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结论：​​ 现有技术为大型集群提供高带宽​​成本极高​​，而基于​​ </a:t>
            </a:r>
            <a:r>
              <a:rPr lang="en-US" altLang="zh-CN" sz="2400" dirty="0" err="1">
                <a:latin typeface="微软雅黑" panose="020B0503020204020204" pitchFamily="34" charset="-122"/>
                <a:ea typeface="微软雅黑" panose="020B0503020204020204" pitchFamily="34" charset="-122"/>
              </a:rPr>
              <a:t>FatTree</a:t>
            </a:r>
            <a:r>
              <a:rPr lang="zh-CN" altLang="en-US" sz="2400" dirty="0">
                <a:latin typeface="微软雅黑" panose="020B0503020204020204" pitchFamily="34" charset="-122"/>
                <a:ea typeface="微软雅黑" panose="020B0503020204020204" pitchFamily="34" charset="-122"/>
              </a:rPr>
              <a:t> 的架构能以更合理的成本提供可扩展带宽。规模集群成本仍可能极高（超</a:t>
            </a:r>
            <a:r>
              <a:rPr lang="en-US" altLang="zh-CN" sz="2400" dirty="0">
                <a:latin typeface="微软雅黑" panose="020B0503020204020204" pitchFamily="34" charset="-122"/>
                <a:ea typeface="微软雅黑" panose="020B0503020204020204" pitchFamily="34" charset="-122"/>
              </a:rPr>
              <a:t>$6.9</a:t>
            </a:r>
            <a:r>
              <a:rPr lang="zh-CN" altLang="en-US" sz="2400" dirty="0">
                <a:latin typeface="微软雅黑" panose="020B0503020204020204" pitchFamily="34" charset="-122"/>
                <a:ea typeface="微软雅黑" panose="020B0503020204020204" pitchFamily="34" charset="-122"/>
              </a:rPr>
              <a:t>亿），但​​至少技术上可行（一个拥有</a:t>
            </a:r>
            <a:r>
              <a:rPr lang="en-US" altLang="zh-CN" sz="2400" b="1" dirty="0">
                <a:latin typeface="微软雅黑" panose="020B0503020204020204" pitchFamily="34" charset="-122"/>
                <a:ea typeface="微软雅黑" panose="020B0503020204020204" pitchFamily="34" charset="-122"/>
              </a:rPr>
              <a:t>27,648 </a:t>
            </a:r>
            <a:r>
              <a:rPr lang="zh-CN" altLang="en-US" sz="2400" dirty="0">
                <a:latin typeface="微软雅黑" panose="020B0503020204020204" pitchFamily="34" charset="-122"/>
                <a:ea typeface="微软雅黑" panose="020B0503020204020204" pitchFamily="34" charset="-122"/>
              </a:rPr>
              <a:t>节点、所有节点之间都可实现 </a:t>
            </a:r>
            <a:r>
              <a:rPr lang="en-US" altLang="zh-CN" sz="2400" b="1" dirty="0">
                <a:latin typeface="微软雅黑" panose="020B0503020204020204" pitchFamily="34" charset="-122"/>
                <a:ea typeface="微软雅黑" panose="020B0503020204020204" pitchFamily="34" charset="-122"/>
              </a:rPr>
              <a:t>10 Gbps</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带宽的集群）</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458207"/>
            <a:ext cx="11601956"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2.1.4 Cost</a:t>
            </a:r>
            <a:endParaRPr lang="zh-CN" altLang="en-US" sz="2400"/>
          </a:p>
        </p:txBody>
      </p:sp>
    </p:spTree>
    <p:extLst>
      <p:ext uri="{BB962C8B-B14F-4D97-AF65-F5344CB8AC3E}">
        <p14:creationId xmlns:p14="http://schemas.microsoft.com/office/powerpoint/2010/main" val="2202550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19722" y="1508629"/>
            <a:ext cx="11552555" cy="4787849"/>
          </a:xfrm>
          <a:prstGeom prst="rect">
            <a:avLst/>
          </a:prstGeom>
          <a:noFill/>
        </p:spPr>
        <p:txBody>
          <a:bodyPr wrap="square" rtlCol="0">
            <a:spAutoFit/>
          </a:bodyPr>
          <a:lstStyle/>
          <a:p>
            <a:pPr>
              <a:lnSpc>
                <a:spcPts val="3700"/>
              </a:lnSpc>
            </a:pPr>
            <a:r>
              <a:rPr lang="zh-CN" altLang="en-US" sz="2400" b="1" dirty="0">
                <a:latin typeface="微软雅黑" panose="020B0503020204020204" pitchFamily="34" charset="-122"/>
                <a:ea typeface="微软雅黑" panose="020B0503020204020204" pitchFamily="34" charset="-122"/>
              </a:rPr>
              <a:t>传统架构 </a:t>
            </a:r>
            <a:r>
              <a:rPr lang="en-US" altLang="zh-CN" sz="2400" b="1" dirty="0">
                <a:latin typeface="微软雅黑" panose="020B0503020204020204" pitchFamily="34" charset="-122"/>
                <a:ea typeface="微软雅黑" panose="020B0503020204020204" pitchFamily="34" charset="-122"/>
              </a:rPr>
              <a:t>vs. Fat-Tree </a:t>
            </a:r>
            <a:r>
              <a:rPr lang="zh-CN" altLang="en-US" sz="2400" b="1" dirty="0">
                <a:latin typeface="微软雅黑" panose="020B0503020204020204" pitchFamily="34" charset="-122"/>
                <a:ea typeface="微软雅黑" panose="020B0503020204020204" pitchFamily="34" charset="-122"/>
              </a:rPr>
              <a:t>架构的深层对比​​</a:t>
            </a:r>
            <a:endParaRPr lang="en-US" altLang="zh-CN" sz="2400" b="1"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传统分层架构的局限：​​</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最大集群规模长期受限于​​高端交换机的端口密度​​</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早期万兆交换机成本​​极高​​</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最关键的是：​​目前技术上根本无法​​用传统架构构建一个所有</a:t>
            </a:r>
            <a:r>
              <a:rPr lang="en-US" altLang="zh-CN" sz="2400" dirty="0">
                <a:latin typeface="微软雅黑" panose="020B0503020204020204" pitchFamily="34" charset="-122"/>
                <a:ea typeface="微软雅黑" panose="020B0503020204020204" pitchFamily="34" charset="-122"/>
              </a:rPr>
              <a:t>27,648</a:t>
            </a:r>
            <a:r>
              <a:rPr lang="zh-CN" altLang="en-US" sz="2400" dirty="0">
                <a:latin typeface="微软雅黑" panose="020B0503020204020204" pitchFamily="34" charset="-122"/>
                <a:ea typeface="微软雅黑" panose="020B0503020204020204" pitchFamily="34" charset="-122"/>
              </a:rPr>
              <a:t>个节点都具备</a:t>
            </a:r>
            <a:r>
              <a:rPr lang="en-US" altLang="zh-CN" sz="2400" dirty="0">
                <a:latin typeface="微软雅黑" panose="020B0503020204020204" pitchFamily="34" charset="-122"/>
                <a:ea typeface="微软雅黑" panose="020B0503020204020204" pitchFamily="34" charset="-122"/>
              </a:rPr>
              <a:t>10Gbps</a:t>
            </a:r>
            <a:r>
              <a:rPr lang="zh-CN" altLang="en-US" sz="2400" dirty="0">
                <a:latin typeface="微软雅黑" panose="020B0503020204020204" pitchFamily="34" charset="-122"/>
                <a:ea typeface="微软雅黑" panose="020B0503020204020204" pitchFamily="34" charset="-122"/>
              </a:rPr>
              <a:t>潜在带宽的集群，因为​​没有超过</a:t>
            </a:r>
            <a:r>
              <a:rPr lang="en-US" altLang="zh-CN" sz="2400" dirty="0">
                <a:latin typeface="微软雅黑" panose="020B0503020204020204" pitchFamily="34" charset="-122"/>
                <a:ea typeface="微软雅黑" panose="020B0503020204020204" pitchFamily="34" charset="-122"/>
              </a:rPr>
              <a:t>10G</a:t>
            </a:r>
            <a:r>
              <a:rPr lang="zh-CN" altLang="en-US" sz="2400" dirty="0">
                <a:latin typeface="微软雅黑" panose="020B0503020204020204" pitchFamily="34" charset="-122"/>
                <a:ea typeface="微软雅黑" panose="020B0503020204020204" pitchFamily="34" charset="-122"/>
              </a:rPr>
              <a:t>速率的商用交换机或以太网标准​​</a:t>
            </a:r>
            <a:endParaRPr lang="en-US" altLang="zh-CN" sz="24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​​Fat-Tree </a:t>
            </a:r>
            <a:r>
              <a:rPr lang="zh-CN" altLang="en-US" sz="2400" dirty="0">
                <a:latin typeface="微软雅黑" panose="020B0503020204020204" pitchFamily="34" charset="-122"/>
                <a:ea typeface="微软雅黑" panose="020B0503020204020204" pitchFamily="34" charset="-122"/>
              </a:rPr>
              <a:t>的优势：​​</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扩展性良好​​，总成本下降更快（更早遵循商品化定价趋势）</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无需高速上行链路​​要求</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虽构建同等规模集群成本仍可能极高（超</a:t>
            </a:r>
            <a:r>
              <a:rPr lang="en-US" altLang="zh-CN" sz="2400" dirty="0">
                <a:latin typeface="微软雅黑" panose="020B0503020204020204" pitchFamily="34" charset="-122"/>
                <a:ea typeface="微软雅黑" panose="020B0503020204020204" pitchFamily="34" charset="-122"/>
              </a:rPr>
              <a:t>$6.9</a:t>
            </a:r>
            <a:r>
              <a:rPr lang="zh-CN" altLang="en-US" sz="2400" dirty="0">
                <a:latin typeface="微软雅黑" panose="020B0503020204020204" pitchFamily="34" charset="-122"/>
                <a:ea typeface="微软雅黑" panose="020B0503020204020204" pitchFamily="34" charset="-122"/>
              </a:rPr>
              <a:t>亿），但​​至少在技术上是可行的</a:t>
            </a: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70321" y="1458207"/>
            <a:ext cx="11601956"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298A9655-565A-44E4-8AFE-A4DB7D08B3C4}"/>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2.1.4 Cost</a:t>
            </a:r>
            <a:endParaRPr lang="zh-CN" altLang="en-US" sz="2400"/>
          </a:p>
        </p:txBody>
      </p:sp>
    </p:spTree>
    <p:extLst>
      <p:ext uri="{BB962C8B-B14F-4D97-AF65-F5344CB8AC3E}">
        <p14:creationId xmlns:p14="http://schemas.microsoft.com/office/powerpoint/2010/main" val="1285283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99659-4295-699E-981D-1AF71609941A}"/>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11C2AC62-2866-48FD-991D-331FC39CA71D}"/>
              </a:ext>
            </a:extLst>
          </p:cNvPr>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a:extLst>
              <a:ext uri="{FF2B5EF4-FFF2-40B4-BE49-F238E27FC236}">
                <a16:creationId xmlns:a16="http://schemas.microsoft.com/office/drawing/2014/main" id="{73341E1D-C0E6-1CF9-98CE-E0F7FEA288D1}"/>
              </a:ext>
            </a:extLst>
          </p:cNvPr>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a:extLst>
              <a:ext uri="{FF2B5EF4-FFF2-40B4-BE49-F238E27FC236}">
                <a16:creationId xmlns:a16="http://schemas.microsoft.com/office/drawing/2014/main" id="{487C3E7E-9985-B8DB-C45F-D4B596EEE77D}"/>
              </a:ext>
            </a:extLst>
          </p:cNvPr>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a:extLst>
              <a:ext uri="{FF2B5EF4-FFF2-40B4-BE49-F238E27FC236}">
                <a16:creationId xmlns:a16="http://schemas.microsoft.com/office/drawing/2014/main" id="{8801F949-1D39-38C4-936F-9B04C1779CAC}"/>
              </a:ext>
            </a:extLst>
          </p:cNvPr>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2.1 Current Data Center Network Topologies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7" name="圆角矩形 1">
            <a:extLst>
              <a:ext uri="{FF2B5EF4-FFF2-40B4-BE49-F238E27FC236}">
                <a16:creationId xmlns:a16="http://schemas.microsoft.com/office/drawing/2014/main" id="{15CB167E-7D0B-A51D-603D-B7793C32650D}"/>
              </a:ext>
            </a:extLst>
          </p:cNvPr>
          <p:cNvSpPr>
            <a:spLocks noChangeArrowheads="1"/>
          </p:cNvSpPr>
          <p:nvPr/>
        </p:nvSpPr>
        <p:spPr bwMode="auto">
          <a:xfrm>
            <a:off x="270321" y="1458207"/>
            <a:ext cx="11601956" cy="480215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文本框 9">
            <a:extLst>
              <a:ext uri="{FF2B5EF4-FFF2-40B4-BE49-F238E27FC236}">
                <a16:creationId xmlns:a16="http://schemas.microsoft.com/office/drawing/2014/main" id="{EEC0EA3A-CE42-8F75-C163-373E25E55B7A}"/>
              </a:ext>
            </a:extLst>
          </p:cNvPr>
          <p:cNvSpPr txBox="1"/>
          <p:nvPr/>
        </p:nvSpPr>
        <p:spPr>
          <a:xfrm>
            <a:off x="309411" y="875095"/>
            <a:ext cx="6206066" cy="461665"/>
          </a:xfrm>
          <a:prstGeom prst="rect">
            <a:avLst/>
          </a:prstGeom>
          <a:noFill/>
        </p:spPr>
        <p:txBody>
          <a:bodyPr wrap="square">
            <a:spAutoFit/>
          </a:bodyPr>
          <a:lstStyle/>
          <a:p>
            <a:r>
              <a:rPr lang="en-US" altLang="zh-CN" sz="2400" b="1">
                <a:latin typeface="微软雅黑" panose="020B0503020204020204" pitchFamily="34" charset="-122"/>
                <a:ea typeface="微软雅黑" panose="020B0503020204020204" pitchFamily="34" charset="-122"/>
              </a:rPr>
              <a:t>2.1.4 Cost</a:t>
            </a:r>
            <a:endParaRPr lang="zh-CN" altLang="en-US" sz="2400"/>
          </a:p>
        </p:txBody>
      </p:sp>
      <p:pic>
        <p:nvPicPr>
          <p:cNvPr id="3" name="图片 2">
            <a:extLst>
              <a:ext uri="{FF2B5EF4-FFF2-40B4-BE49-F238E27FC236}">
                <a16:creationId xmlns:a16="http://schemas.microsoft.com/office/drawing/2014/main" id="{DB075A45-35B8-2518-7D2D-F32254226518}"/>
              </a:ext>
            </a:extLst>
          </p:cNvPr>
          <p:cNvPicPr>
            <a:picLocks noChangeAspect="1"/>
          </p:cNvPicPr>
          <p:nvPr/>
        </p:nvPicPr>
        <p:blipFill>
          <a:blip r:embed="rId3"/>
          <a:stretch>
            <a:fillRect/>
          </a:stretch>
        </p:blipFill>
        <p:spPr>
          <a:xfrm>
            <a:off x="1681692" y="1535445"/>
            <a:ext cx="8137717" cy="3380282"/>
          </a:xfrm>
          <a:prstGeom prst="rect">
            <a:avLst/>
          </a:prstGeom>
        </p:spPr>
      </p:pic>
      <p:sp>
        <p:nvSpPr>
          <p:cNvPr id="5" name="文本框 4">
            <a:extLst>
              <a:ext uri="{FF2B5EF4-FFF2-40B4-BE49-F238E27FC236}">
                <a16:creationId xmlns:a16="http://schemas.microsoft.com/office/drawing/2014/main" id="{72633CE4-AD93-4514-A5E6-958133E92A5F}"/>
              </a:ext>
            </a:extLst>
          </p:cNvPr>
          <p:cNvSpPr txBox="1"/>
          <p:nvPr/>
        </p:nvSpPr>
        <p:spPr>
          <a:xfrm>
            <a:off x="270321" y="5037174"/>
            <a:ext cx="11523362" cy="995914"/>
          </a:xfrm>
          <a:prstGeom prst="rect">
            <a:avLst/>
          </a:prstGeom>
          <a:noFill/>
        </p:spPr>
        <p:txBody>
          <a:bodyPr wrap="square">
            <a:spAutoFit/>
          </a:bodyPr>
          <a:lstStyle/>
          <a:p>
            <a:pPr marL="285750" indent="-285750">
              <a:lnSpc>
                <a:spcPts val="37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与依赖昂贵、非商用高端交换机的传统分层架构相比，采用商用交换机搭建的胖树拓扑在网络扩展性和成本效益上都表现出显著且持久的优势</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63153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431028C-E5B5-4A24-94CA-A4AB25FF3560}"/>
              </a:ext>
            </a:extLst>
          </p:cNvPr>
          <p:cNvSpPr txBox="1"/>
          <p:nvPr/>
        </p:nvSpPr>
        <p:spPr>
          <a:xfrm>
            <a:off x="1117601" y="1166842"/>
            <a:ext cx="10329334" cy="4503797"/>
          </a:xfrm>
          <a:prstGeom prst="rect">
            <a:avLst/>
          </a:prstGeom>
          <a:noFill/>
        </p:spPr>
        <p:txBody>
          <a:bodyPr wrap="square" rtlCol="0">
            <a:spAutoFit/>
          </a:bodyPr>
          <a:lstStyle/>
          <a:p>
            <a:pPr algn="ctr">
              <a:lnSpc>
                <a:spcPts val="4320"/>
              </a:lnSpc>
            </a:pPr>
            <a:r>
              <a:rPr lang="en-US" altLang="zh-CN" sz="3600" b="1">
                <a:solidFill>
                  <a:srgbClr val="2F5EB0"/>
                </a:solidFill>
                <a:latin typeface="微软雅黑" panose="020B0503020204020204" pitchFamily="34" charset="-122"/>
                <a:ea typeface="微软雅黑" panose="020B0503020204020204" pitchFamily="34" charset="-122"/>
              </a:rPr>
              <a:t>Outline</a:t>
            </a:r>
            <a:endParaRPr lang="en-US" altLang="zh-CN" sz="3600" b="1">
              <a:solidFill>
                <a:schemeClr val="bg2">
                  <a:lumMod val="75000"/>
                </a:schemeClr>
              </a:solidFill>
              <a:latin typeface="微软雅黑" panose="020B0503020204020204" pitchFamily="34" charset="-122"/>
              <a:ea typeface="微软雅黑" panose="020B0503020204020204" pitchFamily="34" charset="-122"/>
            </a:endParaRP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4320"/>
              </a:lnSpc>
              <a:buFont typeface="+mj-lt"/>
              <a:buAutoNum type="romanUcPeriod"/>
            </a:pPr>
            <a:r>
              <a:rPr lang="en-US" altLang="zh-CN" sz="3600" b="1">
                <a:solidFill>
                  <a:srgbClr val="4472C4"/>
                </a:solidFill>
                <a:latin typeface="微软雅黑" panose="020B0503020204020204" pitchFamily="34" charset="-122"/>
                <a:ea typeface="微软雅黑" panose="020B0503020204020204" pitchFamily="34" charset="-122"/>
              </a:rPr>
              <a:t>Background</a:t>
            </a:r>
          </a:p>
          <a:p>
            <a:pPr lvl="1">
              <a:lnSpc>
                <a:spcPts val="4320"/>
              </a:lnSpc>
            </a:pPr>
            <a:r>
              <a:rPr lang="en-US" altLang="zh-CN" sz="3200" b="1">
                <a:solidFill>
                  <a:schemeClr val="bg2">
                    <a:lumMod val="75000"/>
                  </a:schemeClr>
                </a:solidFill>
                <a:latin typeface="微软雅黑" panose="020B0503020204020204" pitchFamily="34" charset="-122"/>
                <a:ea typeface="微软雅黑" panose="020B0503020204020204" pitchFamily="34" charset="-122"/>
              </a:rPr>
              <a:t>2.1 Current Data Center Network Topologies</a:t>
            </a:r>
          </a:p>
          <a:p>
            <a:pPr lvl="1">
              <a:lnSpc>
                <a:spcPts val="4320"/>
              </a:lnSpc>
            </a:pPr>
            <a:r>
              <a:rPr lang="en-US" altLang="zh-CN" sz="3200" b="1">
                <a:solidFill>
                  <a:srgbClr val="4472C4"/>
                </a:solidFill>
                <a:latin typeface="微软雅黑" panose="020B0503020204020204" pitchFamily="34" charset="-122"/>
                <a:ea typeface="微软雅黑" panose="020B0503020204020204" pitchFamily="34" charset="-122"/>
              </a:rPr>
              <a:t>2.2 Clos Networks/Fat-Trees</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432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6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398183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4068202"/>
            <a:ext cx="11552555" cy="1932709"/>
          </a:xfrm>
          <a:prstGeom prst="rect">
            <a:avLst/>
          </a:prstGeom>
          <a:noFill/>
        </p:spPr>
        <p:txBody>
          <a:bodyPr wrap="square" rtlCol="0">
            <a:spAutoFit/>
          </a:bodyPr>
          <a:lstStyle/>
          <a:p>
            <a:pPr marL="285750" indent="-285750">
              <a:lnSpc>
                <a:spcPts val="37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Clos</a:t>
            </a:r>
            <a:r>
              <a:rPr lang="zh-CN" altLang="en-US" sz="2000" dirty="0">
                <a:latin typeface="微软雅黑" panose="020B0503020204020204" pitchFamily="34" charset="-122"/>
                <a:ea typeface="微软雅黑" panose="020B0503020204020204" pitchFamily="34" charset="-122"/>
              </a:rPr>
              <a:t>网络的基本思想是用多个较小交换单元的多级互联，代替一个端口数极大的交换机</a:t>
            </a:r>
            <a:endParaRPr lang="en-US" altLang="zh-CN" sz="20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Fat-tree​​ </a:t>
            </a:r>
            <a:r>
              <a:rPr lang="zh-CN" altLang="en-US" sz="2000" dirty="0">
                <a:latin typeface="微软雅黑" panose="020B0503020204020204" pitchFamily="34" charset="-122"/>
                <a:ea typeface="微软雅黑" panose="020B0503020204020204" pitchFamily="34" charset="-122"/>
              </a:rPr>
              <a:t>是一种特殊 </a:t>
            </a:r>
            <a:r>
              <a:rPr lang="en-US" altLang="zh-CN" sz="2000" dirty="0">
                <a:latin typeface="微软雅黑" panose="020B0503020204020204" pitchFamily="34" charset="-122"/>
                <a:ea typeface="微软雅黑" panose="020B0503020204020204" pitchFamily="34" charset="-122"/>
              </a:rPr>
              <a:t>Clos </a:t>
            </a:r>
            <a:r>
              <a:rPr lang="zh-CN" altLang="en-US" sz="2000" dirty="0">
                <a:latin typeface="微软雅黑" panose="020B0503020204020204" pitchFamily="34" charset="-122"/>
                <a:ea typeface="微软雅黑" panose="020B0503020204020204" pitchFamily="34" charset="-122"/>
              </a:rPr>
              <a:t>网络拓扑（即</a:t>
            </a:r>
            <a:r>
              <a:rPr lang="zh-CN" altLang="en-US" sz="2000" b="1" dirty="0">
                <a:latin typeface="微软雅黑" panose="020B0503020204020204" pitchFamily="34" charset="-122"/>
                <a:ea typeface="微软雅黑" panose="020B0503020204020204" pitchFamily="34" charset="-122"/>
              </a:rPr>
              <a:t>分层拓扑架构</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核心目标是使用​​商用以太网交换机​​构建高性能的网络互联</a:t>
            </a:r>
            <a:endParaRPr lang="en-US" altLang="zh-CN" sz="2000" dirty="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与传统网络的关键差异是，上层不把流量压缩到更窄的根链路，而是提供大量并行等价通路</a:t>
            </a:r>
            <a:endParaRPr lang="en-US" altLang="zh-CN" sz="20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910855"/>
            <a:ext cx="11601956" cy="212858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46778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797269"/>
            <a:ext cx="11200033" cy="2589427"/>
          </a:xfrm>
          <a:prstGeom prst="rect">
            <a:avLst/>
          </a:prstGeom>
          <a:noFill/>
        </p:spPr>
        <p:txBody>
          <a:bodyPr wrap="square" rtlCol="0">
            <a:spAutoFit/>
          </a:bodyPr>
          <a:lstStyle/>
          <a:p>
            <a:pPr>
              <a:lnSpc>
                <a:spcPts val="4000"/>
              </a:lnSpc>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k-ary Fat-Tree </a:t>
            </a:r>
            <a:r>
              <a:rPr lang="zh-CN" altLang="en-US" sz="2400" b="1" dirty="0">
                <a:latin typeface="微软雅黑" panose="020B0503020204020204" pitchFamily="34" charset="-122"/>
                <a:ea typeface="微软雅黑" panose="020B0503020204020204" pitchFamily="34" charset="-122"/>
              </a:rPr>
              <a:t>的结构组织​</a:t>
            </a:r>
            <a:endParaRPr lang="en-US" altLang="zh-CN" sz="24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网络结构由一个</a:t>
            </a:r>
            <a:r>
              <a:rPr lang="zh-CN" altLang="en-US" sz="2000" b="1" dirty="0">
                <a:latin typeface="微软雅黑" panose="020B0503020204020204" pitchFamily="34" charset="-122"/>
                <a:ea typeface="微软雅黑" panose="020B0503020204020204" pitchFamily="34" charset="-122"/>
              </a:rPr>
              <a:t>核心参数 ​​</a:t>
            </a:r>
            <a:r>
              <a:rPr lang="en-US" altLang="zh-CN" sz="2000" b="1"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（通常为交换机端口数）决定。网络整体呈​​对称的、分层级的树形结构，整个网络有</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a:t>
            </a:r>
            <a:r>
              <a:rPr lang="en-US" altLang="zh-CN" sz="2000" dirty="0">
                <a:latin typeface="微软雅黑" panose="020B0503020204020204" pitchFamily="34" charset="-122"/>
                <a:ea typeface="微软雅黑" panose="020B0503020204020204" pitchFamily="34" charset="-122"/>
              </a:rPr>
              <a:t>pod</a:t>
            </a:r>
            <a:r>
              <a:rPr lang="zh-CN" altLang="en-US" sz="2000" dirty="0">
                <a:latin typeface="微软雅黑" panose="020B0503020204020204" pitchFamily="34" charset="-122"/>
                <a:ea typeface="微软雅黑" panose="020B0503020204020204" pitchFamily="34" charset="-122"/>
              </a:rPr>
              <a:t>，每个</a:t>
            </a:r>
            <a:r>
              <a:rPr lang="en-US" altLang="zh-CN" sz="2000" dirty="0">
                <a:latin typeface="微软雅黑" panose="020B0503020204020204" pitchFamily="34" charset="-122"/>
                <a:ea typeface="微软雅黑" panose="020B0503020204020204" pitchFamily="34" charset="-122"/>
              </a:rPr>
              <a:t>pod</a:t>
            </a:r>
            <a:r>
              <a:rPr lang="zh-CN" altLang="en-US" sz="2000" dirty="0">
                <a:latin typeface="微软雅黑" panose="020B0503020204020204" pitchFamily="34" charset="-122"/>
                <a:ea typeface="微软雅黑" panose="020B0503020204020204" pitchFamily="34" charset="-122"/>
              </a:rPr>
              <a:t>有</a:t>
            </a:r>
            <a:r>
              <a:rPr lang="en-US" altLang="zh-CN" sz="2000" dirty="0">
                <a:latin typeface="微软雅黑" panose="020B0503020204020204" pitchFamily="34" charset="-122"/>
                <a:ea typeface="微软雅黑" panose="020B0503020204020204" pitchFamily="34" charset="-122"/>
              </a:rPr>
              <a:t>k/2</a:t>
            </a:r>
            <a:r>
              <a:rPr lang="zh-CN" altLang="en-US" sz="2000" dirty="0">
                <a:latin typeface="微软雅黑" panose="020B0503020204020204" pitchFamily="34" charset="-122"/>
                <a:ea typeface="微软雅黑" panose="020B0503020204020204" pitchFamily="34" charset="-122"/>
              </a:rPr>
              <a:t>台</a:t>
            </a:r>
            <a:r>
              <a:rPr lang="en-US" altLang="zh-CN" sz="2000" dirty="0">
                <a:latin typeface="微软雅黑" panose="020B0503020204020204" pitchFamily="34" charset="-122"/>
                <a:ea typeface="微软雅黑" panose="020B0503020204020204" pitchFamily="34" charset="-122"/>
              </a:rPr>
              <a:t>edge</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k/2</a:t>
            </a:r>
            <a:r>
              <a:rPr lang="zh-CN" altLang="en-US" sz="2000" dirty="0">
                <a:latin typeface="微软雅黑" panose="020B0503020204020204" pitchFamily="34" charset="-122"/>
                <a:ea typeface="微软雅黑" panose="020B0503020204020204" pitchFamily="34" charset="-122"/>
              </a:rPr>
              <a:t>台</a:t>
            </a:r>
            <a:r>
              <a:rPr lang="en-US" altLang="zh-CN" sz="2000" dirty="0">
                <a:latin typeface="微软雅黑" panose="020B0503020204020204" pitchFamily="34" charset="-122"/>
                <a:ea typeface="微软雅黑" panose="020B0503020204020204" pitchFamily="34" charset="-122"/>
              </a:rPr>
              <a:t>aggregation</a:t>
            </a:r>
            <a:r>
              <a:rPr lang="zh-CN" altLang="en-US" sz="2000" dirty="0">
                <a:latin typeface="微软雅黑" panose="020B0503020204020204" pitchFamily="34" charset="-122"/>
                <a:ea typeface="微软雅黑" panose="020B0503020204020204" pitchFamily="34" charset="-122"/>
              </a:rPr>
              <a:t>交换机​</a:t>
            </a:r>
            <a:endParaRPr lang="en-US" altLang="zh-CN" sz="20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关键特征：​​ 从树根（核心层）到树叶（边缘层），​​链路带宽逐层聚合，而非传统树结构的逐层收敛​​，从而消除了网络瓶颈</a:t>
            </a:r>
            <a:endParaRPr lang="en-US" altLang="zh-CN" sz="20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836592"/>
            <a:ext cx="11601956" cy="255567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1113036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797269"/>
            <a:ext cx="11200033" cy="2602123"/>
          </a:xfrm>
          <a:prstGeom prst="rect">
            <a:avLst/>
          </a:prstGeom>
          <a:noFill/>
        </p:spPr>
        <p:txBody>
          <a:bodyPr wrap="square" rtlCol="0">
            <a:spAutoFit/>
          </a:bodyPr>
          <a:lstStyle/>
          <a:p>
            <a:pPr>
              <a:lnSpc>
                <a:spcPts val="40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k-</a:t>
            </a:r>
            <a:r>
              <a:rPr lang="en-US" altLang="zh-CN" sz="2400" b="1" err="1">
                <a:latin typeface="微软雅黑" panose="020B0503020204020204" pitchFamily="34" charset="-122"/>
                <a:ea typeface="微软雅黑" panose="020B0503020204020204" pitchFamily="34" charset="-122"/>
              </a:rPr>
              <a:t>ary</a:t>
            </a:r>
            <a:r>
              <a:rPr lang="en-US" altLang="zh-CN" sz="2400" b="1">
                <a:latin typeface="微软雅黑" panose="020B0503020204020204" pitchFamily="34" charset="-122"/>
                <a:ea typeface="微软雅黑" panose="020B0503020204020204" pitchFamily="34" charset="-122"/>
              </a:rPr>
              <a:t> Fat-Tree </a:t>
            </a:r>
            <a:r>
              <a:rPr lang="zh-CN" altLang="en-US" sz="2400" b="1">
                <a:latin typeface="微软雅黑" panose="020B0503020204020204" pitchFamily="34" charset="-122"/>
                <a:ea typeface="微软雅黑" panose="020B0503020204020204" pitchFamily="34" charset="-122"/>
              </a:rPr>
              <a:t>的结构组织​</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有 </a:t>
            </a:r>
            <a:r>
              <a:rPr lang="en-US" altLang="zh-CN" sz="2400">
                <a:latin typeface="微软雅黑" panose="020B0503020204020204" pitchFamily="34" charset="-122"/>
                <a:ea typeface="微软雅黑" panose="020B0503020204020204" pitchFamily="34" charset="-122"/>
              </a:rPr>
              <a:t>k </a:t>
            </a:r>
            <a:r>
              <a:rPr lang="zh-CN" altLang="en-US" sz="2400">
                <a:latin typeface="微软雅黑" panose="020B0503020204020204" pitchFamily="34" charset="-122"/>
                <a:ea typeface="微软雅黑" panose="020B0503020204020204" pitchFamily="34" charset="-122"/>
              </a:rPr>
              <a:t>个</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，每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内有两层，每层有 </a:t>
            </a:r>
            <a:r>
              <a:rPr lang="en-US" altLang="zh-CN" sz="2400">
                <a:latin typeface="微软雅黑" panose="020B0503020204020204" pitchFamily="34" charset="-122"/>
                <a:ea typeface="微软雅黑" panose="020B0503020204020204" pitchFamily="34" charset="-122"/>
              </a:rPr>
              <a:t>k/2 </a:t>
            </a:r>
            <a:r>
              <a:rPr lang="zh-CN" altLang="en-US" sz="2400">
                <a:latin typeface="微软雅黑" panose="020B0503020204020204" pitchFamily="34" charset="-122"/>
                <a:ea typeface="微软雅黑" panose="020B0503020204020204" pitchFamily="34" charset="-122"/>
              </a:rPr>
              <a:t>个交换机</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对于 </a:t>
            </a:r>
            <a:r>
              <a:rPr lang="en-US" altLang="zh-CN" sz="2400">
                <a:latin typeface="微软雅黑" panose="020B0503020204020204" pitchFamily="34" charset="-122"/>
                <a:ea typeface="微软雅黑" panose="020B0503020204020204" pitchFamily="34" charset="-122"/>
              </a:rPr>
              <a:t>edge layer </a:t>
            </a:r>
            <a:r>
              <a:rPr lang="zh-CN" altLang="en-US" sz="2400">
                <a:latin typeface="微软雅黑" panose="020B0503020204020204" pitchFamily="34" charset="-122"/>
                <a:ea typeface="微软雅黑" panose="020B0503020204020204" pitchFamily="34" charset="-122"/>
              </a:rPr>
              <a:t>中的每个</a:t>
            </a:r>
            <a:r>
              <a:rPr lang="en-US" altLang="zh-CN" sz="2400">
                <a:latin typeface="微软雅黑" panose="020B0503020204020204" pitchFamily="34" charset="-122"/>
                <a:ea typeface="微软雅黑" panose="020B0503020204020204" pitchFamily="34" charset="-122"/>
              </a:rPr>
              <a:t> k-port </a:t>
            </a:r>
            <a:r>
              <a:rPr lang="zh-CN" altLang="en-US" sz="2400">
                <a:latin typeface="微软雅黑" panose="020B0503020204020204" pitchFamily="34" charset="-122"/>
                <a:ea typeface="微软雅黑" panose="020B0503020204020204" pitchFamily="34" charset="-122"/>
              </a:rPr>
              <a:t>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有 </a:t>
            </a:r>
            <a:r>
              <a:rPr lang="en-US" altLang="zh-CN" sz="2400">
                <a:latin typeface="微软雅黑" panose="020B0503020204020204" pitchFamily="34" charset="-122"/>
                <a:ea typeface="微软雅黑" panose="020B0503020204020204" pitchFamily="34" charset="-122"/>
              </a:rPr>
              <a:t>k/2 </a:t>
            </a:r>
            <a:r>
              <a:rPr lang="zh-CN" altLang="en-US" sz="2400">
                <a:latin typeface="微软雅黑" panose="020B0503020204020204" pitchFamily="34" charset="-122"/>
                <a:ea typeface="微软雅黑" panose="020B0503020204020204" pitchFamily="34" charset="-122"/>
              </a:rPr>
              <a:t>个端口直接连到主机 </a:t>
            </a:r>
            <a:r>
              <a:rPr lang="en-US" altLang="zh-CN" sz="2400">
                <a:latin typeface="微软雅黑" panose="020B0503020204020204" pitchFamily="34" charset="-122"/>
                <a:ea typeface="微软雅黑" panose="020B0503020204020204" pitchFamily="34" charset="-122"/>
              </a:rPr>
              <a:t>--&gt;</a:t>
            </a:r>
            <a:r>
              <a:rPr lang="zh-CN" altLang="en-US" sz="2400">
                <a:latin typeface="微软雅黑" panose="020B0503020204020204" pitchFamily="34" charset="-122"/>
                <a:ea typeface="微软雅黑" panose="020B0503020204020204" pitchFamily="34" charset="-122"/>
              </a:rPr>
              <a:t>可以算出，整个拓扑中主机数量为 </a:t>
            </a:r>
            <a:r>
              <a:rPr lang="en-US" altLang="zh-CN" sz="2400">
                <a:latin typeface="微软雅黑" panose="020B0503020204020204" pitchFamily="34" charset="-122"/>
                <a:ea typeface="微软雅黑" panose="020B0503020204020204" pitchFamily="34" charset="-122"/>
              </a:rPr>
              <a:t>k</a:t>
            </a:r>
            <a:r>
              <a:rPr lang="en-US" altLang="zh-CN" sz="2400" baseline="30000">
                <a:latin typeface="微软雅黑" panose="020B0503020204020204" pitchFamily="34" charset="-122"/>
                <a:ea typeface="微软雅黑" panose="020B0503020204020204" pitchFamily="34" charset="-122"/>
              </a:rPr>
              <a:t>3</a:t>
            </a:r>
            <a:r>
              <a:rPr lang="en-US" altLang="zh-CN" sz="2400">
                <a:latin typeface="微软雅黑" panose="020B0503020204020204" pitchFamily="34" charset="-122"/>
                <a:ea typeface="微软雅黑" panose="020B0503020204020204" pitchFamily="34" charset="-122"/>
              </a:rPr>
              <a:t>/4</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其余 </a:t>
            </a:r>
            <a:r>
              <a:rPr lang="en-US" altLang="zh-CN" sz="2400">
                <a:latin typeface="微软雅黑" panose="020B0503020204020204" pitchFamily="34" charset="-122"/>
                <a:ea typeface="微软雅黑" panose="020B0503020204020204" pitchFamily="34" charset="-122"/>
              </a:rPr>
              <a:t>k/2 </a:t>
            </a:r>
            <a:r>
              <a:rPr lang="zh-CN" altLang="en-US" sz="2400">
                <a:latin typeface="微软雅黑" panose="020B0503020204020204" pitchFamily="34" charset="-122"/>
                <a:ea typeface="微软雅黑" panose="020B0503020204020204" pitchFamily="34" charset="-122"/>
              </a:rPr>
              <a:t>个端口向上连接到位于 </a:t>
            </a:r>
            <a:r>
              <a:rPr lang="en-US" altLang="zh-CN" sz="2400">
                <a:latin typeface="微软雅黑" panose="020B0503020204020204" pitchFamily="34" charset="-122"/>
                <a:ea typeface="微软雅黑" panose="020B0503020204020204" pitchFamily="34" charset="-122"/>
              </a:rPr>
              <a:t>aggregation layer </a:t>
            </a:r>
            <a:r>
              <a:rPr lang="zh-CN" altLang="en-US" sz="2400">
                <a:latin typeface="微软雅黑" panose="020B0503020204020204" pitchFamily="34" charset="-122"/>
                <a:ea typeface="微软雅黑" panose="020B0503020204020204" pitchFamily="34" charset="-122"/>
              </a:rPr>
              <a:t>的 </a:t>
            </a:r>
            <a:r>
              <a:rPr lang="en-US" altLang="zh-CN" sz="2400">
                <a:latin typeface="微软雅黑" panose="020B0503020204020204" pitchFamily="34" charset="-122"/>
                <a:ea typeface="微软雅黑" panose="020B0503020204020204" pitchFamily="34" charset="-122"/>
              </a:rPr>
              <a:t>k/2 </a:t>
            </a:r>
            <a:r>
              <a:rPr lang="zh-CN" altLang="en-US" sz="2400">
                <a:latin typeface="微软雅黑" panose="020B0503020204020204" pitchFamily="34" charset="-122"/>
                <a:ea typeface="微软雅黑" panose="020B0503020204020204" pitchFamily="34" charset="-122"/>
              </a:rPr>
              <a:t>个交换机</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836592"/>
            <a:ext cx="11601956" cy="255567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1391220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797269"/>
            <a:ext cx="11200033" cy="2602123"/>
          </a:xfrm>
          <a:prstGeom prst="rect">
            <a:avLst/>
          </a:prstGeom>
          <a:noFill/>
        </p:spPr>
        <p:txBody>
          <a:bodyPr wrap="square" rtlCol="0">
            <a:spAutoFit/>
          </a:bodyPr>
          <a:lstStyle/>
          <a:p>
            <a:pPr>
              <a:lnSpc>
                <a:spcPts val="4000"/>
              </a:lnSpc>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k-ary Fat-Tree </a:t>
            </a:r>
            <a:r>
              <a:rPr lang="zh-CN" altLang="en-US" sz="2400" b="1" dirty="0">
                <a:latin typeface="微软雅黑" panose="020B0503020204020204" pitchFamily="34" charset="-122"/>
                <a:ea typeface="微软雅黑" panose="020B0503020204020204" pitchFamily="34" charset="-122"/>
              </a:rPr>
              <a:t>的结构组织​</a:t>
            </a:r>
            <a:endParaRPr lang="en-US" altLang="zh-CN" sz="24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对于 </a:t>
            </a:r>
            <a:r>
              <a:rPr lang="en-US" altLang="zh-CN" sz="2400" dirty="0">
                <a:latin typeface="微软雅黑" panose="020B0503020204020204" pitchFamily="34" charset="-122"/>
                <a:ea typeface="微软雅黑" panose="020B0503020204020204" pitchFamily="34" charset="-122"/>
              </a:rPr>
              <a:t>aggregation layer </a:t>
            </a:r>
            <a:r>
              <a:rPr lang="zh-CN" altLang="en-US" sz="2400" dirty="0">
                <a:latin typeface="微软雅黑" panose="020B0503020204020204" pitchFamily="34" charset="-122"/>
                <a:ea typeface="微软雅黑" panose="020B0503020204020204" pitchFamily="34" charset="-122"/>
              </a:rPr>
              <a:t>中的每个</a:t>
            </a:r>
            <a:r>
              <a:rPr lang="en-US" altLang="zh-CN" sz="2400" dirty="0">
                <a:latin typeface="微软雅黑" panose="020B0503020204020204" pitchFamily="34" charset="-122"/>
                <a:ea typeface="微软雅黑" panose="020B0503020204020204" pitchFamily="34" charset="-122"/>
              </a:rPr>
              <a:t> k-port </a:t>
            </a:r>
            <a:r>
              <a:rPr lang="zh-CN" altLang="en-US" sz="2400" dirty="0">
                <a:latin typeface="微软雅黑" panose="020B0503020204020204" pitchFamily="34" charset="-122"/>
                <a:ea typeface="微软雅黑" panose="020B0503020204020204" pitchFamily="34" charset="-122"/>
              </a:rPr>
              <a:t>交换机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有 </a:t>
            </a:r>
            <a:r>
              <a:rPr lang="en-US" altLang="zh-CN" sz="2400" dirty="0">
                <a:latin typeface="微软雅黑" panose="020B0503020204020204" pitchFamily="34" charset="-122"/>
                <a:ea typeface="微软雅黑" panose="020B0503020204020204" pitchFamily="34" charset="-122"/>
              </a:rPr>
              <a:t>k/2 </a:t>
            </a:r>
            <a:r>
              <a:rPr lang="zh-CN" altLang="en-US" sz="2400" dirty="0">
                <a:latin typeface="微软雅黑" panose="020B0503020204020204" pitchFamily="34" charset="-122"/>
                <a:ea typeface="微软雅黑" panose="020B0503020204020204" pitchFamily="34" charset="-122"/>
              </a:rPr>
              <a:t>个端口向下连，其余 </a:t>
            </a:r>
            <a:r>
              <a:rPr lang="en-US" altLang="zh-CN" sz="2400" dirty="0">
                <a:latin typeface="微软雅黑" panose="020B0503020204020204" pitchFamily="34" charset="-122"/>
                <a:ea typeface="微软雅黑" panose="020B0503020204020204" pitchFamily="34" charset="-122"/>
              </a:rPr>
              <a:t>k/2 </a:t>
            </a:r>
            <a:r>
              <a:rPr lang="zh-CN" altLang="en-US" sz="2400" dirty="0">
                <a:latin typeface="微软雅黑" panose="020B0503020204020204" pitchFamily="34" charset="-122"/>
                <a:ea typeface="微软雅黑" panose="020B0503020204020204" pitchFamily="34" charset="-122"/>
              </a:rPr>
              <a:t>个端口向上连到 </a:t>
            </a:r>
            <a:r>
              <a:rPr lang="en-US" altLang="zh-CN" sz="2400" dirty="0">
                <a:latin typeface="微软雅黑" panose="020B0503020204020204" pitchFamily="34" charset="-122"/>
                <a:ea typeface="微软雅黑" panose="020B0503020204020204" pitchFamily="34" charset="-122"/>
              </a:rPr>
              <a:t>core</a:t>
            </a: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每台</a:t>
            </a:r>
            <a:r>
              <a:rPr lang="en-US" altLang="zh-CN" sz="2400" dirty="0">
                <a:latin typeface="微软雅黑" panose="020B0503020204020204" pitchFamily="34" charset="-122"/>
                <a:ea typeface="微软雅黑" panose="020B0503020204020204" pitchFamily="34" charset="-122"/>
              </a:rPr>
              <a:t>core</a:t>
            </a:r>
            <a:r>
              <a:rPr lang="zh-CN" altLang="en-US" sz="2400" dirty="0">
                <a:latin typeface="微软雅黑" panose="020B0503020204020204" pitchFamily="34" charset="-122"/>
                <a:ea typeface="微软雅黑" panose="020B0503020204020204" pitchFamily="34" charset="-122"/>
              </a:rPr>
              <a:t>有</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个端口分别连接到</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个</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core</a:t>
            </a:r>
            <a:r>
              <a:rPr lang="zh-CN" altLang="en-US" sz="2400" dirty="0">
                <a:latin typeface="微软雅黑" panose="020B0503020204020204" pitchFamily="34" charset="-122"/>
                <a:ea typeface="微软雅黑" panose="020B0503020204020204" pitchFamily="34" charset="-122"/>
              </a:rPr>
              <a:t>的总端口数要覆盖所有</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的的上行端口总数（</a:t>
            </a:r>
            <a:r>
              <a:rPr lang="en-US" altLang="zh-CN" sz="2400" dirty="0">
                <a:latin typeface="微软雅黑" panose="020B0503020204020204" pitchFamily="34" charset="-122"/>
                <a:ea typeface="微软雅黑" panose="020B0503020204020204" pitchFamily="34" charset="-122"/>
              </a:rPr>
              <a:t>k*k/2*k/2</a:t>
            </a:r>
            <a:r>
              <a:rPr lang="zh-CN" altLang="en-US" sz="2400" dirty="0">
                <a:latin typeface="微软雅黑" panose="020B0503020204020204" pitchFamily="34" charset="-122"/>
                <a:ea typeface="微软雅黑" panose="020B0503020204020204" pitchFamily="34" charset="-122"/>
              </a:rPr>
              <a:t>），由此可得 </a:t>
            </a:r>
            <a:r>
              <a:rPr lang="en-US" altLang="zh-CN" sz="2400" dirty="0">
                <a:latin typeface="微软雅黑" panose="020B0503020204020204" pitchFamily="34" charset="-122"/>
                <a:ea typeface="微软雅黑" panose="020B0503020204020204" pitchFamily="34" charset="-122"/>
              </a:rPr>
              <a:t>core </a:t>
            </a:r>
            <a:r>
              <a:rPr lang="zh-CN" altLang="en-US" sz="2400" dirty="0">
                <a:latin typeface="微软雅黑" panose="020B0503020204020204" pitchFamily="34" charset="-122"/>
                <a:ea typeface="微软雅黑" panose="020B0503020204020204" pitchFamily="34" charset="-122"/>
              </a:rPr>
              <a:t>交换机数量为 </a:t>
            </a:r>
            <a:r>
              <a:rPr lang="en-US" altLang="zh-CN" sz="2400" dirty="0">
                <a:latin typeface="微软雅黑" panose="020B0503020204020204" pitchFamily="34" charset="-122"/>
                <a:ea typeface="微软雅黑" panose="020B0503020204020204" pitchFamily="34" charset="-122"/>
              </a:rPr>
              <a:t>(k/2)</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 </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836592"/>
            <a:ext cx="11601956" cy="255567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3503871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797269"/>
            <a:ext cx="11432489" cy="3022109"/>
          </a:xfrm>
          <a:prstGeom prst="rect">
            <a:avLst/>
          </a:prstGeom>
          <a:noFill/>
        </p:spPr>
        <p:txBody>
          <a:bodyPr wrap="square" rtlCol="0">
            <a:spAutoFit/>
          </a:bodyPr>
          <a:lstStyle/>
          <a:p>
            <a:pPr>
              <a:lnSpc>
                <a:spcPts val="3300"/>
              </a:lnSpc>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k-ary Fat-Tree </a:t>
            </a:r>
            <a:r>
              <a:rPr lang="zh-CN" altLang="en-US" sz="2400" b="1" dirty="0">
                <a:latin typeface="微软雅黑" panose="020B0503020204020204" pitchFamily="34" charset="-122"/>
                <a:ea typeface="微软雅黑" panose="020B0503020204020204" pitchFamily="34" charset="-122"/>
              </a:rPr>
              <a:t>的结构组织​</a:t>
            </a:r>
            <a:endParaRPr lang="en-US" altLang="zh-CN" sz="2400" dirty="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对于 </a:t>
            </a:r>
            <a:r>
              <a:rPr lang="en-US" altLang="zh-CN" sz="2400" dirty="0">
                <a:latin typeface="微软雅黑" panose="020B0503020204020204" pitchFamily="34" charset="-122"/>
                <a:ea typeface="微软雅黑" panose="020B0503020204020204" pitchFamily="34" charset="-122"/>
              </a:rPr>
              <a:t>core </a:t>
            </a:r>
            <a:r>
              <a:rPr lang="zh-CN" altLang="en-US" sz="2400" dirty="0">
                <a:latin typeface="微软雅黑" panose="020B0503020204020204" pitchFamily="34" charset="-122"/>
                <a:ea typeface="微软雅黑" panose="020B0503020204020204" pitchFamily="34" charset="-122"/>
              </a:rPr>
              <a:t>交换机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每个端口向下连接到一个 </a:t>
            </a:r>
            <a:r>
              <a:rPr lang="en-US" altLang="zh-CN" sz="2400" dirty="0">
                <a:latin typeface="微软雅黑" panose="020B0503020204020204" pitchFamily="34" charset="-122"/>
                <a:ea typeface="微软雅黑" panose="020B0503020204020204" pitchFamily="34" charset="-122"/>
              </a:rPr>
              <a:t>pod </a:t>
            </a:r>
            <a:r>
              <a:rPr lang="zh-CN" altLang="en-US" sz="2400" dirty="0">
                <a:latin typeface="微软雅黑" panose="020B0503020204020204" pitchFamily="34" charset="-122"/>
                <a:ea typeface="微软雅黑" panose="020B0503020204020204" pitchFamily="34" charset="-122"/>
              </a:rPr>
              <a:t>内的某台交换机，第 </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个端口连接到第 </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 个 </a:t>
            </a:r>
            <a:r>
              <a:rPr lang="en-US" altLang="zh-CN" sz="2400" dirty="0">
                <a:latin typeface="微软雅黑" panose="020B0503020204020204" pitchFamily="34" charset="-122"/>
                <a:ea typeface="微软雅黑" panose="020B0503020204020204" pitchFamily="34" charset="-122"/>
              </a:rPr>
              <a:t>pod</a:t>
            </a:r>
          </a:p>
          <a:p>
            <a:pPr marL="285750"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跨 </a:t>
            </a:r>
            <a:r>
              <a:rPr lang="en-US" altLang="zh-CN" sz="2400" dirty="0">
                <a:latin typeface="微软雅黑" panose="020B0503020204020204" pitchFamily="34" charset="-122"/>
                <a:ea typeface="微软雅黑" panose="020B0503020204020204" pitchFamily="34" charset="-122"/>
              </a:rPr>
              <a:t>pod </a:t>
            </a:r>
            <a:r>
              <a:rPr lang="zh-CN" altLang="en-US" sz="2400" dirty="0">
                <a:latin typeface="微软雅黑" panose="020B0503020204020204" pitchFamily="34" charset="-122"/>
                <a:ea typeface="微软雅黑" panose="020B0503020204020204" pitchFamily="34" charset="-122"/>
              </a:rPr>
              <a:t>主机间最短路的数量（ </a:t>
            </a:r>
            <a:r>
              <a:rPr lang="zh-CN" altLang="en-US" sz="2400" dirty="0">
                <a:solidFill>
                  <a:srgbClr val="FF0000"/>
                </a:solidFill>
                <a:latin typeface="微软雅黑" panose="020B0503020204020204" pitchFamily="34" charset="-122"/>
                <a:ea typeface="微软雅黑" panose="020B0503020204020204" pitchFamily="34" charset="-122"/>
              </a:rPr>
              <a:t>和 </a:t>
            </a:r>
            <a:r>
              <a:rPr lang="en-US" altLang="zh-CN" sz="2400" dirty="0">
                <a:solidFill>
                  <a:srgbClr val="FF0000"/>
                </a:solidFill>
                <a:latin typeface="微软雅黑" panose="020B0503020204020204" pitchFamily="34" charset="-122"/>
                <a:ea typeface="微软雅黑" panose="020B0503020204020204" pitchFamily="34" charset="-122"/>
              </a:rPr>
              <a:t>core </a:t>
            </a:r>
            <a:r>
              <a:rPr lang="zh-CN" altLang="en-US" sz="2400" dirty="0">
                <a:solidFill>
                  <a:srgbClr val="FF0000"/>
                </a:solidFill>
                <a:latin typeface="微软雅黑" panose="020B0503020204020204" pitchFamily="34" charset="-122"/>
                <a:ea typeface="微软雅黑" panose="020B0503020204020204" pitchFamily="34" charset="-122"/>
              </a:rPr>
              <a:t>交换机数量相同</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(k/2)</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：源主机所在的</a:t>
            </a:r>
            <a:r>
              <a:rPr lang="en-US" altLang="zh-CN" sz="2400" dirty="0">
                <a:latin typeface="微软雅黑" panose="020B0503020204020204" pitchFamily="34" charset="-122"/>
                <a:ea typeface="微软雅黑" panose="020B0503020204020204" pitchFamily="34" charset="-122"/>
              </a:rPr>
              <a:t>edge</a:t>
            </a:r>
            <a:r>
              <a:rPr lang="zh-CN" altLang="en-US" sz="2400" dirty="0">
                <a:latin typeface="微软雅黑" panose="020B0503020204020204" pitchFamily="34" charset="-122"/>
                <a:ea typeface="微软雅黑" panose="020B0503020204020204" pitchFamily="34" charset="-122"/>
              </a:rPr>
              <a:t>可以选择</a:t>
            </a:r>
            <a:r>
              <a:rPr lang="en-US" altLang="zh-CN" sz="2400" dirty="0">
                <a:latin typeface="微软雅黑" panose="020B0503020204020204" pitchFamily="34" charset="-122"/>
                <a:ea typeface="微软雅黑" panose="020B0503020204020204" pitchFamily="34" charset="-122"/>
              </a:rPr>
              <a:t>k/2</a:t>
            </a:r>
            <a:r>
              <a:rPr lang="zh-CN" altLang="en-US" sz="2400" dirty="0">
                <a:latin typeface="微软雅黑" panose="020B0503020204020204" pitchFamily="34" charset="-122"/>
                <a:ea typeface="微软雅黑" panose="020B0503020204020204" pitchFamily="34" charset="-122"/>
              </a:rPr>
              <a:t>台</a:t>
            </a:r>
            <a:r>
              <a:rPr lang="en-US" altLang="zh-CN" sz="2400" dirty="0">
                <a:latin typeface="微软雅黑" panose="020B0503020204020204" pitchFamily="34" charset="-122"/>
                <a:ea typeface="微软雅黑" panose="020B0503020204020204" pitchFamily="34" charset="-122"/>
              </a:rPr>
              <a:t>aggregation</a:t>
            </a:r>
            <a:r>
              <a:rPr lang="zh-CN" altLang="en-US" sz="2400" dirty="0">
                <a:latin typeface="微软雅黑" panose="020B0503020204020204" pitchFamily="34" charset="-122"/>
                <a:ea typeface="微软雅黑" panose="020B0503020204020204" pitchFamily="34" charset="-122"/>
              </a:rPr>
              <a:t>中的</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台，该</a:t>
            </a:r>
            <a:r>
              <a:rPr lang="en-US" altLang="zh-CN" sz="2400" dirty="0">
                <a:latin typeface="微软雅黑" panose="020B0503020204020204" pitchFamily="34" charset="-122"/>
                <a:ea typeface="微软雅黑" panose="020B0503020204020204" pitchFamily="34" charset="-122"/>
              </a:rPr>
              <a:t>aggregation</a:t>
            </a:r>
            <a:r>
              <a:rPr lang="zh-CN" altLang="en-US" sz="2400" dirty="0">
                <a:latin typeface="微软雅黑" panose="020B0503020204020204" pitchFamily="34" charset="-122"/>
                <a:ea typeface="微软雅黑" panose="020B0503020204020204" pitchFamily="34" charset="-122"/>
              </a:rPr>
              <a:t>又可以选择</a:t>
            </a:r>
            <a:r>
              <a:rPr lang="en-US" altLang="zh-CN" sz="2400" dirty="0">
                <a:latin typeface="微软雅黑" panose="020B0503020204020204" pitchFamily="34" charset="-122"/>
                <a:ea typeface="微软雅黑" panose="020B0503020204020204" pitchFamily="34" charset="-122"/>
              </a:rPr>
              <a:t>k/2</a:t>
            </a:r>
            <a:r>
              <a:rPr lang="zh-CN" altLang="en-US" sz="2400" dirty="0">
                <a:latin typeface="微软雅黑" panose="020B0503020204020204" pitchFamily="34" charset="-122"/>
                <a:ea typeface="微软雅黑" panose="020B0503020204020204" pitchFamily="34" charset="-122"/>
              </a:rPr>
              <a:t>台不同的</a:t>
            </a:r>
            <a:r>
              <a:rPr lang="en-US" altLang="zh-CN" sz="2400" dirty="0">
                <a:latin typeface="微软雅黑" panose="020B0503020204020204" pitchFamily="34" charset="-122"/>
                <a:ea typeface="微软雅黑" panose="020B0503020204020204" pitchFamily="34" charset="-122"/>
              </a:rPr>
              <a:t>core</a:t>
            </a:r>
            <a:r>
              <a:rPr lang="zh-CN" altLang="en-US" sz="2400" dirty="0">
                <a:latin typeface="微软雅黑" panose="020B0503020204020204" pitchFamily="34" charset="-122"/>
                <a:ea typeface="微软雅黑" panose="020B0503020204020204" pitchFamily="34" charset="-122"/>
              </a:rPr>
              <a:t>，由</a:t>
            </a:r>
            <a:r>
              <a:rPr lang="en-US" altLang="zh-CN" sz="2400" dirty="0">
                <a:latin typeface="微软雅黑" panose="020B0503020204020204" pitchFamily="34" charset="-122"/>
                <a:ea typeface="微软雅黑" panose="020B0503020204020204" pitchFamily="34" charset="-122"/>
              </a:rPr>
              <a:t>core</a:t>
            </a:r>
            <a:r>
              <a:rPr lang="zh-CN" altLang="en-US" sz="2400" dirty="0">
                <a:latin typeface="微软雅黑" panose="020B0503020204020204" pitchFamily="34" charset="-122"/>
                <a:ea typeface="微软雅黑" panose="020B0503020204020204" pitchFamily="34" charset="-122"/>
              </a:rPr>
              <a:t>到目的节点的路径确定。</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endParaRPr lang="en-US" altLang="zh-CN" sz="2400" dirty="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309411" y="3836592"/>
            <a:ext cx="11601956" cy="255567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1" name="Picture 2">
            <a:extLst>
              <a:ext uri="{FF2B5EF4-FFF2-40B4-BE49-F238E27FC236}">
                <a16:creationId xmlns:a16="http://schemas.microsoft.com/office/drawing/2014/main" id="{B65EFE90-74E8-4BD0-A38E-3CFD3C4A3556}"/>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543229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Background</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2.2 Clos Networks/Fat-Trees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64489" y="873541"/>
            <a:ext cx="11432489" cy="5958811"/>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具体实例</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以一个由 ​​</a:t>
            </a:r>
            <a:r>
              <a:rPr lang="en-US" altLang="zh-CN" sz="2400">
                <a:latin typeface="微软雅黑" panose="020B0503020204020204" pitchFamily="34" charset="-122"/>
                <a:ea typeface="微软雅黑" panose="020B0503020204020204" pitchFamily="34" charset="-122"/>
              </a:rPr>
              <a:t>48</a:t>
            </a:r>
            <a:r>
              <a:rPr lang="zh-CN" altLang="en-US" sz="2400">
                <a:latin typeface="微软雅黑" panose="020B0503020204020204" pitchFamily="34" charset="-122"/>
                <a:ea typeface="微软雅黑" panose="020B0503020204020204" pitchFamily="34" charset="-122"/>
              </a:rPr>
              <a:t>端口​​ 千兆以太网（</a:t>
            </a:r>
            <a:r>
              <a:rPr lang="en-US" altLang="zh-CN" sz="2400">
                <a:latin typeface="微软雅黑" panose="020B0503020204020204" pitchFamily="34" charset="-122"/>
                <a:ea typeface="微软雅黑" panose="020B0503020204020204" pitchFamily="34" charset="-122"/>
              </a:rPr>
              <a:t>GigE</a:t>
            </a:r>
            <a:r>
              <a:rPr lang="zh-CN" altLang="en-US" sz="2400">
                <a:latin typeface="微软雅黑" panose="020B0503020204020204" pitchFamily="34" charset="-122"/>
                <a:ea typeface="微软雅黑" panose="020B0503020204020204" pitchFamily="34" charset="-122"/>
              </a:rPr>
              <a:t>）交换机构建的胖树为例</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网络包含 ​​</a:t>
            </a:r>
            <a:r>
              <a:rPr lang="en-US" altLang="zh-CN" sz="2400">
                <a:latin typeface="微软雅黑" panose="020B0503020204020204" pitchFamily="34" charset="-122"/>
                <a:ea typeface="微软雅黑" panose="020B0503020204020204" pitchFamily="34" charset="-122"/>
              </a:rPr>
              <a:t>48</a:t>
            </a:r>
            <a:r>
              <a:rPr lang="zh-CN" altLang="en-US" sz="2400">
                <a:latin typeface="微软雅黑" panose="020B0503020204020204" pitchFamily="34" charset="-122"/>
                <a:ea typeface="微软雅黑" panose="020B0503020204020204" pitchFamily="34" charset="-122"/>
              </a:rPr>
              <a:t>个</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，每个</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内含两层</a:t>
            </a:r>
            <a:endParaRPr lang="en-US" altLang="zh-CN" sz="2400">
              <a:latin typeface="微软雅黑" panose="020B0503020204020204" pitchFamily="34" charset="-122"/>
              <a:ea typeface="微软雅黑" panose="020B0503020204020204" pitchFamily="34" charset="-122"/>
            </a:endParaRPr>
          </a:p>
          <a:p>
            <a:pPr marL="1200150" lvl="2"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边缘层 </a:t>
            </a:r>
            <a:r>
              <a:rPr lang="en-US" altLang="zh-CN" sz="2400">
                <a:latin typeface="微软雅黑" panose="020B0503020204020204" pitchFamily="34" charset="-122"/>
                <a:ea typeface="微软雅黑" panose="020B0503020204020204" pitchFamily="34" charset="-122"/>
              </a:rPr>
              <a:t>(Edge Layer):​​ 24</a:t>
            </a:r>
            <a:r>
              <a:rPr lang="zh-CN" altLang="en-US" sz="2400">
                <a:latin typeface="微软雅黑" panose="020B0503020204020204" pitchFamily="34" charset="-122"/>
                <a:ea typeface="微软雅黑" panose="020B0503020204020204" pitchFamily="34" charset="-122"/>
              </a:rPr>
              <a:t>台交换机</a:t>
            </a:r>
            <a:endParaRPr lang="en-US" altLang="zh-CN" sz="2400">
              <a:latin typeface="微软雅黑" panose="020B0503020204020204" pitchFamily="34" charset="-122"/>
              <a:ea typeface="微软雅黑" panose="020B0503020204020204" pitchFamily="34" charset="-122"/>
            </a:endParaRPr>
          </a:p>
          <a:p>
            <a:pPr marL="1200150" lvl="2"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聚合层 </a:t>
            </a:r>
            <a:r>
              <a:rPr lang="en-US" altLang="zh-CN" sz="2400">
                <a:latin typeface="微软雅黑" panose="020B0503020204020204" pitchFamily="34" charset="-122"/>
                <a:ea typeface="微软雅黑" panose="020B0503020204020204" pitchFamily="34" charset="-122"/>
              </a:rPr>
              <a:t>(Aggregation Layer):​​ 24</a:t>
            </a:r>
            <a:r>
              <a:rPr lang="zh-CN" altLang="en-US" sz="2400">
                <a:latin typeface="微软雅黑" panose="020B0503020204020204" pitchFamily="34" charset="-122"/>
                <a:ea typeface="微软雅黑" panose="020B0503020204020204" pitchFamily="34" charset="-122"/>
              </a:rPr>
              <a:t>台交换机</a:t>
            </a:r>
            <a:endParaRPr lang="en-US" altLang="zh-CN" sz="2400">
              <a:latin typeface="微软雅黑" panose="020B0503020204020204" pitchFamily="34" charset="-122"/>
              <a:ea typeface="微软雅黑" panose="020B0503020204020204" pitchFamily="34" charset="-122"/>
            </a:endParaRPr>
          </a:p>
          <a:p>
            <a:pPr marL="1200150" lvl="2"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共​​</a:t>
            </a:r>
            <a:r>
              <a:rPr lang="en-US" altLang="zh-CN" sz="2400">
                <a:latin typeface="微软雅黑" panose="020B0503020204020204" pitchFamily="34" charset="-122"/>
                <a:ea typeface="微软雅黑" panose="020B0503020204020204" pitchFamily="34" charset="-122"/>
              </a:rPr>
              <a:t>1,152</a:t>
            </a:r>
            <a:r>
              <a:rPr lang="zh-CN" altLang="en-US" sz="2400">
                <a:latin typeface="微软雅黑" panose="020B0503020204020204" pitchFamily="34" charset="-122"/>
                <a:ea typeface="微软雅黑" panose="020B0503020204020204" pitchFamily="34" charset="-122"/>
              </a:rPr>
              <a:t>个子网​​，每个子网包含</a:t>
            </a:r>
            <a:r>
              <a:rPr lang="en-US" altLang="zh-CN" sz="2400">
                <a:latin typeface="微软雅黑" panose="020B0503020204020204" pitchFamily="34" charset="-122"/>
                <a:ea typeface="微软雅黑" panose="020B0503020204020204" pitchFamily="34" charset="-122"/>
              </a:rPr>
              <a:t>24</a:t>
            </a:r>
            <a:r>
              <a:rPr lang="zh-CN" altLang="en-US" sz="2400">
                <a:latin typeface="微软雅黑" panose="020B0503020204020204" pitchFamily="34" charset="-122"/>
                <a:ea typeface="微软雅黑" panose="020B0503020204020204" pitchFamily="34" charset="-122"/>
              </a:rPr>
              <a:t>台主机，共​​</a:t>
            </a:r>
            <a:r>
              <a:rPr lang="en-US" altLang="zh-CN" sz="2400">
                <a:latin typeface="微软雅黑" panose="020B0503020204020204" pitchFamily="34" charset="-122"/>
                <a:ea typeface="微软雅黑" panose="020B0503020204020204" pitchFamily="34" charset="-122"/>
              </a:rPr>
              <a:t>27,648</a:t>
            </a:r>
            <a:r>
              <a:rPr lang="zh-CN" altLang="en-US" sz="2400">
                <a:latin typeface="微软雅黑" panose="020B0503020204020204" pitchFamily="34" charset="-122"/>
                <a:ea typeface="微软雅黑" panose="020B0503020204020204" pitchFamily="34" charset="-122"/>
              </a:rPr>
              <a:t>台主机</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卓越的性能与冗余​​</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位于​​不同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的任意两台主机之间，存在 ​​</a:t>
            </a:r>
            <a:r>
              <a:rPr lang="en-US" altLang="zh-CN" sz="2400">
                <a:latin typeface="微软雅黑" panose="020B0503020204020204" pitchFamily="34" charset="-122"/>
                <a:ea typeface="微软雅黑" panose="020B0503020204020204" pitchFamily="34" charset="-122"/>
              </a:rPr>
              <a:t>576</a:t>
            </a:r>
            <a:r>
              <a:rPr lang="zh-CN" altLang="en-US" sz="2400">
                <a:latin typeface="微软雅黑" panose="020B0503020204020204" pitchFamily="34" charset="-122"/>
                <a:ea typeface="微软雅黑" panose="020B0503020204020204" pitchFamily="34" charset="-122"/>
              </a:rPr>
              <a:t>条​​ 等价路径</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为负载均衡和链路故障冗余提供了极高的灵活性</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显著的成本效益​​</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部署此胖树网络的硬件成本估算约为 ​​</a:t>
            </a:r>
            <a:r>
              <a:rPr lang="en-US" altLang="zh-CN" sz="2400">
                <a:latin typeface="微软雅黑" panose="020B0503020204020204" pitchFamily="34" charset="-122"/>
                <a:ea typeface="微软雅黑" panose="020B0503020204020204" pitchFamily="34" charset="-122"/>
              </a:rPr>
              <a:t>864</a:t>
            </a:r>
            <a:r>
              <a:rPr lang="zh-CN" altLang="en-US" sz="2400">
                <a:latin typeface="微软雅黑" panose="020B0503020204020204" pitchFamily="34" charset="-122"/>
                <a:ea typeface="微软雅黑" panose="020B0503020204020204" pitchFamily="34" charset="-122"/>
              </a:rPr>
              <a:t>万美元​​</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与之前提到的传统技术实现相同规模所需的 ​​</a:t>
            </a:r>
            <a:r>
              <a:rPr lang="en-US" altLang="zh-CN" sz="2400">
                <a:latin typeface="微软雅黑" panose="020B0503020204020204" pitchFamily="34" charset="-122"/>
                <a:ea typeface="微软雅黑" panose="020B0503020204020204" pitchFamily="34" charset="-122"/>
              </a:rPr>
              <a:t>3700</a:t>
            </a:r>
            <a:r>
              <a:rPr lang="zh-CN" altLang="en-US" sz="2400">
                <a:latin typeface="微软雅黑" panose="020B0503020204020204" pitchFamily="34" charset="-122"/>
                <a:ea typeface="微软雅黑" panose="020B0503020204020204" pitchFamily="34" charset="-122"/>
              </a:rPr>
              <a:t>万美元​​ 成本形成鲜明对比。</a:t>
            </a:r>
            <a:endParaRPr lang="en-US" altLang="zh-CN" sz="2400">
              <a:latin typeface="微软雅黑" panose="020B0503020204020204" pitchFamily="34" charset="-122"/>
              <a:ea typeface="微软雅黑" panose="020B0503020204020204" pitchFamily="34" charset="-122"/>
            </a:endParaRPr>
          </a:p>
          <a:p>
            <a:pPr marL="285750"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以​​传统方案</a:t>
            </a:r>
            <a:r>
              <a:rPr lang="en-US" altLang="zh-CN" sz="2400">
                <a:latin typeface="微软雅黑" panose="020B0503020204020204" pitchFamily="34" charset="-122"/>
                <a:ea typeface="微软雅黑" panose="020B0503020204020204" pitchFamily="34" charset="-122"/>
              </a:rPr>
              <a:t>1/4</a:t>
            </a:r>
            <a:r>
              <a:rPr lang="zh-CN" altLang="en-US" sz="2400">
                <a:latin typeface="微软雅黑" panose="020B0503020204020204" pitchFamily="34" charset="-122"/>
                <a:ea typeface="微软雅黑" panose="020B0503020204020204" pitchFamily="34" charset="-122"/>
              </a:rPr>
              <a:t>的成本​​，实现了大规模、高性能、高冗余的网络互联</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95022" y="873541"/>
            <a:ext cx="11601956" cy="549339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787700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145DBA-B968-4047-857C-5BCA37EFEDB5}"/>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78583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3.1 Motivation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64489" y="873541"/>
            <a:ext cx="11432489" cy="5984459"/>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全带宽路由难题</a:t>
            </a:r>
            <a:endParaRPr lang="en-US" altLang="zh-CN" sz="2400" b="1">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核心目标：均匀分发流量​​</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要实现最大的二分带宽，必须将​​从任一</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发出的流量​​尽可能均匀地分布到所有核心交换机上</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传统路由协议（如</a:t>
            </a:r>
            <a:r>
              <a:rPr lang="en-US" altLang="zh-CN" sz="2400">
                <a:latin typeface="微软雅黑" panose="020B0503020204020204" pitchFamily="34" charset="-122"/>
                <a:ea typeface="微软雅黑" panose="020B0503020204020204" pitchFamily="34" charset="-122"/>
              </a:rPr>
              <a:t>OSPF</a:t>
            </a:r>
            <a:r>
              <a:rPr lang="zh-CN" altLang="en-US" sz="2400">
                <a:latin typeface="微软雅黑" panose="020B0503020204020204" pitchFamily="34" charset="-122"/>
                <a:ea typeface="微软雅黑" panose="020B0503020204020204" pitchFamily="34" charset="-122"/>
              </a:rPr>
              <a:t>）的局限性​​</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问题一：路径选择单一​​</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OSPF</a:t>
            </a:r>
            <a:r>
              <a:rPr lang="zh-CN" altLang="en-US" sz="2400">
                <a:latin typeface="微软雅黑" panose="020B0503020204020204" pitchFamily="34" charset="-122"/>
                <a:ea typeface="微软雅黑" panose="020B0503020204020204" pitchFamily="34" charset="-122"/>
              </a:rPr>
              <a:t>等协议以“跳数”为度量，在胖树中任意两主机间虽有</a:t>
            </a:r>
            <a:r>
              <a:rPr lang="en-US" altLang="zh-CN" sz="2400">
                <a:latin typeface="微软雅黑" panose="020B0503020204020204" pitchFamily="34" charset="-122"/>
                <a:ea typeface="微软雅黑" panose="020B0503020204020204" pitchFamily="34" charset="-122"/>
              </a:rPr>
              <a:t>(k/2)^2</a:t>
            </a:r>
            <a:r>
              <a:rPr lang="zh-CN" altLang="en-US" sz="2400">
                <a:latin typeface="微软雅黑" panose="020B0503020204020204" pitchFamily="34" charset="-122"/>
                <a:ea typeface="微软雅黑" panose="020B0503020204020204" pitchFamily="34" charset="-122"/>
              </a:rPr>
              <a:t>条等代价路径，但​​只会选择其中一条​​</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导致交换机去往某个子网的流量​​集中在一个端口​​，无法利用其他等价路径。</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问题二：可能造成核心层流量集中​​</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根据</a:t>
            </a:r>
            <a:r>
              <a:rPr lang="en-US" altLang="zh-CN" sz="2400">
                <a:latin typeface="微软雅黑" panose="020B0503020204020204" pitchFamily="34" charset="-122"/>
                <a:ea typeface="微软雅黑" panose="020B0503020204020204" pitchFamily="34" charset="-122"/>
              </a:rPr>
              <a:t>OSPF</a:t>
            </a:r>
            <a:r>
              <a:rPr lang="zh-CN" altLang="en-US" sz="2400">
                <a:latin typeface="微软雅黑" panose="020B0503020204020204" pitchFamily="34" charset="-122"/>
                <a:ea typeface="微软雅黑" panose="020B0503020204020204" pitchFamily="34" charset="-122"/>
              </a:rPr>
              <a:t>消息到达的时序，可能只有​​极少数（甚至一个）​​ 核心交换机被选为</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间链路</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后果：​​ ​​核心层热点拥塞​​，完全浪费了</a:t>
            </a: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固有的路径冗余优势</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95022" y="873541"/>
            <a:ext cx="11601956" cy="549339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372089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3.1 Motivation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950779"/>
            <a:ext cx="11727511" cy="6337119"/>
          </a:xfrm>
          <a:prstGeom prst="rect">
            <a:avLst/>
          </a:prstGeom>
          <a:noFill/>
        </p:spPr>
        <p:txBody>
          <a:bodyPr wrap="square" rtlCol="0">
            <a:spAutoFit/>
          </a:bodyPr>
          <a:lstStyle/>
          <a:p>
            <a:pPr>
              <a:lnSpc>
                <a:spcPts val="35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全带宽路由难题</a:t>
            </a:r>
            <a:endParaRPr lang="en-US" altLang="zh-CN" sz="2400" b="1">
              <a:latin typeface="微软雅黑" panose="020B0503020204020204" pitchFamily="34" charset="-122"/>
              <a:ea typeface="微软雅黑" panose="020B0503020204020204" pitchFamily="34" charset="-122"/>
            </a:endParaRPr>
          </a:p>
          <a:p>
            <a:pPr marL="285750"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扩展协议（如 </a:t>
            </a:r>
            <a:r>
              <a:rPr lang="en-US" altLang="zh-CN" sz="2400">
                <a:latin typeface="微软雅黑" panose="020B0503020204020204" pitchFamily="34" charset="-122"/>
                <a:ea typeface="微软雅黑" panose="020B0503020204020204" pitchFamily="34" charset="-122"/>
              </a:rPr>
              <a:t>OSPF-ECMP</a:t>
            </a:r>
            <a:r>
              <a:rPr lang="zh-CN" altLang="en-US" sz="2400">
                <a:latin typeface="微软雅黑" panose="020B0503020204020204" pitchFamily="34" charset="-122"/>
                <a:ea typeface="微软雅黑" panose="020B0503020204020204" pitchFamily="34" charset="-122"/>
              </a:rPr>
              <a:t>）的新问题​​</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首先，此类协议在​​商用交换机上不可用​​</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而且会导致​​所需前缀数量爆炸式增长​​（一个底层</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交换机需要 </a:t>
            </a:r>
            <a:r>
              <a:rPr lang="en-US" altLang="zh-CN" sz="2400">
                <a:latin typeface="微软雅黑" panose="020B0503020204020204" pitchFamily="34" charset="-122"/>
                <a:ea typeface="微软雅黑" panose="020B0503020204020204" pitchFamily="34" charset="-122"/>
              </a:rPr>
              <a:t>k * (k/2)^2</a:t>
            </a:r>
            <a:r>
              <a:rPr lang="zh-CN" altLang="en-US" sz="2400">
                <a:latin typeface="微软雅黑" panose="020B0503020204020204" pitchFamily="34" charset="-122"/>
                <a:ea typeface="微软雅黑" panose="020B0503020204020204" pitchFamily="34" charset="-122"/>
              </a:rPr>
              <a:t>条前缀），无法实际部署</a:t>
            </a:r>
            <a:endParaRPr lang="en-US" altLang="zh-CN" sz="2400">
              <a:latin typeface="微软雅黑" panose="020B0503020204020204" pitchFamily="34" charset="-122"/>
              <a:ea typeface="微软雅黑" panose="020B0503020204020204" pitchFamily="34" charset="-122"/>
            </a:endParaRPr>
          </a:p>
          <a:p>
            <a:pPr marL="285750" indent="-285750">
              <a:lnSpc>
                <a:spcPts val="35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创新方案：两级路由表​​</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需求：​​ 需要一种​​简单、细粒度​​的方法来利用拓扑结构实现</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间流量扩散</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核心思想：​​交换机必须能​​识别出需要被均匀分发的流量类别​​，并对其进行特殊处理</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实现方案：​​​​两级路由表​​，根据​​目的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地址的低位比特​​来分散输出流量（之后介绍）</a:t>
            </a:r>
            <a:endParaRPr lang="en-US" altLang="zh-CN"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优势：​​ 在不引起前缀爆炸的前提下，智能地利用所有可用路径，实现流量负载均衡</a:t>
            </a:r>
          </a:p>
          <a:p>
            <a:pPr marL="285750" indent="-285750">
              <a:lnSpc>
                <a:spcPts val="3500"/>
              </a:lnSpc>
              <a:buFont typeface="Wingdings" panose="05000000000000000000" pitchFamily="2" charset="2"/>
              <a:buChar char="Ø"/>
            </a:pPr>
            <a:endParaRPr lang="zh-CN" altLang="en-US" sz="2400">
              <a:latin typeface="微软雅黑" panose="020B0503020204020204" pitchFamily="34" charset="-122"/>
              <a:ea typeface="微软雅黑" panose="020B0503020204020204" pitchFamily="34" charset="-122"/>
            </a:endParaRPr>
          </a:p>
          <a:p>
            <a:pPr marL="742950" lvl="1" indent="-285750">
              <a:lnSpc>
                <a:spcPts val="3500"/>
              </a:lnSpc>
              <a:buFont typeface="Wingdings" panose="05000000000000000000" pitchFamily="2" charset="2"/>
              <a:buChar char="Ø"/>
            </a:pP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95022" y="873541"/>
            <a:ext cx="11741900" cy="5493392"/>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7648823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CA944D6-8B52-4488-BA7F-5994D7E9F5BB}"/>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333149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3.2 Addressing</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965199"/>
            <a:ext cx="11727511" cy="5404172"/>
          </a:xfrm>
          <a:prstGeom prst="rect">
            <a:avLst/>
          </a:prstGeom>
          <a:noFill/>
        </p:spPr>
        <p:txBody>
          <a:bodyPr wrap="square" rtlCol="0">
            <a:spAutoFit/>
          </a:bodyPr>
          <a:lstStyle/>
          <a:p>
            <a:pPr>
              <a:lnSpc>
                <a:spcPts val="38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的编址</a:t>
            </a:r>
            <a:endParaRPr lang="en-US" altLang="zh-CN" sz="2400" b="1">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地址池：所有</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地址均从私有地址块 ​​</a:t>
            </a:r>
            <a:r>
              <a:rPr lang="en-US" altLang="zh-CN" sz="2400">
                <a:latin typeface="微软雅黑" panose="020B0503020204020204" pitchFamily="34" charset="-122"/>
                <a:ea typeface="微软雅黑" panose="020B0503020204020204" pitchFamily="34" charset="-122"/>
              </a:rPr>
              <a:t>10.0.0.0/8​​ </a:t>
            </a:r>
            <a:r>
              <a:rPr lang="zh-CN" altLang="en-US" sz="2400">
                <a:latin typeface="微软雅黑" panose="020B0503020204020204" pitchFamily="34" charset="-122"/>
                <a:ea typeface="微软雅黑" panose="020B0503020204020204" pitchFamily="34" charset="-122"/>
              </a:rPr>
              <a:t>中分配</a:t>
            </a:r>
            <a:endParaRPr lang="en-US" altLang="zh-CN" sz="240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交换机：​​ </a:t>
            </a:r>
            <a:r>
              <a:rPr lang="en-US" altLang="zh-CN" sz="2400">
                <a:latin typeface="微软雅黑" panose="020B0503020204020204" pitchFamily="34" charset="-122"/>
                <a:ea typeface="微软雅黑" panose="020B0503020204020204" pitchFamily="34" charset="-122"/>
              </a:rPr>
              <a:t>10.pod.switch.1</a:t>
            </a: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编号，范围 </a:t>
            </a:r>
            <a:r>
              <a:rPr lang="en-US" altLang="zh-CN" sz="2400">
                <a:latin typeface="微软雅黑" panose="020B0503020204020204" pitchFamily="34" charset="-122"/>
                <a:ea typeface="微软雅黑" panose="020B0503020204020204" pitchFamily="34" charset="-122"/>
              </a:rPr>
              <a:t>[0, k-1]</a:t>
            </a: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switch</a:t>
            </a:r>
            <a:r>
              <a:rPr lang="zh-CN" altLang="en-US" sz="2400">
                <a:latin typeface="微软雅黑" panose="020B0503020204020204" pitchFamily="34" charset="-122"/>
                <a:ea typeface="微软雅黑" panose="020B0503020204020204" pitchFamily="34" charset="-122"/>
              </a:rPr>
              <a:t>：交换机在</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内的位置编号，范围 </a:t>
            </a:r>
            <a:r>
              <a:rPr lang="en-US" altLang="zh-CN" sz="2400">
                <a:latin typeface="微软雅黑" panose="020B0503020204020204" pitchFamily="34" charset="-122"/>
                <a:ea typeface="微软雅黑" panose="020B0503020204020204" pitchFamily="34" charset="-122"/>
              </a:rPr>
              <a:t>[0, k-1](</a:t>
            </a:r>
            <a:r>
              <a:rPr lang="zh-CN" altLang="en-US" sz="2400">
                <a:latin typeface="微软雅黑" panose="020B0503020204020204" pitchFamily="34" charset="-122"/>
                <a:ea typeface="微软雅黑" panose="020B0503020204020204" pitchFamily="34" charset="-122"/>
              </a:rPr>
              <a:t>从左到右，从下到上</a:t>
            </a:r>
            <a:r>
              <a:rPr lang="en-US" altLang="zh-CN" sz="2400">
                <a:latin typeface="微软雅黑" panose="020B0503020204020204" pitchFamily="34" charset="-122"/>
                <a:ea typeface="微软雅黑" panose="020B0503020204020204" pitchFamily="34" charset="-122"/>
              </a:rPr>
              <a:t>)</a:t>
            </a:r>
          </a:p>
          <a:p>
            <a:pPr marL="285750"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core </a:t>
            </a:r>
            <a:r>
              <a:rPr lang="zh-CN" altLang="en-US" sz="2400">
                <a:latin typeface="微软雅黑" panose="020B0503020204020204" pitchFamily="34" charset="-122"/>
                <a:ea typeface="微软雅黑" panose="020B0503020204020204" pitchFamily="34" charset="-122"/>
              </a:rPr>
              <a:t>交换机：</a:t>
            </a:r>
            <a:r>
              <a:rPr lang="en-US" altLang="zh-CN" sz="2400">
                <a:latin typeface="微软雅黑" panose="020B0503020204020204" pitchFamily="34" charset="-122"/>
                <a:ea typeface="微软雅黑" panose="020B0503020204020204" pitchFamily="34" charset="-122"/>
              </a:rPr>
              <a:t>10.</a:t>
            </a:r>
            <a:r>
              <a:rPr lang="en-US" altLang="zh-CN" sz="2400">
                <a:solidFill>
                  <a:srgbClr val="FF0000"/>
                </a:solidFill>
                <a:latin typeface="微软雅黑" panose="020B0503020204020204" pitchFamily="34" charset="-122"/>
                <a:ea typeface="微软雅黑" panose="020B0503020204020204" pitchFamily="34" charset="-122"/>
              </a:rPr>
              <a:t>k</a:t>
            </a:r>
            <a:r>
              <a:rPr lang="en-US" altLang="zh-CN" sz="2400">
                <a:latin typeface="微软雅黑" panose="020B0503020204020204" pitchFamily="34" charset="-122"/>
                <a:ea typeface="微软雅黑" panose="020B0503020204020204" pitchFamily="34" charset="-122"/>
              </a:rPr>
              <a:t>.j.i</a:t>
            </a: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j </a:t>
            </a:r>
            <a:r>
              <a:rPr lang="zh-CN" altLang="en-US" sz="2400">
                <a:latin typeface="微软雅黑" panose="020B0503020204020204" pitchFamily="34" charset="-122"/>
                <a:ea typeface="微软雅黑" panose="020B0503020204020204" pitchFamily="34" charset="-122"/>
              </a:rPr>
              <a:t>和 </a:t>
            </a:r>
            <a:r>
              <a:rPr lang="en-US" altLang="zh-CN" sz="2400" err="1">
                <a:latin typeface="微软雅黑" panose="020B0503020204020204" pitchFamily="34" charset="-122"/>
                <a:ea typeface="微软雅黑" panose="020B0503020204020204" pitchFamily="34" charset="-122"/>
              </a:rPr>
              <a:t>i</a:t>
            </a:r>
            <a:r>
              <a:rPr lang="zh-CN" altLang="en-US" sz="2400">
                <a:latin typeface="微软雅黑" panose="020B0503020204020204" pitchFamily="34" charset="-122"/>
                <a:ea typeface="微软雅黑" panose="020B0503020204020204" pitchFamily="34" charset="-122"/>
              </a:rPr>
              <a:t>：表示该核心交换机在 </a:t>
            </a:r>
            <a:r>
              <a:rPr lang="en-US" altLang="zh-CN" sz="2400">
                <a:latin typeface="微软雅黑" panose="020B0503020204020204" pitchFamily="34" charset="-122"/>
                <a:ea typeface="微软雅黑" panose="020B0503020204020204" pitchFamily="34" charset="-122"/>
              </a:rPr>
              <a:t>(k/2)^2 </a:t>
            </a:r>
            <a:r>
              <a:rPr lang="zh-CN" altLang="en-US" sz="2400">
                <a:latin typeface="微软雅黑" panose="020B0503020204020204" pitchFamily="34" charset="-122"/>
                <a:ea typeface="微软雅黑" panose="020B0503020204020204" pitchFamily="34" charset="-122"/>
              </a:rPr>
              <a:t>网格中的坐标，范围 </a:t>
            </a:r>
            <a:r>
              <a:rPr lang="en-US" altLang="zh-CN" sz="2400">
                <a:latin typeface="微软雅黑" panose="020B0503020204020204" pitchFamily="34" charset="-122"/>
                <a:ea typeface="微软雅黑" panose="020B0503020204020204" pitchFamily="34" charset="-122"/>
              </a:rPr>
              <a:t>[1, k/2]</a:t>
            </a:r>
            <a:r>
              <a:rPr lang="zh-CN" altLang="en-US" sz="2400">
                <a:latin typeface="微软雅黑" panose="020B0503020204020204" pitchFamily="34" charset="-122"/>
                <a:ea typeface="微软雅黑" panose="020B0503020204020204" pitchFamily="34" charset="-122"/>
              </a:rPr>
              <a:t>（从左上开始）</a:t>
            </a:r>
            <a:endParaRPr lang="en-US" altLang="zh-CN" sz="240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主机：​​ </a:t>
            </a:r>
            <a:r>
              <a:rPr lang="en-US" altLang="zh-CN" sz="2400">
                <a:latin typeface="微软雅黑" panose="020B0503020204020204" pitchFamily="34" charset="-122"/>
                <a:ea typeface="微软雅黑" panose="020B0503020204020204" pitchFamily="34" charset="-122"/>
              </a:rPr>
              <a:t>10.pod.switch.ID</a:t>
            </a: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和 </a:t>
            </a:r>
            <a:r>
              <a:rPr lang="en-US" altLang="zh-CN" sz="2400">
                <a:latin typeface="微软雅黑" panose="020B0503020204020204" pitchFamily="34" charset="-122"/>
                <a:ea typeface="微软雅黑" panose="020B0503020204020204" pitchFamily="34" charset="-122"/>
              </a:rPr>
              <a:t>switch</a:t>
            </a:r>
            <a:r>
              <a:rPr lang="zh-CN" altLang="en-US" sz="2400">
                <a:latin typeface="微软雅黑" panose="020B0503020204020204" pitchFamily="34" charset="-122"/>
                <a:ea typeface="微软雅黑" panose="020B0503020204020204" pitchFamily="34" charset="-122"/>
              </a:rPr>
              <a:t>：与其所连接的边缘交换机一致</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：主机在该子网内的位置，范围 </a:t>
            </a:r>
            <a:r>
              <a:rPr lang="en-US" altLang="zh-CN" sz="2400">
                <a:latin typeface="微软雅黑" panose="020B0503020204020204" pitchFamily="34" charset="-122"/>
                <a:ea typeface="微软雅黑" panose="020B0503020204020204" pitchFamily="34" charset="-122"/>
              </a:rPr>
              <a:t>[2, k/2+1]</a:t>
            </a:r>
            <a:r>
              <a:rPr lang="zh-CN" altLang="en-US" sz="2400">
                <a:latin typeface="微软雅黑" panose="020B0503020204020204" pitchFamily="34" charset="-122"/>
                <a:ea typeface="微软雅黑" panose="020B0503020204020204" pitchFamily="34" charset="-122"/>
              </a:rPr>
              <a:t>（从左到右）</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每个 </a:t>
            </a:r>
            <a:r>
              <a:rPr lang="en-US" altLang="zh-CN" sz="2400">
                <a:latin typeface="微软雅黑" panose="020B0503020204020204" pitchFamily="34" charset="-122"/>
                <a:ea typeface="微软雅黑" panose="020B0503020204020204" pitchFamily="34" charset="-122"/>
              </a:rPr>
              <a:t>edge </a:t>
            </a:r>
            <a:r>
              <a:rPr lang="zh-CN" altLang="en-US" sz="2400">
                <a:latin typeface="微软雅黑" panose="020B0503020204020204" pitchFamily="34" charset="-122"/>
                <a:ea typeface="微软雅黑" panose="020B0503020204020204" pitchFamily="34" charset="-122"/>
              </a:rPr>
              <a:t>交换机负责一个 </a:t>
            </a:r>
            <a:r>
              <a:rPr lang="en-US" altLang="zh-CN" sz="2400">
                <a:latin typeface="微软雅黑" panose="020B0503020204020204" pitchFamily="34" charset="-122"/>
                <a:ea typeface="微软雅黑" panose="020B0503020204020204" pitchFamily="34" charset="-122"/>
              </a:rPr>
              <a:t>/24 </a:t>
            </a:r>
            <a:r>
              <a:rPr lang="zh-CN" altLang="en-US" sz="2400">
                <a:latin typeface="微软雅黑" panose="020B0503020204020204" pitchFamily="34" charset="-122"/>
                <a:ea typeface="微软雅黑" panose="020B0503020204020204" pitchFamily="34" charset="-122"/>
              </a:rPr>
              <a:t>的子网</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199"/>
            <a:ext cx="11727511" cy="538480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59354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6582844-CD69-4C14-9279-0060AA6F2356}"/>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56193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3.3 Two-level </a:t>
            </a:r>
            <a:r>
              <a:rPr lang="en-US" altLang="zh-CN" sz="2800" b="1">
                <a:solidFill>
                  <a:srgbClr val="F26849"/>
                </a:solidFill>
                <a:latin typeface="微软雅黑" panose="020B0503020204020204" pitchFamily="34" charset="-122"/>
                <a:ea typeface="微软雅黑" panose="020B0503020204020204" pitchFamily="34" charset="-122"/>
                <a:cs typeface="+mn-cs"/>
              </a:rPr>
              <a:t>routing</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table</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2" y="965199"/>
            <a:ext cx="6988855" cy="2110834"/>
          </a:xfrm>
          <a:prstGeom prst="rect">
            <a:avLst/>
          </a:prstGeom>
          <a:noFill/>
        </p:spPr>
        <p:txBody>
          <a:bodyPr wrap="square" rtlCol="0">
            <a:spAutoFit/>
          </a:bodyPr>
          <a:lstStyle/>
          <a:p>
            <a:pPr>
              <a:lnSpc>
                <a:spcPts val="3200"/>
              </a:lnSpc>
            </a:pPr>
            <a:r>
              <a:rPr lang="zh-CN" altLang="en-US" sz="2400" b="1">
                <a:latin typeface="微软雅黑" panose="020B0503020204020204" pitchFamily="34" charset="-122"/>
                <a:ea typeface="微软雅黑" panose="020B0503020204020204" pitchFamily="34" charset="-122"/>
              </a:rPr>
              <a:t>​​两级路由表</a:t>
            </a:r>
            <a:endParaRPr lang="en-US" altLang="zh-CN" sz="2400" b="1">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设计目标：实现流量均匀分布​​</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引入​​两级前缀查找​​机制，以解决此前提出的流量均匀分发问题</a:t>
            </a:r>
            <a:endParaRPr lang="en-US" altLang="zh-CN" sz="2400">
              <a:latin typeface="微软雅黑" panose="020B0503020204020204" pitchFamily="34" charset="-122"/>
              <a:ea typeface="微软雅黑" panose="020B0503020204020204" pitchFamily="34" charset="-122"/>
            </a:endParaRPr>
          </a:p>
          <a:p>
            <a:pPr>
              <a:lnSpc>
                <a:spcPts val="3200"/>
              </a:lnSpc>
            </a:pP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199"/>
            <a:ext cx="11727511" cy="538480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9F61E3DD-1DD9-498D-871C-33E82DA99BBB}"/>
              </a:ext>
            </a:extLst>
          </p:cNvPr>
          <p:cNvPicPr>
            <a:picLocks noChangeAspect="1" noChangeArrowheads="1"/>
          </p:cNvPicPr>
          <p:nvPr/>
        </p:nvPicPr>
        <p:blipFill>
          <a:blip r:embed="rId3" cstate="print"/>
          <a:srcRect/>
          <a:stretch>
            <a:fillRect/>
          </a:stretch>
        </p:blipFill>
        <p:spPr bwMode="auto">
          <a:xfrm>
            <a:off x="7163809" y="1565473"/>
            <a:ext cx="4451970" cy="1364516"/>
          </a:xfrm>
          <a:prstGeom prst="rect">
            <a:avLst/>
          </a:prstGeom>
          <a:noFill/>
          <a:ln w="9525">
            <a:noFill/>
            <a:miter lim="800000"/>
            <a:headEnd/>
            <a:tailEnd/>
          </a:ln>
        </p:spPr>
      </p:pic>
      <p:sp>
        <p:nvSpPr>
          <p:cNvPr id="10" name="文本框 2">
            <a:extLst>
              <a:ext uri="{FF2B5EF4-FFF2-40B4-BE49-F238E27FC236}">
                <a16:creationId xmlns:a16="http://schemas.microsoft.com/office/drawing/2014/main" id="{0C78A2A6-0172-43F9-AE56-B7DE746E747A}"/>
              </a:ext>
            </a:extLst>
          </p:cNvPr>
          <p:cNvSpPr txBox="1"/>
          <p:nvPr/>
        </p:nvSpPr>
        <p:spPr>
          <a:xfrm>
            <a:off x="309410" y="2607734"/>
            <a:ext cx="11306369" cy="4166653"/>
          </a:xfrm>
          <a:prstGeom prst="rect">
            <a:avLst/>
          </a:prstGeom>
          <a:noFill/>
        </p:spPr>
        <p:txBody>
          <a:bodyPr wrap="square" rtlCol="0">
            <a:spAutoFit/>
          </a:bodyPr>
          <a:lstStyle/>
          <a:p>
            <a:pPr marL="285750"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主路由表 </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第一级</a:t>
            </a:r>
            <a:r>
              <a:rPr lang="en-US" altLang="zh-CN" sz="2400">
                <a:latin typeface="微软雅黑" panose="020B0503020204020204" pitchFamily="34" charset="-122"/>
                <a:ea typeface="微软雅黑" panose="020B0503020204020204" pitchFamily="34" charset="-122"/>
              </a:rPr>
              <a:t>)</a:t>
            </a: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存放传统的​​前缀​​条目（左匹配，掩码格式为 </a:t>
            </a:r>
            <a:r>
              <a:rPr lang="en-US" altLang="zh-CN" sz="2400">
                <a:latin typeface="微软雅黑" panose="020B0503020204020204" pitchFamily="34" charset="-122"/>
                <a:ea typeface="微软雅黑" panose="020B0503020204020204" pitchFamily="34" charset="-122"/>
              </a:rPr>
              <a:t>1^m 0^(32-m)</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一个条目如果是​​终止前缀 </a:t>
            </a:r>
            <a:r>
              <a:rPr lang="en-US" altLang="zh-CN" sz="2400">
                <a:latin typeface="微软雅黑" panose="020B0503020204020204" pitchFamily="34" charset="-122"/>
                <a:ea typeface="微软雅黑" panose="020B0503020204020204" pitchFamily="34" charset="-122"/>
              </a:rPr>
              <a:t>(Terminating)​​</a:t>
            </a:r>
            <a:r>
              <a:rPr lang="zh-CN" altLang="en-US" sz="2400">
                <a:latin typeface="微软雅黑" panose="020B0503020204020204" pitchFamily="34" charset="-122"/>
                <a:ea typeface="微软雅黑" panose="020B0503020204020204" pitchFamily="34" charset="-122"/>
              </a:rPr>
              <a:t>，则直接指向输出端口</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一个条目如果是​​非终止前缀 </a:t>
            </a:r>
            <a:r>
              <a:rPr lang="en-US" altLang="zh-CN" sz="2400">
                <a:latin typeface="微软雅黑" panose="020B0503020204020204" pitchFamily="34" charset="-122"/>
                <a:ea typeface="微软雅黑" panose="020B0503020204020204" pitchFamily="34" charset="-122"/>
              </a:rPr>
              <a:t>(Non-terminating)​​</a:t>
            </a:r>
            <a:r>
              <a:rPr lang="zh-CN" altLang="en-US" sz="2400">
                <a:latin typeface="微软雅黑" panose="020B0503020204020204" pitchFamily="34" charset="-122"/>
                <a:ea typeface="微软雅黑" panose="020B0503020204020204" pitchFamily="34" charset="-122"/>
              </a:rPr>
              <a:t>，则​​指向一个小的二级后缀表​​</a:t>
            </a:r>
            <a:endParaRPr lang="en-US" altLang="zh-CN" sz="240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后缀表 </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第二级</a:t>
            </a:r>
            <a:r>
              <a:rPr lang="en-US" altLang="zh-CN" sz="2400">
                <a:latin typeface="微软雅黑" panose="020B0503020204020204" pitchFamily="34" charset="-122"/>
                <a:ea typeface="微软雅黑" panose="020B0503020204020204" pitchFamily="34" charset="-122"/>
              </a:rPr>
              <a:t>)</a:t>
            </a: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存放​​后缀​​条目（右匹配，掩码格式为 </a:t>
            </a:r>
            <a:r>
              <a:rPr lang="en-US" altLang="zh-CN" sz="2400">
                <a:latin typeface="微软雅黑" panose="020B0503020204020204" pitchFamily="34" charset="-122"/>
                <a:ea typeface="微软雅黑" panose="020B0503020204020204" pitchFamily="34" charset="-122"/>
              </a:rPr>
              <a:t>0^(32-m) 1^m</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可被​​多个​​一级前缀条目共享</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查找时，先进行最长前缀匹配，若命中非终止前缀，则在其指向的二级表中进行​​最长后缀匹配​​，最终决定端口</a:t>
            </a:r>
          </a:p>
          <a:p>
            <a:pPr>
              <a:lnSpc>
                <a:spcPts val="3200"/>
              </a:lnSpc>
            </a:pPr>
            <a:endParaRPr lang="zh-CN" altLang="en-US" sz="24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2599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3.3 Two-level </a:t>
            </a:r>
            <a:r>
              <a:rPr lang="en-US" altLang="zh-CN" sz="2800" b="1">
                <a:solidFill>
                  <a:srgbClr val="F26849"/>
                </a:solidFill>
                <a:latin typeface="微软雅黑" panose="020B0503020204020204" pitchFamily="34" charset="-122"/>
                <a:ea typeface="微软雅黑" panose="020B0503020204020204" pitchFamily="34" charset="-122"/>
                <a:cs typeface="+mn-cs"/>
              </a:rPr>
              <a:t>routing</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table</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53554" y="1236132"/>
            <a:ext cx="11727511" cy="4649991"/>
          </a:xfrm>
          <a:prstGeom prst="rect">
            <a:avLst/>
          </a:prstGeom>
          <a:noFill/>
        </p:spPr>
        <p:txBody>
          <a:bodyPr wrap="square" rtlCol="0">
            <a:spAutoFit/>
          </a:bodyPr>
          <a:lstStyle/>
          <a:p>
            <a:pPr>
              <a:lnSpc>
                <a:spcPts val="4000"/>
              </a:lnSpc>
            </a:pPr>
            <a:r>
              <a:rPr lang="zh-CN" altLang="en-US" sz="2400" b="1" dirty="0">
                <a:latin typeface="微软雅黑" panose="020B0503020204020204" pitchFamily="34" charset="-122"/>
                <a:ea typeface="微软雅黑" panose="020B0503020204020204" pitchFamily="34" charset="-122"/>
              </a:rPr>
              <a:t>​​两级路由表</a:t>
            </a:r>
            <a:endParaRPr lang="en-US" altLang="zh-CN" sz="2400" b="1"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表规模极小​​</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任何</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交换机中的路由表最多仅</a:t>
            </a:r>
            <a:endParaRPr lang="en-US" altLang="zh-CN" sz="2400" dirty="0">
              <a:latin typeface="微软雅黑" panose="020B0503020204020204" pitchFamily="34" charset="-122"/>
              <a:ea typeface="微软雅黑" panose="020B0503020204020204" pitchFamily="34" charset="-122"/>
            </a:endParaRPr>
          </a:p>
          <a:p>
            <a:pPr lvl="1">
              <a:lnSpc>
                <a:spcPts val="4000"/>
              </a:lnSpc>
            </a:pPr>
            <a:r>
              <a:rPr lang="zh-CN" altLang="en-US" sz="2400" dirty="0">
                <a:latin typeface="微软雅黑" panose="020B0503020204020204" pitchFamily="34" charset="-122"/>
                <a:ea typeface="微软雅黑" panose="020B0503020204020204" pitchFamily="34" charset="-122"/>
              </a:rPr>
              <a:t>    包含 ​​</a:t>
            </a:r>
            <a:r>
              <a:rPr lang="en-US" altLang="zh-CN" sz="2400" dirty="0">
                <a:latin typeface="微软雅黑" panose="020B0503020204020204" pitchFamily="34" charset="-122"/>
                <a:ea typeface="微软雅黑" panose="020B0503020204020204" pitchFamily="34" charset="-122"/>
              </a:rPr>
              <a:t>k/2 </a:t>
            </a:r>
            <a:r>
              <a:rPr lang="zh-CN" altLang="en-US" sz="2400" dirty="0">
                <a:latin typeface="微软雅黑" panose="020B0503020204020204" pitchFamily="34" charset="-122"/>
                <a:ea typeface="微软雅黑" panose="020B0503020204020204" pitchFamily="34" charset="-122"/>
              </a:rPr>
              <a:t>个前缀​​ 和 ​​</a:t>
            </a:r>
            <a:r>
              <a:rPr lang="en-US" altLang="zh-CN" sz="2400" dirty="0">
                <a:latin typeface="微软雅黑" panose="020B0503020204020204" pitchFamily="34" charset="-122"/>
                <a:ea typeface="微软雅黑" panose="020B0503020204020204" pitchFamily="34" charset="-122"/>
              </a:rPr>
              <a:t>k/2 </a:t>
            </a:r>
            <a:r>
              <a:rPr lang="zh-CN" altLang="en-US" sz="2400" dirty="0">
                <a:latin typeface="微软雅黑" panose="020B0503020204020204" pitchFamily="34" charset="-122"/>
                <a:ea typeface="微软雅黑" panose="020B0503020204020204" pitchFamily="34" charset="-122"/>
              </a:rPr>
              <a:t>个后缀​​</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这种小规模设计是可行的关键</a:t>
            </a:r>
            <a:endParaRPr lang="en-US" altLang="zh-CN" sz="24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对性能的影响轻微</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两级查找结构会​​略微增加​​路由表查找延迟</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但由于硬件中前缀查找的​​并行性​​，以及表格体积很小，​​性能损失非常有限​​</a:t>
            </a:r>
            <a:endParaRPr lang="en-US" altLang="zh-CN" sz="2400" dirty="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优势：​​ 在几乎可以忽略的性能开销下，实现了对流量的细粒度、均匀的扩散。</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199"/>
            <a:ext cx="11727511" cy="538480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1652DD7D-1680-4241-BB3E-A715B20DA05A}"/>
              </a:ext>
            </a:extLst>
          </p:cNvPr>
          <p:cNvPicPr>
            <a:picLocks noChangeAspect="1" noChangeArrowheads="1"/>
          </p:cNvPicPr>
          <p:nvPr/>
        </p:nvPicPr>
        <p:blipFill>
          <a:blip r:embed="rId3" cstate="print"/>
          <a:srcRect/>
          <a:stretch>
            <a:fillRect/>
          </a:stretch>
        </p:blipFill>
        <p:spPr bwMode="auto">
          <a:xfrm>
            <a:off x="6757637" y="1597698"/>
            <a:ext cx="4618856" cy="1415666"/>
          </a:xfrm>
          <a:prstGeom prst="rect">
            <a:avLst/>
          </a:prstGeom>
          <a:noFill/>
          <a:ln w="9525">
            <a:noFill/>
            <a:miter lim="800000"/>
            <a:headEnd/>
            <a:tailEnd/>
          </a:ln>
        </p:spPr>
      </p:pic>
      <p:sp>
        <p:nvSpPr>
          <p:cNvPr id="3" name="文本框 2">
            <a:extLst>
              <a:ext uri="{FF2B5EF4-FFF2-40B4-BE49-F238E27FC236}">
                <a16:creationId xmlns:a16="http://schemas.microsoft.com/office/drawing/2014/main" id="{2F7D4FAD-AC6F-6B8A-5F1D-547D1FAFB269}"/>
              </a:ext>
            </a:extLst>
          </p:cNvPr>
          <p:cNvSpPr txBox="1"/>
          <p:nvPr/>
        </p:nvSpPr>
        <p:spPr>
          <a:xfrm>
            <a:off x="6415192" y="3064748"/>
            <a:ext cx="5544562" cy="784830"/>
          </a:xfrm>
          <a:prstGeom prst="rect">
            <a:avLst/>
          </a:prstGeom>
          <a:noFill/>
        </p:spPr>
        <p:txBody>
          <a:bodyPr wrap="square">
            <a:spAutoFit/>
          </a:bodyPr>
          <a:lstStyle/>
          <a:p>
            <a:pPr marL="285750" indent="-285750">
              <a:buFont typeface="Wingdings" panose="05000000000000000000" pitchFamily="2" charset="2"/>
              <a:buChar char="Ø"/>
            </a:pPr>
            <a:r>
              <a:rPr lang="zh-CN" altLang="en-US" sz="1500" dirty="0">
                <a:latin typeface="微软雅黑" panose="020B0503020204020204" pitchFamily="34" charset="-122"/>
                <a:ea typeface="微软雅黑" panose="020B0503020204020204" pitchFamily="34" charset="-122"/>
              </a:rPr>
              <a:t>两级转发表示例：这是位于交换机 10.2.2.1 的转发表。目标 IP 地址为 10.2.1.2 的数据包在端口 1 上转发，而目标 IP 地址为 10.3.0.3 的数据包在端口 3 上转发。</a:t>
            </a:r>
          </a:p>
        </p:txBody>
      </p:sp>
    </p:spTree>
    <p:extLst>
      <p:ext uri="{BB962C8B-B14F-4D97-AF65-F5344CB8AC3E}">
        <p14:creationId xmlns:p14="http://schemas.microsoft.com/office/powerpoint/2010/main" val="2071924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C6A512C-CBFF-4327-BAD6-8081D75404FE}"/>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12649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3.4 Two-Level Lookup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965199"/>
            <a:ext cx="11727511" cy="5400196"/>
          </a:xfrm>
          <a:prstGeom prst="rect">
            <a:avLst/>
          </a:prstGeom>
          <a:noFill/>
        </p:spPr>
        <p:txBody>
          <a:bodyPr wrap="square" rtlCol="0">
            <a:spAutoFit/>
          </a:bodyPr>
          <a:lstStyle/>
          <a:p>
            <a:pPr>
              <a:lnSpc>
                <a:spcPts val="3800"/>
              </a:lnSpc>
            </a:pPr>
            <a:r>
              <a:rPr lang="zh-CN" altLang="en-US" sz="2400" b="1">
                <a:latin typeface="微软雅黑" panose="020B0503020204020204" pitchFamily="34" charset="-122"/>
                <a:ea typeface="微软雅黑" panose="020B0503020204020204" pitchFamily="34" charset="-122"/>
              </a:rPr>
              <a:t>​​两级查找的硬件实现 ：</a:t>
            </a:r>
            <a:r>
              <a:rPr lang="en-US" altLang="zh-CN" sz="2400" b="1">
                <a:latin typeface="微软雅黑" panose="020B0503020204020204" pitchFamily="34" charset="-122"/>
                <a:ea typeface="微软雅黑" panose="020B0503020204020204" pitchFamily="34" charset="-122"/>
              </a:rPr>
              <a:t>TCAM </a:t>
            </a:r>
            <a:r>
              <a:rPr lang="zh-CN" altLang="en-US" sz="2400" b="1">
                <a:latin typeface="微软雅黑" panose="020B0503020204020204" pitchFamily="34" charset="-122"/>
                <a:ea typeface="微软雅黑" panose="020B0503020204020204" pitchFamily="34" charset="-122"/>
              </a:rPr>
              <a:t>​</a:t>
            </a:r>
            <a:endParaRPr lang="en-US" altLang="zh-CN" sz="2400" b="1">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​​核心硬件：三态内容可寻址存储器 </a:t>
            </a:r>
            <a:r>
              <a:rPr lang="en-US" altLang="zh-CN" sz="2400">
                <a:latin typeface="微软雅黑" panose="020B0503020204020204" pitchFamily="34" charset="-122"/>
                <a:ea typeface="微软雅黑" panose="020B0503020204020204" pitchFamily="34" charset="-122"/>
              </a:rPr>
              <a:t>(TCAM)​​</a:t>
            </a:r>
          </a:p>
          <a:p>
            <a:pPr marL="742950" lvl="1" indent="-285750">
              <a:lnSpc>
                <a:spcPts val="38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用于执行高速、并行的搜索密集型应用</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工作原理：​​ 可在​​单个时钟周期内​​将其内部所有条目与目标位模式进行并行匹配</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关键特性：​​ 除</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外，还能存储 ​​“不在乎”位 </a:t>
            </a:r>
            <a:r>
              <a:rPr lang="en-US" altLang="zh-CN" sz="2400">
                <a:latin typeface="微软雅黑" panose="020B0503020204020204" pitchFamily="34" charset="-122"/>
                <a:ea typeface="微软雅黑" panose="020B0503020204020204" pitchFamily="34" charset="-122"/>
              </a:rPr>
              <a:t>(X)​​</a:t>
            </a:r>
            <a:r>
              <a:rPr lang="zh-CN" altLang="en-US" sz="2400">
                <a:latin typeface="微软雅黑" panose="020B0503020204020204" pitchFamily="34" charset="-122"/>
                <a:ea typeface="微软雅黑" panose="020B0503020204020204" pitchFamily="34" charset="-122"/>
              </a:rPr>
              <a:t>，因此非常适合存储路由表中​​可变长度的前缀</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后缀​​</a:t>
            </a:r>
            <a:endParaRPr lang="en-US" altLang="zh-CN" sz="2400">
              <a:latin typeface="微软雅黑" panose="020B0503020204020204" pitchFamily="34" charset="-122"/>
              <a:ea typeface="微软雅黑" panose="020B0503020204020204" pitchFamily="34" charset="-122"/>
            </a:endParaRPr>
          </a:p>
          <a:p>
            <a:pPr marL="285750"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的优缺点​​</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优点：​​ 查找速度​​极快​​，远快于基于软件的算法方法</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缺点：​​ 存储密度低、​​功耗大​​、单位比特成本​​昂贵​​</a:t>
            </a:r>
            <a:endParaRPr lang="en-US" altLang="zh-CN" sz="2400">
              <a:latin typeface="微软雅黑" panose="020B0503020204020204" pitchFamily="34" charset="-122"/>
              <a:ea typeface="微软雅黑" panose="020B0503020204020204" pitchFamily="34" charset="-122"/>
            </a:endParaRPr>
          </a:p>
          <a:p>
            <a:pPr marL="742950" lvl="1" indent="-285750">
              <a:lnSpc>
                <a:spcPts val="38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价值：​​ 得益于所设计的极小的路由表规模（仅需约 </a:t>
            </a:r>
            <a:r>
              <a:rPr lang="en-US" altLang="zh-CN" sz="2400">
                <a:latin typeface="微软雅黑" panose="020B0503020204020204" pitchFamily="34" charset="-122"/>
                <a:ea typeface="微软雅黑" panose="020B0503020204020204" pitchFamily="34" charset="-122"/>
              </a:rPr>
              <a:t>k</a:t>
            </a:r>
            <a:r>
              <a:rPr lang="zh-CN" altLang="en-US" sz="2400">
                <a:latin typeface="微软雅黑" panose="020B0503020204020204" pitchFamily="34" charset="-122"/>
                <a:ea typeface="微软雅黑" panose="020B0503020204020204" pitchFamily="34" charset="-122"/>
              </a:rPr>
              <a:t>个条目），可以​​采用成本可控的</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来实现</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199"/>
            <a:ext cx="11727511" cy="538480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6801060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3.4 Two-Level Lookup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2606207"/>
            <a:ext cx="11727511" cy="3739485"/>
          </a:xfrm>
          <a:prstGeom prst="rect">
            <a:avLst/>
          </a:prstGeom>
          <a:noFill/>
        </p:spPr>
        <p:txBody>
          <a:bodyPr wrap="square" rtlCol="0">
            <a:spAutoFit/>
          </a:bodyPr>
          <a:lstStyle/>
          <a:p>
            <a:pPr marL="285750"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​​硬件架构设计​​</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：存储所有的前缀和后缀规则</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RAM​​</a:t>
            </a:r>
            <a:r>
              <a:rPr lang="zh-CN" altLang="en-US" sz="2400">
                <a:latin typeface="微软雅黑" panose="020B0503020204020204" pitchFamily="34" charset="-122"/>
                <a:ea typeface="微软雅黑" panose="020B0503020204020204" pitchFamily="34" charset="-122"/>
              </a:rPr>
              <a:t>：被</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的匹配结果索引，存储下一跳</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地址和​​输出端口号​​</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编码规则：​​</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将​​左匹配（前缀）​​ 条目存放在​​数值较小​​的</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地址中</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将​​右匹配（后缀）​​ 条目存放在​​数值较大​​的</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地址中</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CAM</a:t>
            </a:r>
            <a:r>
              <a:rPr lang="zh-CN" altLang="en-US" sz="2400">
                <a:latin typeface="微软雅黑" panose="020B0503020204020204" pitchFamily="34" charset="-122"/>
                <a:ea typeface="微软雅黑" panose="020B0503020204020204" pitchFamily="34" charset="-122"/>
              </a:rPr>
              <a:t>的输出经过编码，确保总是选择​​数值最小的匹配地址​​对应的条目。这保证了​​前缀匹配优先于后缀匹配​​的语义</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2528969"/>
            <a:ext cx="11727511" cy="382103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图片 7">
            <a:extLst>
              <a:ext uri="{FF2B5EF4-FFF2-40B4-BE49-F238E27FC236}">
                <a16:creationId xmlns:a16="http://schemas.microsoft.com/office/drawing/2014/main" id="{281C79B3-B809-4568-B30D-9658D7E7AAA9}"/>
              </a:ext>
            </a:extLst>
          </p:cNvPr>
          <p:cNvPicPr>
            <a:picLocks noChangeAspect="1"/>
          </p:cNvPicPr>
          <p:nvPr/>
        </p:nvPicPr>
        <p:blipFill>
          <a:blip r:embed="rId3"/>
          <a:stretch>
            <a:fillRect/>
          </a:stretch>
        </p:blipFill>
        <p:spPr>
          <a:xfrm>
            <a:off x="2827020" y="804944"/>
            <a:ext cx="6629400" cy="1724025"/>
          </a:xfrm>
          <a:prstGeom prst="rect">
            <a:avLst/>
          </a:prstGeom>
        </p:spPr>
      </p:pic>
    </p:spTree>
    <p:extLst>
      <p:ext uri="{BB962C8B-B14F-4D97-AF65-F5344CB8AC3E}">
        <p14:creationId xmlns:p14="http://schemas.microsoft.com/office/powerpoint/2010/main" val="438432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3.4 Two-Level Lookup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1" y="2606207"/>
            <a:ext cx="11727511" cy="3624069"/>
          </a:xfrm>
          <a:prstGeom prst="rect">
            <a:avLst/>
          </a:prstGeom>
          <a:noFill/>
        </p:spPr>
        <p:txBody>
          <a:bodyPr wrap="square" rtlCol="0">
            <a:spAutoFit/>
          </a:bodyPr>
          <a:lstStyle/>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​​参考上图举例</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例一：目的 </a:t>
            </a:r>
            <a:r>
              <a:rPr lang="en-US" altLang="zh-CN" sz="2400">
                <a:latin typeface="微软雅黑" panose="020B0503020204020204" pitchFamily="34" charset="-122"/>
                <a:ea typeface="微软雅黑" panose="020B0503020204020204" pitchFamily="34" charset="-122"/>
              </a:rPr>
              <a:t>IP 10.2.0.3​​</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同时匹配前缀 </a:t>
            </a:r>
            <a:r>
              <a:rPr lang="en-US" altLang="zh-CN" sz="2400">
                <a:latin typeface="微软雅黑" panose="020B0503020204020204" pitchFamily="34" charset="-122"/>
                <a:ea typeface="微软雅黑" panose="020B0503020204020204" pitchFamily="34" charset="-122"/>
              </a:rPr>
              <a:t>10.2.0.X(Port 0) </a:t>
            </a:r>
            <a:r>
              <a:rPr lang="zh-CN" altLang="en-US" sz="2400">
                <a:latin typeface="微软雅黑" panose="020B0503020204020204" pitchFamily="34" charset="-122"/>
                <a:ea typeface="微软雅黑" panose="020B0503020204020204" pitchFamily="34" charset="-122"/>
              </a:rPr>
              <a:t>和后缀 </a:t>
            </a:r>
            <a:r>
              <a:rPr lang="en-US" altLang="zh-CN" sz="2400">
                <a:latin typeface="微软雅黑" panose="020B0503020204020204" pitchFamily="34" charset="-122"/>
                <a:ea typeface="微软雅黑" panose="020B0503020204020204" pitchFamily="34" charset="-122"/>
              </a:rPr>
              <a:t>X.X.X.3</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根据“最小地址优先”规则，选择​​前缀表项​​，报文从​​端口 </a:t>
            </a:r>
            <a:r>
              <a:rPr lang="en-US" altLang="zh-CN" sz="2400">
                <a:latin typeface="微软雅黑" panose="020B0503020204020204" pitchFamily="34" charset="-122"/>
                <a:ea typeface="微软雅黑" panose="020B0503020204020204" pitchFamily="34" charset="-122"/>
              </a:rPr>
              <a:t>0 ​​</a:t>
            </a:r>
            <a:r>
              <a:rPr lang="zh-CN" altLang="en-US" sz="2400">
                <a:latin typeface="微软雅黑" panose="020B0503020204020204" pitchFamily="34" charset="-122"/>
                <a:ea typeface="微软雅黑" panose="020B0503020204020204" pitchFamily="34" charset="-122"/>
              </a:rPr>
              <a:t>转发</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例二：目的 </a:t>
            </a:r>
            <a:r>
              <a:rPr lang="en-US" altLang="zh-CN" sz="2400">
                <a:latin typeface="微软雅黑" panose="020B0503020204020204" pitchFamily="34" charset="-122"/>
                <a:ea typeface="微软雅黑" panose="020B0503020204020204" pitchFamily="34" charset="-122"/>
              </a:rPr>
              <a:t>IP 10.3.1.2​​</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仅匹配后缀 </a:t>
            </a:r>
            <a:r>
              <a:rPr lang="en-US" altLang="zh-CN" sz="2400">
                <a:latin typeface="微软雅黑" panose="020B0503020204020204" pitchFamily="34" charset="-122"/>
                <a:ea typeface="微软雅黑" panose="020B0503020204020204" pitchFamily="34" charset="-122"/>
              </a:rPr>
              <a:t>X.X.X.2(Port 2)</a:t>
            </a: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报文从​​端口 </a:t>
            </a: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转发</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2528969"/>
            <a:ext cx="11727511" cy="3821031"/>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图片 7">
            <a:extLst>
              <a:ext uri="{FF2B5EF4-FFF2-40B4-BE49-F238E27FC236}">
                <a16:creationId xmlns:a16="http://schemas.microsoft.com/office/drawing/2014/main" id="{281C79B3-B809-4568-B30D-9658D7E7AAA9}"/>
              </a:ext>
            </a:extLst>
          </p:cNvPr>
          <p:cNvPicPr>
            <a:picLocks noChangeAspect="1"/>
          </p:cNvPicPr>
          <p:nvPr/>
        </p:nvPicPr>
        <p:blipFill>
          <a:blip r:embed="rId3"/>
          <a:stretch>
            <a:fillRect/>
          </a:stretch>
        </p:blipFill>
        <p:spPr>
          <a:xfrm>
            <a:off x="2827020" y="804944"/>
            <a:ext cx="6629400" cy="1724025"/>
          </a:xfrm>
          <a:prstGeom prst="rect">
            <a:avLst/>
          </a:prstGeom>
        </p:spPr>
      </p:pic>
    </p:spTree>
    <p:extLst>
      <p:ext uri="{BB962C8B-B14F-4D97-AF65-F5344CB8AC3E}">
        <p14:creationId xmlns:p14="http://schemas.microsoft.com/office/powerpoint/2010/main" val="33981752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235E52-36ED-4355-BD01-4736747F74FD}"/>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231242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358497"/>
            <a:ext cx="11727511" cy="4141005"/>
          </a:xfrm>
          <a:prstGeom prst="rect">
            <a:avLst/>
          </a:prstGeom>
          <a:noFill/>
        </p:spPr>
        <p:txBody>
          <a:bodyPr wrap="square" rtlCol="0">
            <a:spAutoFit/>
          </a:bodyPr>
          <a:lstStyle/>
          <a:p>
            <a:pPr>
              <a:lnSpc>
                <a:spcPts val="40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路由机制</a:t>
            </a:r>
            <a:endParaRPr lang="en-US" altLang="zh-CN" sz="2400" b="1">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核心目标：实现流量均匀扩散​​</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利用​​两级路由表​​</a:t>
            </a:r>
            <a:r>
              <a:rPr lang="zh-CN" altLang="en-US" sz="2400" b="1">
                <a:latin typeface="微软雅黑" panose="020B0503020204020204" pitchFamily="34" charset="-122"/>
                <a:ea typeface="微软雅黑" panose="020B0503020204020204" pitchFamily="34" charset="-122"/>
              </a:rPr>
              <a:t>（前缀</a:t>
            </a:r>
            <a:r>
              <a:rPr lang="en-US" altLang="zh-CN" sz="2400" b="1">
                <a:latin typeface="微软雅黑" panose="020B0503020204020204" pitchFamily="34" charset="-122"/>
                <a:ea typeface="微软雅黑" panose="020B0503020204020204" pitchFamily="34" charset="-122"/>
              </a:rPr>
              <a:t>+</a:t>
            </a:r>
            <a:r>
              <a:rPr lang="zh-CN" altLang="en-US" sz="2400" b="1">
                <a:latin typeface="微软雅黑" panose="020B0503020204020204" pitchFamily="34" charset="-122"/>
                <a:ea typeface="微软雅黑" panose="020B0503020204020204" pitchFamily="34" charset="-122"/>
              </a:rPr>
              <a:t>后缀）</a:t>
            </a:r>
            <a:r>
              <a:rPr lang="zh-CN" altLang="en-US" sz="2400">
                <a:latin typeface="微软雅黑" panose="020B0503020204020204" pitchFamily="34" charset="-122"/>
                <a:ea typeface="微软雅黑" panose="020B0503020204020204" pitchFamily="34" charset="-122"/>
              </a:rPr>
              <a:t>在</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出口将流量均匀分散到核心层</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路径确定性​​</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相同源目的主机的流量走​​固定路径​​，避免报文乱序</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集中式路由控制​​</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假设一个中央控制器掌握全拓扑，​​静态生成​​所有路由表</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简化设计，无需复杂分布式协议（故障处理除外）</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1358497"/>
            <a:ext cx="11509657" cy="4534303"/>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3186645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09410" y="832434"/>
            <a:ext cx="11509657" cy="3756285"/>
          </a:xfrm>
          <a:prstGeom prst="rect">
            <a:avLst/>
          </a:prstGeom>
          <a:noFill/>
        </p:spPr>
        <p:txBody>
          <a:bodyPr wrap="square" rtlCol="0">
            <a:spAutoFit/>
          </a:bodyPr>
          <a:lstStyle/>
          <a:p>
            <a:pPr>
              <a:lnSpc>
                <a:spcPts val="32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路由角色与策略</a:t>
            </a:r>
            <a:endParaRPr lang="en-US" altLang="zh-CN" sz="2400" b="1">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内交换机（过滤与扩散）​​</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下层交换机：​​ 负责将流量均匀上传至</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内上层交换机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上层交换机：​​ 拥有</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内所有子网的​​终止前缀​​，负责</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内路由</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 匹配默认 </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前缀，并进入​​二级后缀表​​（根据目的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主机</a:t>
            </a: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字节）选择出口，实现均匀扩散</a:t>
            </a:r>
            <a:endParaRPr lang="en-US" altLang="zh-CN" sz="240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核心交换机（简单指引）​​</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b="1">
                <a:latin typeface="微软雅黑" panose="020B0503020204020204" pitchFamily="34" charset="-122"/>
                <a:ea typeface="微软雅黑" panose="020B0503020204020204" pitchFamily="34" charset="-122"/>
              </a:rPr>
              <a:t>仅包含</a:t>
            </a:r>
            <a:r>
              <a:rPr lang="zh-CN" altLang="en-US" sz="2400">
                <a:latin typeface="微软雅黑" panose="020B0503020204020204" pitchFamily="34" charset="-122"/>
                <a:ea typeface="微软雅黑" panose="020B0503020204020204" pitchFamily="34" charset="-122"/>
              </a:rPr>
              <a:t>指向各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的​​</a:t>
            </a:r>
            <a:r>
              <a:rPr lang="zh-CN" altLang="en-US" sz="2400" b="1">
                <a:latin typeface="微软雅黑" panose="020B0503020204020204" pitchFamily="34" charset="-122"/>
                <a:ea typeface="微软雅黑" panose="020B0503020204020204" pitchFamily="34" charset="-122"/>
              </a:rPr>
              <a:t>终止 </a:t>
            </a:r>
            <a:r>
              <a:rPr lang="en-US" altLang="zh-CN" sz="2400" b="1">
                <a:latin typeface="微软雅黑" panose="020B0503020204020204" pitchFamily="34" charset="-122"/>
                <a:ea typeface="微软雅黑" panose="020B0503020204020204" pitchFamily="34" charset="-122"/>
              </a:rPr>
              <a:t>/16</a:t>
            </a:r>
            <a:r>
              <a:rPr lang="zh-CN" altLang="en-US" sz="2400" b="1">
                <a:latin typeface="微软雅黑" panose="020B0503020204020204" pitchFamily="34" charset="-122"/>
                <a:ea typeface="微软雅黑" panose="020B0503020204020204" pitchFamily="34" charset="-122"/>
              </a:rPr>
              <a:t>前缀</a:t>
            </a:r>
            <a:r>
              <a:rPr lang="zh-CN" altLang="en-US" sz="2400">
                <a:latin typeface="微软雅黑" panose="020B0503020204020204" pitchFamily="34" charset="-122"/>
                <a:ea typeface="微软雅黑" panose="020B0503020204020204" pitchFamily="34" charset="-122"/>
              </a:rPr>
              <a:t>​​（如 </a:t>
            </a:r>
            <a:r>
              <a:rPr lang="en-US" altLang="zh-CN" sz="2400">
                <a:latin typeface="微软雅黑" panose="020B0503020204020204" pitchFamily="34" charset="-122"/>
                <a:ea typeface="微软雅黑" panose="020B0503020204020204" pitchFamily="34" charset="-122"/>
              </a:rPr>
              <a:t>10.pod.0.0/16</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功能简单：将报文指引到正确的目标</a:t>
            </a:r>
            <a:r>
              <a:rPr lang="en-US" altLang="zh-CN" sz="2400">
                <a:latin typeface="微软雅黑" panose="020B0503020204020204" pitchFamily="34" charset="-122"/>
                <a:ea typeface="微软雅黑" panose="020B0503020204020204" pitchFamily="34" charset="-122"/>
              </a:rPr>
              <a:t>Pod</a:t>
            </a: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91440" y="900166"/>
            <a:ext cx="11791150" cy="5449833"/>
          </a:xfrm>
          <a:prstGeom prst="roundRect">
            <a:avLst>
              <a:gd name="adj" fmla="val 6977"/>
            </a:avLst>
          </a:prstGeom>
          <a:noFill/>
          <a:ln w="25400" cap="flat" cmpd="sng">
            <a:solidFill>
              <a:srgbClr val="A5A5A5"/>
            </a:solidFill>
            <a:prstDash val="dash"/>
            <a:bevel/>
          </a:ln>
        </p:spPr>
        <p:txBody>
          <a:bodyPr anchor="ctr"/>
          <a:lstStyle/>
          <a:p>
            <a:pPr algn="ctr">
              <a:lnSpc>
                <a:spcPts val="3000"/>
              </a:lnSpc>
            </a:pPr>
            <a:endParaRPr lang="zh-CN" altLang="zh-CN">
              <a:solidFill>
                <a:srgbClr val="FFFFFF"/>
              </a:solidFill>
              <a:latin typeface="宋体" panose="02010600030101010101" pitchFamily="2" charset="-122"/>
              <a:sym typeface="宋体" panose="02010600030101010101" pitchFamily="2" charset="-122"/>
            </a:endParaRPr>
          </a:p>
        </p:txBody>
      </p:sp>
      <p:pic>
        <p:nvPicPr>
          <p:cNvPr id="5" name="图片 4">
            <a:extLst>
              <a:ext uri="{FF2B5EF4-FFF2-40B4-BE49-F238E27FC236}">
                <a16:creationId xmlns:a16="http://schemas.microsoft.com/office/drawing/2014/main" id="{A30B3FB7-854E-4C0B-A066-FBEA41D6CAD9}"/>
              </a:ext>
            </a:extLst>
          </p:cNvPr>
          <p:cNvPicPr>
            <a:picLocks noChangeAspect="1"/>
          </p:cNvPicPr>
          <p:nvPr/>
        </p:nvPicPr>
        <p:blipFill>
          <a:blip r:embed="rId3"/>
          <a:stretch>
            <a:fillRect/>
          </a:stretch>
        </p:blipFill>
        <p:spPr>
          <a:xfrm>
            <a:off x="3455481" y="4499877"/>
            <a:ext cx="6058580" cy="2320208"/>
          </a:xfrm>
          <a:prstGeom prst="rect">
            <a:avLst/>
          </a:prstGeom>
        </p:spPr>
      </p:pic>
    </p:spTree>
    <p:extLst>
      <p:ext uri="{BB962C8B-B14F-4D97-AF65-F5344CB8AC3E}">
        <p14:creationId xmlns:p14="http://schemas.microsoft.com/office/powerpoint/2010/main" val="15121279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358497"/>
            <a:ext cx="10946033" cy="4649991"/>
          </a:xfrm>
          <a:prstGeom prst="rect">
            <a:avLst/>
          </a:prstGeom>
          <a:noFill/>
        </p:spPr>
        <p:txBody>
          <a:bodyPr wrap="square" rtlCol="0">
            <a:spAutoFit/>
          </a:bodyPr>
          <a:lstStyle/>
          <a:p>
            <a:pPr>
              <a:lnSpc>
                <a:spcPts val="40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a:t>
            </a:r>
            <a:r>
              <a:rPr lang="zh-CN" altLang="en-US" sz="2400" b="1">
                <a:latin typeface="微软雅黑" panose="020B0503020204020204" pitchFamily="34" charset="-122"/>
                <a:ea typeface="微软雅黑" panose="020B0503020204020204" pitchFamily="34" charset="-122"/>
              </a:rPr>
              <a:t>路由表生成 </a:t>
            </a:r>
            <a:r>
              <a:rPr lang="en-US" altLang="zh-CN" sz="2400" b="1">
                <a:latin typeface="微软雅黑" panose="020B0503020204020204" pitchFamily="34" charset="-122"/>
                <a:ea typeface="微软雅黑" panose="020B0503020204020204" pitchFamily="34" charset="-122"/>
              </a:rPr>
              <a:t>- Pod</a:t>
            </a:r>
            <a:r>
              <a:rPr lang="zh-CN" altLang="en-US" sz="2400" b="1">
                <a:latin typeface="微软雅黑" panose="020B0503020204020204" pitchFamily="34" charset="-122"/>
                <a:ea typeface="微软雅黑" panose="020B0503020204020204" pitchFamily="34" charset="-122"/>
              </a:rPr>
              <a:t>交换机​</a:t>
            </a:r>
            <a:endParaRPr lang="en-US" altLang="zh-CN" sz="2400" b="1">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​​核心任务：​​</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为​​</a:t>
            </a:r>
            <a:r>
              <a:rPr lang="zh-CN" altLang="en-US" sz="2400" b="1">
                <a:latin typeface="微软雅黑" panose="020B0503020204020204" pitchFamily="34" charset="-122"/>
                <a:ea typeface="微软雅黑" panose="020B0503020204020204" pitchFamily="34" charset="-122"/>
              </a:rPr>
              <a:t>本</a:t>
            </a:r>
            <a:r>
              <a:rPr lang="en-US" altLang="zh-CN" sz="2400" b="1">
                <a:latin typeface="微软雅黑" panose="020B0503020204020204" pitchFamily="34" charset="-122"/>
                <a:ea typeface="微软雅黑" panose="020B0503020204020204" pitchFamily="34" charset="-122"/>
              </a:rPr>
              <a:t>Pod</a:t>
            </a:r>
            <a:r>
              <a:rPr lang="zh-CN" altLang="en-US" sz="2400" b="1">
                <a:latin typeface="微软雅黑" panose="020B0503020204020204" pitchFamily="34" charset="-122"/>
                <a:ea typeface="微软雅黑" panose="020B0503020204020204" pitchFamily="34" charset="-122"/>
              </a:rPr>
              <a:t>内</a:t>
            </a:r>
            <a:r>
              <a:rPr lang="zh-CN" altLang="en-US" sz="2400">
                <a:latin typeface="微软雅黑" panose="020B0503020204020204" pitchFamily="34" charset="-122"/>
                <a:ea typeface="微软雅黑" panose="020B0503020204020204" pitchFamily="34" charset="-122"/>
              </a:rPr>
              <a:t>​​的所有子网添加</a:t>
            </a:r>
            <a:r>
              <a:rPr lang="zh-CN" altLang="en-US" sz="2400" b="1">
                <a:latin typeface="微软雅黑" panose="020B0503020204020204" pitchFamily="34" charset="-122"/>
                <a:ea typeface="微软雅黑" panose="020B0503020204020204" pitchFamily="34" charset="-122"/>
              </a:rPr>
              <a:t>终止前缀</a:t>
            </a:r>
            <a:r>
              <a:rPr lang="zh-CN" altLang="en-US" sz="2400">
                <a:latin typeface="微软雅黑" panose="020B0503020204020204" pitchFamily="34" charset="-122"/>
                <a:ea typeface="微软雅黑" panose="020B0503020204020204" pitchFamily="34" charset="-122"/>
              </a:rPr>
              <a:t>（直接路由）</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为​​所有</a:t>
            </a:r>
            <a:r>
              <a:rPr lang="en-US" altLang="zh-CN" sz="2400" b="1">
                <a:latin typeface="微软雅黑" panose="020B0503020204020204" pitchFamily="34" charset="-122"/>
                <a:ea typeface="微软雅黑" panose="020B0503020204020204" pitchFamily="34" charset="-122"/>
              </a:rPr>
              <a:t>Pod</a:t>
            </a:r>
            <a:r>
              <a:rPr lang="zh-CN" altLang="en-US" sz="2400" b="1">
                <a:latin typeface="微软雅黑" panose="020B0503020204020204" pitchFamily="34" charset="-122"/>
                <a:ea typeface="微软雅黑" panose="020B0503020204020204" pitchFamily="34" charset="-122"/>
              </a:rPr>
              <a:t>间</a:t>
            </a:r>
            <a:r>
              <a:rPr lang="zh-CN" altLang="en-US" sz="2400">
                <a:latin typeface="微软雅黑" panose="020B0503020204020204" pitchFamily="34" charset="-122"/>
                <a:ea typeface="微软雅黑" panose="020B0503020204020204" pitchFamily="34" charset="-122"/>
              </a:rPr>
              <a:t>​​流量添加一条默认 </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前缀，并关联一个</a:t>
            </a:r>
            <a:r>
              <a:rPr lang="zh-CN" altLang="en-US" sz="2400" b="1">
                <a:latin typeface="微软雅黑" panose="020B0503020204020204" pitchFamily="34" charset="-122"/>
                <a:ea typeface="微软雅黑" panose="020B0503020204020204" pitchFamily="34" charset="-122"/>
              </a:rPr>
              <a:t>​​二级后缀表</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二级表关键：​​</a:t>
            </a:r>
            <a:endParaRPr lang="en-US" altLang="zh-CN" sz="2400">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后缀表匹配目的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的​​最低位字节</a:t>
            </a:r>
            <a:r>
              <a:rPr lang="zh-CN" altLang="en-US" sz="2400" b="1">
                <a:latin typeface="微软雅黑" panose="020B0503020204020204" pitchFamily="34" charset="-122"/>
                <a:ea typeface="微软雅黑" panose="020B0503020204020204" pitchFamily="34" charset="-122"/>
              </a:rPr>
              <a:t>（主机</a:t>
            </a:r>
            <a:r>
              <a:rPr lang="en-US" altLang="zh-CN" sz="2400" b="1">
                <a:latin typeface="微软雅黑" panose="020B0503020204020204" pitchFamily="34" charset="-122"/>
                <a:ea typeface="微软雅黑" panose="020B0503020204020204" pitchFamily="34" charset="-122"/>
              </a:rPr>
              <a:t>ID</a:t>
            </a:r>
            <a:r>
              <a:rPr lang="zh-CN" altLang="en-US" sz="2400" b="1">
                <a:latin typeface="微软雅黑" panose="020B0503020204020204" pitchFamily="34" charset="-122"/>
                <a:ea typeface="微软雅黑" panose="020B0503020204020204" pitchFamily="34" charset="-122"/>
              </a:rPr>
              <a:t>）​​</a:t>
            </a:r>
            <a:endParaRPr lang="en-US" altLang="zh-CN" sz="2400" b="1">
              <a:latin typeface="微软雅黑" panose="020B0503020204020204" pitchFamily="34" charset="-122"/>
              <a:ea typeface="微软雅黑" panose="020B0503020204020204" pitchFamily="34" charset="-122"/>
            </a:endParaRPr>
          </a:p>
          <a:p>
            <a:pPr marL="742950" lvl="1"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通过 </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主机</a:t>
            </a:r>
            <a:r>
              <a:rPr lang="en-US" altLang="zh-CN" sz="2400">
                <a:latin typeface="微软雅黑" panose="020B0503020204020204" pitchFamily="34" charset="-122"/>
                <a:ea typeface="微软雅黑" panose="020B0503020204020204" pitchFamily="34" charset="-122"/>
              </a:rPr>
              <a:t>ID mod k/2)</a:t>
            </a:r>
            <a:r>
              <a:rPr lang="zh-CN" altLang="en-US" sz="2400">
                <a:latin typeface="微软雅黑" panose="020B0503020204020204" pitchFamily="34" charset="-122"/>
                <a:ea typeface="微软雅黑" panose="020B0503020204020204" pitchFamily="34" charset="-122"/>
              </a:rPr>
              <a:t>等计算映射到出口端口，确保来自不同源机的、前往相同主机</a:t>
            </a: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的流量也能被分散</a:t>
            </a:r>
            <a:endParaRPr lang="en-US" altLang="zh-CN" sz="2400">
              <a:latin typeface="微软雅黑" panose="020B0503020204020204" pitchFamily="34" charset="-122"/>
              <a:ea typeface="微软雅黑" panose="020B0503020204020204" pitchFamily="34" charset="-122"/>
            </a:endParaRPr>
          </a:p>
          <a:p>
            <a:pPr marL="285750" indent="-285750">
              <a:lnSpc>
                <a:spcPts val="4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表规模极小：​​ 最多 </a:t>
            </a:r>
            <a:r>
              <a:rPr lang="en-US" altLang="zh-CN" sz="2400">
                <a:latin typeface="微软雅黑" panose="020B0503020204020204" pitchFamily="34" charset="-122"/>
                <a:ea typeface="微软雅黑" panose="020B0503020204020204" pitchFamily="34" charset="-122"/>
              </a:rPr>
              <a:t>k/2</a:t>
            </a:r>
            <a:r>
              <a:rPr lang="zh-CN" altLang="en-US" sz="2400">
                <a:latin typeface="微软雅黑" panose="020B0503020204020204" pitchFamily="34" charset="-122"/>
                <a:ea typeface="微软雅黑" panose="020B0503020204020204" pitchFamily="34" charset="-122"/>
              </a:rPr>
              <a:t>个一级前缀和 </a:t>
            </a:r>
            <a:r>
              <a:rPr lang="en-US" altLang="zh-CN" sz="2400">
                <a:latin typeface="微软雅黑" panose="020B0503020204020204" pitchFamily="34" charset="-122"/>
                <a:ea typeface="微软雅黑" panose="020B0503020204020204" pitchFamily="34" charset="-122"/>
              </a:rPr>
              <a:t>k/2</a:t>
            </a:r>
            <a:r>
              <a:rPr lang="zh-CN" altLang="en-US" sz="2400">
                <a:latin typeface="微软雅黑" panose="020B0503020204020204" pitchFamily="34" charset="-122"/>
                <a:ea typeface="微软雅黑" panose="020B0503020204020204" pitchFamily="34" charset="-122"/>
              </a:rPr>
              <a:t>个二级后缀表项</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1358497"/>
            <a:ext cx="11509657" cy="4653966"/>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2183460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834860"/>
            <a:ext cx="10946033" cy="546303"/>
          </a:xfrm>
          <a:prstGeom prst="rect">
            <a:avLst/>
          </a:prstGeom>
          <a:noFill/>
        </p:spPr>
        <p:txBody>
          <a:bodyPr wrap="square" rtlCol="0">
            <a:spAutoFit/>
          </a:bodyPr>
          <a:lstStyle/>
          <a:p>
            <a:pPr>
              <a:lnSpc>
                <a:spcPts val="40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a:t>
            </a:r>
            <a:r>
              <a:rPr lang="zh-CN" altLang="en-US" sz="2400" b="1">
                <a:latin typeface="微软雅黑" panose="020B0503020204020204" pitchFamily="34" charset="-122"/>
                <a:ea typeface="微软雅黑" panose="020B0503020204020204" pitchFamily="34" charset="-122"/>
              </a:rPr>
              <a:t>路由表生成 </a:t>
            </a:r>
            <a:r>
              <a:rPr lang="en-US" altLang="zh-CN" sz="2400" b="1">
                <a:latin typeface="微软雅黑" panose="020B0503020204020204" pitchFamily="34" charset="-122"/>
                <a:ea typeface="微软雅黑" panose="020B0503020204020204" pitchFamily="34" charset="-122"/>
              </a:rPr>
              <a:t>- Pod</a:t>
            </a:r>
            <a:r>
              <a:rPr lang="zh-CN" altLang="en-US" sz="2400" b="1">
                <a:latin typeface="微软雅黑" panose="020B0503020204020204" pitchFamily="34" charset="-122"/>
                <a:ea typeface="微软雅黑" panose="020B0503020204020204" pitchFamily="34" charset="-122"/>
              </a:rPr>
              <a:t>交换机​</a:t>
            </a:r>
            <a:endParaRPr lang="en-US" altLang="zh-CN" sz="2400" b="1">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A20DC0E5-5D07-4D48-95F8-1C204DE141D7}"/>
              </a:ext>
            </a:extLst>
          </p:cNvPr>
          <p:cNvPicPr>
            <a:picLocks noChangeAspect="1"/>
          </p:cNvPicPr>
          <p:nvPr/>
        </p:nvPicPr>
        <p:blipFill rotWithShape="1">
          <a:blip r:embed="rId3"/>
          <a:srcRect b="23004"/>
          <a:stretch/>
        </p:blipFill>
        <p:spPr>
          <a:xfrm>
            <a:off x="2553859" y="1512797"/>
            <a:ext cx="7084281" cy="3939736"/>
          </a:xfrm>
          <a:prstGeom prst="rect">
            <a:avLst/>
          </a:prstGeom>
        </p:spPr>
      </p:pic>
      <p:sp>
        <p:nvSpPr>
          <p:cNvPr id="11" name="文本框 10">
            <a:extLst>
              <a:ext uri="{FF2B5EF4-FFF2-40B4-BE49-F238E27FC236}">
                <a16:creationId xmlns:a16="http://schemas.microsoft.com/office/drawing/2014/main" id="{931336A2-55A4-43E6-92CA-5497223022FE}"/>
              </a:ext>
            </a:extLst>
          </p:cNvPr>
          <p:cNvSpPr txBox="1"/>
          <p:nvPr/>
        </p:nvSpPr>
        <p:spPr>
          <a:xfrm>
            <a:off x="3256658" y="5584167"/>
            <a:ext cx="6206066" cy="707886"/>
          </a:xfrm>
          <a:prstGeom prst="rect">
            <a:avLst/>
          </a:prstGeom>
          <a:noFill/>
        </p:spPr>
        <p:txBody>
          <a:bodyPr wrap="square">
            <a:spAutoFit/>
          </a:bodyPr>
          <a:lstStyle/>
          <a:p>
            <a:r>
              <a:rPr lang="zh-CN" altLang="en-US" sz="2000"/>
              <a:t>算法：生成 </a:t>
            </a:r>
            <a:r>
              <a:rPr lang="en-US" altLang="zh-CN" sz="2000"/>
              <a:t>aggregation switch </a:t>
            </a:r>
            <a:r>
              <a:rPr lang="zh-CN" altLang="en-US" sz="2000"/>
              <a:t>的 </a:t>
            </a:r>
            <a:r>
              <a:rPr lang="en-US" altLang="zh-CN" sz="2000"/>
              <a:t>routing table;</a:t>
            </a:r>
          </a:p>
          <a:p>
            <a:r>
              <a:rPr lang="zh-CN" altLang="en-US" sz="2000"/>
              <a:t>对于 </a:t>
            </a:r>
            <a:r>
              <a:rPr lang="en-US" altLang="zh-CN" sz="2000"/>
              <a:t>edge </a:t>
            </a:r>
            <a:r>
              <a:rPr lang="zh-CN" altLang="en-US" sz="2000"/>
              <a:t>层交换机，</a:t>
            </a:r>
            <a:r>
              <a:rPr lang="en-US" altLang="zh-CN" sz="2000"/>
              <a:t>z in [0, (</a:t>
            </a:r>
            <a:r>
              <a:rPr lang="en-US" altLang="zh-CN" sz="2000" i="1"/>
              <a:t>k</a:t>
            </a:r>
            <a:r>
              <a:rPr lang="en-US" altLang="zh-CN" sz="2000"/>
              <a:t>/2)-1], </a:t>
            </a:r>
            <a:r>
              <a:rPr lang="zh-CN" altLang="en-US" sz="2000"/>
              <a:t>然后忽略 </a:t>
            </a:r>
            <a:r>
              <a:rPr lang="en-US" altLang="zh-CN" sz="2000"/>
              <a:t>line 3-5</a:t>
            </a:r>
            <a:endParaRPr lang="zh-CN" altLang="en-US" sz="2000"/>
          </a:p>
        </p:txBody>
      </p:sp>
    </p:spTree>
    <p:extLst>
      <p:ext uri="{BB962C8B-B14F-4D97-AF65-F5344CB8AC3E}">
        <p14:creationId xmlns:p14="http://schemas.microsoft.com/office/powerpoint/2010/main" val="36714295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827060"/>
            <a:ext cx="10946033" cy="2668679"/>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路由举例​</a:t>
            </a:r>
            <a:r>
              <a:rPr lang="en-US" altLang="zh-CN" sz="2400" b="1">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源：​​ </a:t>
            </a:r>
            <a:r>
              <a:rPr lang="en-US" altLang="zh-CN" sz="2400">
                <a:latin typeface="微软雅黑" panose="020B0503020204020204" pitchFamily="34" charset="-122"/>
                <a:ea typeface="微软雅黑" panose="020B0503020204020204" pitchFamily="34" charset="-122"/>
              </a:rPr>
              <a:t>10.0.1.2</a:t>
            </a:r>
            <a:r>
              <a:rPr lang="zh-CN" altLang="en-US" sz="2400">
                <a:latin typeface="微软雅黑" panose="020B0503020204020204" pitchFamily="34" charset="-122"/>
                <a:ea typeface="微软雅黑" panose="020B0503020204020204" pitchFamily="34" charset="-122"/>
              </a:rPr>
              <a:t>，目的：​​ </a:t>
            </a:r>
            <a:r>
              <a:rPr lang="en-US" altLang="zh-CN" sz="2400">
                <a:latin typeface="微软雅黑" panose="020B0503020204020204" pitchFamily="34" charset="-122"/>
                <a:ea typeface="微软雅黑" panose="020B0503020204020204" pitchFamily="34" charset="-122"/>
              </a:rPr>
              <a:t>10.2.0.3</a:t>
            </a:r>
            <a:endParaRPr lang="zh-CN" altLang="en-US"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 </a:t>
            </a:r>
            <a:r>
              <a:rPr lang="zh-CN" altLang="en-US" sz="2400">
                <a:latin typeface="微软雅黑" panose="020B0503020204020204" pitchFamily="34" charset="-122"/>
                <a:ea typeface="微软雅黑" panose="020B0503020204020204" pitchFamily="34" charset="-122"/>
              </a:rPr>
              <a:t>源网关交换机 </a:t>
            </a:r>
            <a:r>
              <a:rPr lang="en-US" altLang="zh-CN" sz="2400">
                <a:latin typeface="微软雅黑" panose="020B0503020204020204" pitchFamily="34" charset="-122"/>
                <a:ea typeface="微软雅黑" panose="020B0503020204020204" pitchFamily="34" charset="-122"/>
              </a:rPr>
              <a:t>(10.0.1.1) </a:t>
            </a: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匹配 </a:t>
            </a:r>
            <a:r>
              <a:rPr lang="en-US" altLang="zh-CN" sz="2400">
                <a:latin typeface="微软雅黑" panose="020B0503020204020204" pitchFamily="34" charset="-122"/>
                <a:ea typeface="微软雅黑" panose="020B0503020204020204" pitchFamily="34" charset="-122"/>
              </a:rPr>
              <a:t>/0-&gt; </a:t>
            </a:r>
            <a:r>
              <a:rPr lang="zh-CN" altLang="en-US" sz="2400">
                <a:latin typeface="微软雅黑" panose="020B0503020204020204" pitchFamily="34" charset="-122"/>
                <a:ea typeface="微软雅黑" panose="020B0503020204020204" pitchFamily="34" charset="-122"/>
              </a:rPr>
              <a:t>查二级表。</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后缀 </a:t>
            </a:r>
            <a:r>
              <a:rPr lang="en-US" altLang="zh-CN" sz="2400">
                <a:latin typeface="微软雅黑" panose="020B0503020204020204" pitchFamily="34" charset="-122"/>
                <a:ea typeface="微软雅黑" panose="020B0503020204020204" pitchFamily="34" charset="-122"/>
              </a:rPr>
              <a:t>X.X.X.3</a:t>
            </a:r>
            <a:r>
              <a:rPr lang="zh-CN" altLang="en-US" sz="2400">
                <a:latin typeface="微软雅黑" panose="020B0503020204020204" pitchFamily="34" charset="-122"/>
                <a:ea typeface="微软雅黑" panose="020B0503020204020204" pitchFamily="34" charset="-122"/>
              </a:rPr>
              <a:t>匹配 </a:t>
            </a:r>
            <a:r>
              <a:rPr lang="en-US" altLang="zh-CN" sz="2400">
                <a:latin typeface="微软雅黑" panose="020B0503020204020204" pitchFamily="34" charset="-122"/>
                <a:ea typeface="微软雅黑" panose="020B0503020204020204" pitchFamily="34" charset="-122"/>
              </a:rPr>
              <a:t>-&gt; </a:t>
            </a:r>
            <a:r>
              <a:rPr lang="zh-CN" altLang="en-US" sz="2400">
                <a:latin typeface="微软雅黑" panose="020B0503020204020204" pitchFamily="34" charset="-122"/>
                <a:ea typeface="微软雅黑" panose="020B0503020204020204" pitchFamily="34" charset="-122"/>
              </a:rPr>
              <a:t>转发至​​端口</a:t>
            </a: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往上层交换机 </a:t>
            </a:r>
            <a:r>
              <a:rPr lang="en-US" altLang="zh-CN" sz="2400">
                <a:latin typeface="微软雅黑" panose="020B0503020204020204" pitchFamily="34" charset="-122"/>
                <a:ea typeface="微软雅黑" panose="020B0503020204020204" pitchFamily="34" charset="-122"/>
              </a:rPr>
              <a:t>10.0.2.1)</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2. ​​Pod</a:t>
            </a:r>
            <a:r>
              <a:rPr lang="zh-CN" altLang="en-US" sz="2400">
                <a:latin typeface="微软雅黑" panose="020B0503020204020204" pitchFamily="34" charset="-122"/>
                <a:ea typeface="微软雅黑" panose="020B0503020204020204" pitchFamily="34" charset="-122"/>
              </a:rPr>
              <a:t>内上层交换机 </a:t>
            </a:r>
            <a:r>
              <a:rPr lang="en-US" altLang="zh-CN" sz="2400">
                <a:latin typeface="微软雅黑" panose="020B0503020204020204" pitchFamily="34" charset="-122"/>
                <a:ea typeface="微软雅黑" panose="020B0503020204020204" pitchFamily="34" charset="-122"/>
              </a:rPr>
              <a:t>(10.0.2.1)</a:t>
            </a: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同样操作，根据主机</a:t>
            </a:r>
            <a:r>
              <a:rPr lang="en-US" altLang="zh-CN" sz="2400">
                <a:latin typeface="微软雅黑" panose="020B0503020204020204" pitchFamily="34" charset="-122"/>
                <a:ea typeface="微软雅黑" panose="020B0503020204020204" pitchFamily="34" charset="-122"/>
              </a:rPr>
              <a:t>ID 3</a:t>
            </a:r>
            <a:r>
              <a:rPr lang="zh-CN" altLang="en-US" sz="2400">
                <a:latin typeface="微软雅黑" panose="020B0503020204020204" pitchFamily="34" charset="-122"/>
                <a:ea typeface="微软雅黑" panose="020B0503020204020204" pitchFamily="34" charset="-122"/>
              </a:rPr>
              <a:t>转发至​​端口</a:t>
            </a:r>
            <a:r>
              <a:rPr lang="en-US" altLang="zh-CN" sz="2400">
                <a:latin typeface="微软雅黑" panose="020B0503020204020204" pitchFamily="34" charset="-122"/>
                <a:ea typeface="微软雅黑" panose="020B0503020204020204" pitchFamily="34" charset="-122"/>
              </a:rPr>
              <a:t>3​​ (</a:t>
            </a:r>
            <a:r>
              <a:rPr lang="zh-CN" altLang="en-US" sz="2400">
                <a:latin typeface="微软雅黑" panose="020B0503020204020204" pitchFamily="34" charset="-122"/>
                <a:ea typeface="微软雅黑" panose="020B0503020204020204" pitchFamily="34" charset="-122"/>
              </a:rPr>
              <a:t>往核心交换机 </a:t>
            </a:r>
            <a:r>
              <a:rPr lang="en-US" altLang="zh-CN" sz="2400">
                <a:latin typeface="微软雅黑" panose="020B0503020204020204" pitchFamily="34" charset="-122"/>
                <a:ea typeface="微软雅黑" panose="020B0503020204020204" pitchFamily="34" charset="-122"/>
              </a:rPr>
              <a:t>10.4.1.1)</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3833439"/>
            <a:ext cx="11509657" cy="2550428"/>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7E2E95BD-5C36-4C38-B0CD-1AB3168A8A42}"/>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1339597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3827060"/>
            <a:ext cx="10946033" cy="2594941"/>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路由举例​</a:t>
            </a:r>
            <a:r>
              <a:rPr lang="en-US" altLang="zh-CN" sz="2400" b="1">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源：​​ </a:t>
            </a:r>
            <a:r>
              <a:rPr lang="en-US" altLang="zh-CN" sz="2400">
                <a:latin typeface="微软雅黑" panose="020B0503020204020204" pitchFamily="34" charset="-122"/>
                <a:ea typeface="微软雅黑" panose="020B0503020204020204" pitchFamily="34" charset="-122"/>
              </a:rPr>
              <a:t>10.0.1.2</a:t>
            </a:r>
            <a:r>
              <a:rPr lang="zh-CN" altLang="en-US" sz="2400">
                <a:latin typeface="微软雅黑" panose="020B0503020204020204" pitchFamily="34" charset="-122"/>
                <a:ea typeface="微软雅黑" panose="020B0503020204020204" pitchFamily="34" charset="-122"/>
              </a:rPr>
              <a:t>，目的：​​ </a:t>
            </a:r>
            <a:r>
              <a:rPr lang="en-US" altLang="zh-CN" sz="2400">
                <a:latin typeface="微软雅黑" panose="020B0503020204020204" pitchFamily="34" charset="-122"/>
                <a:ea typeface="微软雅黑" panose="020B0503020204020204" pitchFamily="34" charset="-122"/>
              </a:rPr>
              <a:t>10.2.0.3</a:t>
            </a:r>
            <a:endParaRPr lang="zh-CN" altLang="en-US"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3. </a:t>
            </a:r>
            <a:r>
              <a:rPr lang="zh-CN" altLang="en-US" sz="2400">
                <a:latin typeface="微软雅黑" panose="020B0503020204020204" pitchFamily="34" charset="-122"/>
                <a:ea typeface="微软雅黑" panose="020B0503020204020204" pitchFamily="34" charset="-122"/>
              </a:rPr>
              <a:t>核心交换机 </a:t>
            </a:r>
            <a:r>
              <a:rPr lang="en-US" altLang="zh-CN" sz="2400">
                <a:latin typeface="微软雅黑" panose="020B0503020204020204" pitchFamily="34" charset="-122"/>
                <a:ea typeface="微软雅黑" panose="020B0503020204020204" pitchFamily="34" charset="-122"/>
              </a:rPr>
              <a:t>(10.4.1.1)</a:t>
            </a: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匹配终止前缀 </a:t>
            </a:r>
            <a:r>
              <a:rPr lang="en-US" altLang="zh-CN" sz="2400">
                <a:latin typeface="微软雅黑" panose="020B0503020204020204" pitchFamily="34" charset="-122"/>
                <a:ea typeface="微软雅黑" panose="020B0503020204020204" pitchFamily="34" charset="-122"/>
              </a:rPr>
              <a:t>10.2.0.0/16-&gt; </a:t>
            </a:r>
            <a:r>
              <a:rPr lang="zh-CN" altLang="en-US" sz="2400">
                <a:latin typeface="微软雅黑" panose="020B0503020204020204" pitchFamily="34" charset="-122"/>
                <a:ea typeface="微软雅黑" panose="020B0503020204020204" pitchFamily="34" charset="-122"/>
              </a:rPr>
              <a:t>转发至​​端口</a:t>
            </a: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通往</a:t>
            </a:r>
            <a:r>
              <a:rPr lang="en-US" altLang="zh-CN" sz="2400">
                <a:latin typeface="微软雅黑" panose="020B0503020204020204" pitchFamily="34" charset="-122"/>
                <a:ea typeface="微软雅黑" panose="020B0503020204020204" pitchFamily="34" charset="-122"/>
              </a:rPr>
              <a:t>Pod 2)</a:t>
            </a:r>
            <a:r>
              <a:rPr lang="zh-CN" altLang="en-US" sz="2400">
                <a:latin typeface="微软雅黑" panose="020B0503020204020204" pitchFamily="34" charset="-122"/>
                <a:ea typeface="微软雅黑" panose="020B0503020204020204" pitchFamily="34" charset="-122"/>
              </a:rPr>
              <a:t>。</a:t>
            </a: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4. </a:t>
            </a:r>
            <a:r>
              <a:rPr lang="zh-CN" altLang="en-US" sz="2400">
                <a:latin typeface="微软雅黑" panose="020B0503020204020204" pitchFamily="34" charset="-122"/>
                <a:ea typeface="微软雅黑" panose="020B0503020204020204" pitchFamily="34" charset="-122"/>
              </a:rPr>
              <a:t>目的</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上层交换机 </a:t>
            </a:r>
            <a:r>
              <a:rPr lang="en-US" altLang="zh-CN" sz="2400">
                <a:latin typeface="微软雅黑" panose="020B0503020204020204" pitchFamily="34" charset="-122"/>
                <a:ea typeface="微软雅黑" panose="020B0503020204020204" pitchFamily="34" charset="-122"/>
              </a:rPr>
              <a:t>(10.2.2.1)</a:t>
            </a: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匹配终止前缀 </a:t>
            </a:r>
            <a:r>
              <a:rPr lang="en-US" altLang="zh-CN" sz="2400">
                <a:latin typeface="微软雅黑" panose="020B0503020204020204" pitchFamily="34" charset="-122"/>
                <a:ea typeface="微软雅黑" panose="020B0503020204020204" pitchFamily="34" charset="-122"/>
              </a:rPr>
              <a:t>10.2.0.0/24-&gt; </a:t>
            </a:r>
            <a:r>
              <a:rPr lang="zh-CN" altLang="en-US" sz="2400">
                <a:latin typeface="微软雅黑" panose="020B0503020204020204" pitchFamily="34" charset="-122"/>
                <a:ea typeface="微软雅黑" panose="020B0503020204020204" pitchFamily="34" charset="-122"/>
              </a:rPr>
              <a:t>转发至​​端口</a:t>
            </a:r>
            <a:r>
              <a:rPr lang="en-US" altLang="zh-CN" sz="2400">
                <a:latin typeface="微软雅黑" panose="020B0503020204020204" pitchFamily="34" charset="-122"/>
                <a:ea typeface="微软雅黑" panose="020B0503020204020204" pitchFamily="34" charset="-122"/>
              </a:rPr>
              <a:t>0​​ (</a:t>
            </a:r>
            <a:r>
              <a:rPr lang="zh-CN" altLang="en-US" sz="2400">
                <a:latin typeface="微软雅黑" panose="020B0503020204020204" pitchFamily="34" charset="-122"/>
                <a:ea typeface="微软雅黑" panose="020B0503020204020204" pitchFamily="34" charset="-122"/>
              </a:rPr>
              <a:t>往目的子网交换机 </a:t>
            </a:r>
            <a:r>
              <a:rPr lang="en-US" altLang="zh-CN" sz="2400">
                <a:latin typeface="微软雅黑" panose="020B0503020204020204" pitchFamily="34" charset="-122"/>
                <a:ea typeface="微软雅黑" panose="020B0503020204020204" pitchFamily="34" charset="-122"/>
              </a:rPr>
              <a:t>10.2.0.1)</a:t>
            </a:r>
            <a:r>
              <a:rPr lang="zh-CN" altLang="en-US" sz="2400">
                <a:latin typeface="微软雅黑" panose="020B0503020204020204" pitchFamily="34" charset="-122"/>
                <a:ea typeface="微软雅黑" panose="020B0503020204020204" pitchFamily="34" charset="-122"/>
              </a:rPr>
              <a:t>。</a:t>
            </a: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5. ​​</a:t>
            </a:r>
            <a:r>
              <a:rPr lang="zh-CN" altLang="en-US" sz="2400">
                <a:latin typeface="微软雅黑" panose="020B0503020204020204" pitchFamily="34" charset="-122"/>
                <a:ea typeface="微软雅黑" panose="020B0503020204020204" pitchFamily="34" charset="-122"/>
              </a:rPr>
              <a:t>目的子网交换机 </a:t>
            </a:r>
            <a:r>
              <a:rPr lang="en-US" altLang="zh-CN" sz="2400">
                <a:latin typeface="微软雅黑" panose="020B0503020204020204" pitchFamily="34" charset="-122"/>
                <a:ea typeface="微软雅黑" panose="020B0503020204020204" pitchFamily="34" charset="-122"/>
              </a:rPr>
              <a:t>(10.2.0.1):​​ </a:t>
            </a:r>
            <a:r>
              <a:rPr lang="zh-CN" altLang="en-US" sz="2400">
                <a:latin typeface="微软雅黑" panose="020B0503020204020204" pitchFamily="34" charset="-122"/>
                <a:ea typeface="微软雅黑" panose="020B0503020204020204" pitchFamily="34" charset="-122"/>
              </a:rPr>
              <a:t>标准交换，送达主机</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3833439"/>
            <a:ext cx="11509657" cy="2550428"/>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7E2E95BD-5C36-4C38-B0CD-1AB3168A8A42}"/>
              </a:ext>
            </a:extLst>
          </p:cNvPr>
          <p:cNvPicPr>
            <a:picLocks noChangeAspect="1" noChangeArrowheads="1"/>
          </p:cNvPicPr>
          <p:nvPr/>
        </p:nvPicPr>
        <p:blipFill rotWithShape="1">
          <a:blip r:embed="rId3" cstate="print"/>
          <a:srcRect t="6675"/>
          <a:stretch/>
        </p:blipFill>
        <p:spPr bwMode="auto">
          <a:xfrm>
            <a:off x="2223989" y="818557"/>
            <a:ext cx="7772800" cy="3014882"/>
          </a:xfrm>
          <a:prstGeom prst="rect">
            <a:avLst/>
          </a:prstGeom>
          <a:noFill/>
          <a:ln w="9525">
            <a:noFill/>
            <a:miter lim="800000"/>
            <a:headEnd/>
            <a:tailEnd/>
          </a:ln>
        </p:spPr>
      </p:pic>
    </p:spTree>
    <p:extLst>
      <p:ext uri="{BB962C8B-B14F-4D97-AF65-F5344CB8AC3E}">
        <p14:creationId xmlns:p14="http://schemas.microsoft.com/office/powerpoint/2010/main" val="5437187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3.5 Routing Algorithm</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1" y="3827060"/>
            <a:ext cx="8947900" cy="2598917"/>
          </a:xfrm>
          <a:prstGeom prst="rect">
            <a:avLst/>
          </a:prstGeom>
          <a:noFill/>
        </p:spPr>
        <p:txBody>
          <a:bodyPr wrap="square" rtlCol="0">
            <a:spAutoFit/>
          </a:bodyPr>
          <a:lstStyle/>
          <a:p>
            <a:pPr>
              <a:lnSpc>
                <a:spcPts val="3300"/>
              </a:lnSpc>
            </a:pP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Fat-tree </a:t>
            </a:r>
            <a:r>
              <a:rPr lang="zh-CN" altLang="en-US" sz="2400" b="1">
                <a:latin typeface="微软雅黑" panose="020B0503020204020204" pitchFamily="34" charset="-122"/>
                <a:ea typeface="微软雅黑" panose="020B0503020204020204" pitchFamily="34" charset="-122"/>
              </a:rPr>
              <a:t>路由举例​</a:t>
            </a: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思考：</a:t>
            </a:r>
            <a:r>
              <a:rPr lang="zh-CN" altLang="en-US" sz="2400">
                <a:latin typeface="微软雅黑" panose="020B0503020204020204" pitchFamily="34" charset="-122"/>
                <a:ea typeface="微软雅黑" panose="020B0503020204020204" pitchFamily="34" charset="-122"/>
              </a:rPr>
              <a:t>若目的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变为 ​​ </a:t>
            </a:r>
            <a:r>
              <a:rPr lang="en-US" altLang="zh-CN" sz="2400">
                <a:latin typeface="微软雅黑" panose="020B0503020204020204" pitchFamily="34" charset="-122"/>
                <a:ea typeface="微软雅黑" panose="020B0503020204020204" pitchFamily="34" charset="-122"/>
              </a:rPr>
              <a:t>10.2.0.</a:t>
            </a:r>
            <a:r>
              <a:rPr lang="en-US" altLang="zh-CN" sz="2400" b="1">
                <a:solidFill>
                  <a:srgbClr val="2E75B6"/>
                </a:solidFill>
                <a:latin typeface="微软雅黑" panose="020B0503020204020204" pitchFamily="34" charset="-122"/>
                <a:ea typeface="微软雅黑" panose="020B0503020204020204" pitchFamily="34" charset="-122"/>
              </a:rPr>
              <a:t>2</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呢？</a:t>
            </a: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 </a:t>
            </a:r>
            <a:r>
              <a:rPr lang="zh-CN" altLang="en-US" sz="2400">
                <a:latin typeface="微软雅黑" panose="020B0503020204020204" pitchFamily="34" charset="-122"/>
                <a:ea typeface="微软雅黑" panose="020B0503020204020204" pitchFamily="34" charset="-122"/>
              </a:rPr>
              <a:t>在网关交换机</a:t>
            </a:r>
            <a:r>
              <a:rPr lang="en-US" altLang="zh-CN" sz="2400">
                <a:latin typeface="微软雅黑" panose="020B0503020204020204" pitchFamily="34" charset="-122"/>
                <a:ea typeface="微软雅黑" panose="020B0503020204020204" pitchFamily="34" charset="-122"/>
              </a:rPr>
              <a:t>(10.0.</a:t>
            </a:r>
            <a:r>
              <a:rPr lang="en-US" altLang="zh-CN" sz="2400" b="1">
                <a:solidFill>
                  <a:schemeClr val="accent6"/>
                </a:solidFill>
                <a:latin typeface="微软雅黑" panose="020B0503020204020204" pitchFamily="34" charset="-122"/>
                <a:ea typeface="微软雅黑" panose="020B0503020204020204" pitchFamily="34" charset="-122"/>
              </a:rPr>
              <a:t>1</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上，匹配</a:t>
            </a:r>
            <a:r>
              <a:rPr lang="en-US" altLang="zh-CN" sz="2400">
                <a:latin typeface="微软雅黑" panose="020B0503020204020204" pitchFamily="34" charset="-122"/>
                <a:ea typeface="微软雅黑" panose="020B0503020204020204" pitchFamily="34" charset="-122"/>
              </a:rPr>
              <a:t> port </a:t>
            </a:r>
            <a:r>
              <a:rPr lang="en-US" altLang="zh-CN" sz="2400" b="1">
                <a:solidFill>
                  <a:schemeClr val="accent2"/>
                </a:solidFill>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，下一跳 </a:t>
            </a:r>
            <a:r>
              <a:rPr lang="en-US" altLang="zh-CN" sz="2400">
                <a:latin typeface="微软雅黑" panose="020B0503020204020204" pitchFamily="34" charset="-122"/>
                <a:ea typeface="微软雅黑" panose="020B0503020204020204" pitchFamily="34" charset="-122"/>
              </a:rPr>
              <a:t>(10.0.3.1).</a:t>
            </a:r>
          </a:p>
          <a:p>
            <a:pPr marL="742950" lvl="1"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port = (</a:t>
            </a:r>
            <a:r>
              <a:rPr lang="en-US" altLang="zh-CN" sz="2400" b="1">
                <a:solidFill>
                  <a:srgbClr val="2E75B6"/>
                </a:solidFill>
                <a:latin typeface="微软雅黑" panose="020B0503020204020204" pitchFamily="34" charset="-122"/>
                <a:ea typeface="微软雅黑" panose="020B0503020204020204" pitchFamily="34" charset="-122"/>
              </a:rPr>
              <a:t>2</a:t>
            </a:r>
            <a:r>
              <a:rPr lang="en-US" altLang="zh-CN" sz="2400">
                <a:latin typeface="微软雅黑" panose="020B0503020204020204" pitchFamily="34" charset="-122"/>
                <a:ea typeface="微软雅黑" panose="020B0503020204020204" pitchFamily="34" charset="-122"/>
              </a:rPr>
              <a:t>-2+</a:t>
            </a:r>
            <a:r>
              <a:rPr lang="en-US" altLang="zh-CN" sz="2400" b="1">
                <a:solidFill>
                  <a:schemeClr val="accent6"/>
                </a:solidFill>
                <a:latin typeface="微软雅黑" panose="020B0503020204020204" pitchFamily="34" charset="-122"/>
                <a:ea typeface="微软雅黑" panose="020B0503020204020204" pitchFamily="34" charset="-122"/>
              </a:rPr>
              <a:t>1</a:t>
            </a:r>
            <a:r>
              <a:rPr lang="en-US" altLang="zh-CN" sz="2400">
                <a:latin typeface="微软雅黑" panose="020B0503020204020204" pitchFamily="34" charset="-122"/>
                <a:ea typeface="微软雅黑" panose="020B0503020204020204" pitchFamily="34" charset="-122"/>
              </a:rPr>
              <a:t>) mod 2 +2 = </a:t>
            </a:r>
            <a:r>
              <a:rPr lang="en-US" altLang="zh-CN" sz="2400" b="1">
                <a:solidFill>
                  <a:schemeClr val="accent2"/>
                </a:solidFill>
                <a:latin typeface="微软雅黑" panose="020B0503020204020204" pitchFamily="34" charset="-122"/>
                <a:ea typeface="微软雅黑" panose="020B0503020204020204" pitchFamily="34" charset="-122"/>
              </a:rPr>
              <a:t>3</a:t>
            </a: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在网关交换机</a:t>
            </a:r>
            <a:r>
              <a:rPr lang="en-US" altLang="zh-CN" sz="2400">
                <a:latin typeface="微软雅黑" panose="020B0503020204020204" pitchFamily="34" charset="-122"/>
                <a:ea typeface="微软雅黑" panose="020B0503020204020204" pitchFamily="34" charset="-122"/>
              </a:rPr>
              <a:t>(10.0.</a:t>
            </a:r>
            <a:r>
              <a:rPr lang="en-US" altLang="zh-CN" sz="2400" b="1">
                <a:solidFill>
                  <a:schemeClr val="accent6"/>
                </a:solidFill>
                <a:latin typeface="微软雅黑" panose="020B0503020204020204" pitchFamily="34" charset="-122"/>
                <a:ea typeface="微软雅黑" panose="020B0503020204020204" pitchFamily="34" charset="-122"/>
              </a:rPr>
              <a:t>3</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上，匹配 </a:t>
            </a:r>
            <a:r>
              <a:rPr lang="en-US" altLang="zh-CN" sz="2400">
                <a:latin typeface="微软雅黑" panose="020B0503020204020204" pitchFamily="34" charset="-122"/>
                <a:ea typeface="微软雅黑" panose="020B0503020204020204" pitchFamily="34" charset="-122"/>
              </a:rPr>
              <a:t>port </a:t>
            </a:r>
            <a:r>
              <a:rPr lang="en-US" altLang="zh-CN" sz="2400" b="1">
                <a:solidFill>
                  <a:schemeClr val="accent2"/>
                </a:solidFill>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，下一跳 </a:t>
            </a:r>
            <a:r>
              <a:rPr lang="en-US" altLang="zh-CN" sz="2400">
                <a:latin typeface="微软雅黑" panose="020B0503020204020204" pitchFamily="34" charset="-122"/>
                <a:ea typeface="微软雅黑" panose="020B0503020204020204" pitchFamily="34" charset="-122"/>
              </a:rPr>
              <a:t>(10.4.2.2).</a:t>
            </a:r>
          </a:p>
          <a:p>
            <a:pPr marL="742950" lvl="1"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port = (</a:t>
            </a:r>
            <a:r>
              <a:rPr lang="en-US" altLang="zh-CN" sz="2400" b="1">
                <a:solidFill>
                  <a:srgbClr val="2E75B6"/>
                </a:solidFill>
                <a:latin typeface="微软雅黑" panose="020B0503020204020204" pitchFamily="34" charset="-122"/>
                <a:ea typeface="微软雅黑" panose="020B0503020204020204" pitchFamily="34" charset="-122"/>
              </a:rPr>
              <a:t>2</a:t>
            </a:r>
            <a:r>
              <a:rPr lang="en-US" altLang="zh-CN" sz="2400">
                <a:latin typeface="微软雅黑" panose="020B0503020204020204" pitchFamily="34" charset="-122"/>
                <a:ea typeface="微软雅黑" panose="020B0503020204020204" pitchFamily="34" charset="-122"/>
              </a:rPr>
              <a:t>-2+</a:t>
            </a:r>
            <a:r>
              <a:rPr lang="en-US" altLang="zh-CN" sz="2400" b="1">
                <a:solidFill>
                  <a:schemeClr val="accent6"/>
                </a:solidFill>
                <a:latin typeface="微软雅黑" panose="020B0503020204020204" pitchFamily="34" charset="-122"/>
                <a:ea typeface="微软雅黑" panose="020B0503020204020204" pitchFamily="34" charset="-122"/>
              </a:rPr>
              <a:t>3</a:t>
            </a:r>
            <a:r>
              <a:rPr lang="en-US" altLang="zh-CN" sz="2400">
                <a:latin typeface="微软雅黑" panose="020B0503020204020204" pitchFamily="34" charset="-122"/>
                <a:ea typeface="微软雅黑" panose="020B0503020204020204" pitchFamily="34" charset="-122"/>
              </a:rPr>
              <a:t>) mod 2 +2 = </a:t>
            </a:r>
            <a:r>
              <a:rPr lang="en-US" altLang="zh-CN" sz="2400" b="1">
                <a:solidFill>
                  <a:schemeClr val="accent2"/>
                </a:solidFill>
                <a:latin typeface="微软雅黑" panose="020B0503020204020204" pitchFamily="34" charset="-122"/>
                <a:ea typeface="微软雅黑" panose="020B0503020204020204" pitchFamily="34" charset="-122"/>
              </a:rPr>
              <a:t>3</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3. </a:t>
            </a:r>
            <a:r>
              <a:rPr lang="zh-CN" altLang="en-US" sz="2400">
                <a:latin typeface="微软雅黑" panose="020B0503020204020204" pitchFamily="34" charset="-122"/>
                <a:ea typeface="微软雅黑" panose="020B0503020204020204" pitchFamily="34" charset="-122"/>
              </a:rPr>
              <a:t>接下来三跳上都会匹配中路由表中的终止前缀</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3849741"/>
            <a:ext cx="11416011" cy="253412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2">
            <a:extLst>
              <a:ext uri="{FF2B5EF4-FFF2-40B4-BE49-F238E27FC236}">
                <a16:creationId xmlns:a16="http://schemas.microsoft.com/office/drawing/2014/main" id="{7E2E95BD-5C36-4C38-B0CD-1AB3168A8A42}"/>
              </a:ext>
            </a:extLst>
          </p:cNvPr>
          <p:cNvPicPr>
            <a:picLocks noChangeAspect="1" noChangeArrowheads="1"/>
          </p:cNvPicPr>
          <p:nvPr/>
        </p:nvPicPr>
        <p:blipFill rotWithShape="1">
          <a:blip r:embed="rId3" cstate="print"/>
          <a:srcRect t="6675"/>
          <a:stretch/>
        </p:blipFill>
        <p:spPr bwMode="auto">
          <a:xfrm>
            <a:off x="149770" y="800994"/>
            <a:ext cx="7772800" cy="3014882"/>
          </a:xfrm>
          <a:prstGeom prst="rect">
            <a:avLst/>
          </a:prstGeom>
          <a:noFill/>
          <a:ln w="9525">
            <a:noFill/>
            <a:miter lim="800000"/>
            <a:headEnd/>
            <a:tailEnd/>
          </a:ln>
        </p:spPr>
      </p:pic>
      <p:pic>
        <p:nvPicPr>
          <p:cNvPr id="11" name="Picture 2">
            <a:extLst>
              <a:ext uri="{FF2B5EF4-FFF2-40B4-BE49-F238E27FC236}">
                <a16:creationId xmlns:a16="http://schemas.microsoft.com/office/drawing/2014/main" id="{57EC39CE-DB33-456F-91BA-225CBECC5891}"/>
              </a:ext>
            </a:extLst>
          </p:cNvPr>
          <p:cNvPicPr>
            <a:picLocks noChangeAspect="1" noChangeArrowheads="1"/>
          </p:cNvPicPr>
          <p:nvPr/>
        </p:nvPicPr>
        <p:blipFill>
          <a:blip r:embed="rId4" cstate="print"/>
          <a:srcRect/>
          <a:stretch>
            <a:fillRect/>
          </a:stretch>
        </p:blipFill>
        <p:spPr bwMode="auto">
          <a:xfrm>
            <a:off x="7147746" y="2107061"/>
            <a:ext cx="4500509" cy="1006693"/>
          </a:xfrm>
          <a:prstGeom prst="rect">
            <a:avLst/>
          </a:prstGeom>
          <a:noFill/>
          <a:ln w="9525">
            <a:solidFill>
              <a:srgbClr val="FF0000"/>
            </a:solidFill>
            <a:miter lim="800000"/>
            <a:headEnd/>
            <a:tailEnd/>
          </a:ln>
        </p:spPr>
      </p:pic>
    </p:spTree>
    <p:extLst>
      <p:ext uri="{BB962C8B-B14F-4D97-AF65-F5344CB8AC3E}">
        <p14:creationId xmlns:p14="http://schemas.microsoft.com/office/powerpoint/2010/main" val="27152396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235E52-36ED-4355-BD01-4736747F74FD}"/>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34152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3.6 Flow Classification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042438"/>
            <a:ext cx="10946033" cy="5625386"/>
          </a:xfrm>
          <a:prstGeom prst="rect">
            <a:avLst/>
          </a:prstGeom>
          <a:noFill/>
        </p:spPr>
        <p:txBody>
          <a:bodyPr wrap="square" rtlCol="0">
            <a:spAutoFit/>
          </a:bodyPr>
          <a:lstStyle/>
          <a:p>
            <a:pPr>
              <a:lnSpc>
                <a:spcPts val="3800"/>
              </a:lnSpc>
            </a:pPr>
            <a:r>
              <a:rPr lang="zh-CN" altLang="en-US" sz="2400" b="1">
                <a:latin typeface="微软雅黑" panose="020B0503020204020204" pitchFamily="34" charset="-122"/>
                <a:ea typeface="微软雅黑" panose="020B0503020204020204" pitchFamily="34" charset="-122"/>
              </a:rPr>
              <a:t>​​动态流分类机制</a:t>
            </a:r>
            <a:r>
              <a:rPr lang="zh-CN" altLang="en-US" sz="2800" b="1">
                <a:latin typeface="微软雅黑" panose="020B0503020204020204" pitchFamily="34" charset="-122"/>
                <a:ea typeface="微软雅黑" panose="020B0503020204020204" pitchFamily="34" charset="-122"/>
              </a:rPr>
              <a:t>​</a:t>
            </a:r>
            <a:r>
              <a:rPr lang="en-US" altLang="zh-CN" sz="2800" b="1">
                <a:latin typeface="微软雅黑" panose="020B0503020204020204" pitchFamily="34" charset="-122"/>
                <a:ea typeface="微软雅黑" panose="020B0503020204020204" pitchFamily="34" charset="-122"/>
              </a:rPr>
              <a:t>   </a:t>
            </a:r>
            <a:endParaRPr lang="zh-CN" altLang="en-US" sz="28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设计定位：可选的高级功能​​</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这是在之前所述​​两级静态路由​​基础上，考虑增加的​​两种可选动态路由技术​​之一</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目标：为量化其潜在优势，但需承认它会带来额外的逐包处理开销</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核心特性：软状态与回退​​</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此类方案维护的均是​​软状态（</a:t>
            </a:r>
            <a:r>
              <a:rPr lang="en-US" altLang="zh-CN" sz="2400">
                <a:latin typeface="微软雅黑" panose="020B0503020204020204" pitchFamily="34" charset="-122"/>
                <a:ea typeface="微软雅黑" panose="020B0503020204020204" pitchFamily="34" charset="-122"/>
              </a:rPr>
              <a:t>Soft State</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若状态丢失，单个交换机可以​​无缝回退​​到基础的二级路由策略，保证网络连通性</a:t>
            </a:r>
            <a:endParaRPr lang="en-US" altLang="zh-CN" sz="240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流（</a:t>
            </a:r>
            <a:r>
              <a:rPr lang="en-US" altLang="zh-CN" sz="2400">
                <a:latin typeface="微软雅黑" panose="020B0503020204020204" pitchFamily="34" charset="-122"/>
                <a:ea typeface="微软雅黑" panose="020B0503020204020204" pitchFamily="34" charset="-122"/>
              </a:rPr>
              <a:t>Flow</a:t>
            </a:r>
            <a:r>
              <a:rPr lang="zh-CN" altLang="en-US" sz="2400">
                <a:latin typeface="微软雅黑" panose="020B0503020204020204" pitchFamily="34" charset="-122"/>
                <a:ea typeface="微软雅黑" panose="020B0503020204020204" pitchFamily="34" charset="-122"/>
              </a:rPr>
              <a:t>）的定义​​</a:t>
            </a:r>
            <a:endParaRPr lang="en-US" altLang="zh-CN" sz="240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拥有​​相同包头字段子集​​（通常为：源</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、目的传输端口）的一个报文序列</a:t>
            </a:r>
          </a:p>
          <a:p>
            <a:pPr marL="285750" indent="-285750">
              <a:lnSpc>
                <a:spcPts val="3300"/>
              </a:lnSpc>
              <a:buFont typeface="Wingdings" panose="05000000000000000000" pitchFamily="2" charset="2"/>
              <a:buChar char="Ø"/>
            </a:pP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200"/>
            <a:ext cx="11509657" cy="541866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940011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3.6 Flow Classification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079283"/>
            <a:ext cx="11291800" cy="5740802"/>
          </a:xfrm>
          <a:prstGeom prst="rect">
            <a:avLst/>
          </a:prstGeom>
          <a:noFill/>
        </p:spPr>
        <p:txBody>
          <a:bodyPr wrap="square" rtlCol="0">
            <a:spAutoFit/>
          </a:bodyPr>
          <a:lstStyle/>
          <a:p>
            <a:pPr>
              <a:lnSpc>
                <a:spcPts val="3700"/>
              </a:lnSpc>
            </a:pPr>
            <a:r>
              <a:rPr lang="zh-CN" altLang="en-US" sz="2400" b="1">
                <a:latin typeface="微软雅黑" panose="020B0503020204020204" pitchFamily="34" charset="-122"/>
                <a:ea typeface="微软雅黑" panose="020B0503020204020204" pitchFamily="34" charset="-122"/>
              </a:rPr>
              <a:t>​​动态流分类机制</a:t>
            </a:r>
            <a:r>
              <a:rPr lang="zh-CN" altLang="en-US" sz="2800" b="1">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工作机制（在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交换机中实现）​​</a:t>
            </a:r>
            <a:endParaRPr lang="en-US" altLang="zh-CN" sz="240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流识别与保持​​</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识别出属于​​同一流​​的后续报文，并将其从​​相同的输出端口​​转发。</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目的：​​ 避免同一流的报文出现乱序。</a:t>
            </a:r>
            <a:endParaRPr lang="en-US" altLang="zh-CN" sz="240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动态端口重分配​​</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周期性​​地重新分配​​最少数量​​的流的输出端口。</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目的：​​ 最小化不同端口的聚合流容量之间的差异，解决可避免的局部拥塞（如多个流争抢同一端口，而等价路径却利用不足）。</a:t>
            </a:r>
            <a:endParaRPr lang="en-US" altLang="zh-CN" sz="2400">
              <a:latin typeface="微软雅黑" panose="020B0503020204020204" pitchFamily="34" charset="-122"/>
              <a:ea typeface="微软雅黑" panose="020B0503020204020204" pitchFamily="34" charset="-122"/>
            </a:endParaRPr>
          </a:p>
          <a:p>
            <a:pPr marL="285750" indent="-285750">
              <a:lnSpc>
                <a:spcPts val="37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核心价值​​</a:t>
            </a:r>
            <a:endParaRPr lang="en-US" altLang="zh-CN" sz="2400">
              <a:latin typeface="微软雅黑" panose="020B0503020204020204" pitchFamily="34" charset="-122"/>
              <a:ea typeface="微软雅黑" panose="020B0503020204020204" pitchFamily="34" charset="-122"/>
            </a:endParaRPr>
          </a:p>
          <a:p>
            <a:pPr marL="742950" lvl="1" indent="-285750">
              <a:lnSpc>
                <a:spcPts val="37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在​​动态变化的流大小​​背景下，确保向上端口的流量能获得​​公平的分布​​，从而提升整体带宽利用效率。</a:t>
            </a:r>
          </a:p>
          <a:p>
            <a:pPr marL="285750" indent="-285750">
              <a:lnSpc>
                <a:spcPts val="3700"/>
              </a:lnSpc>
              <a:buFont typeface="Wingdings" panose="05000000000000000000" pitchFamily="2" charset="2"/>
              <a:buChar char="Ø"/>
            </a:pP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200"/>
            <a:ext cx="11509657" cy="541866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9581263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235E52-36ED-4355-BD01-4736747F74FD}"/>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575590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3.7 Flow Scheduling</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079283"/>
            <a:ext cx="11291800" cy="5439438"/>
          </a:xfrm>
          <a:prstGeom prst="rect">
            <a:avLst/>
          </a:prstGeom>
          <a:noFill/>
        </p:spPr>
        <p:txBody>
          <a:bodyPr wrap="square" rtlCol="0">
            <a:spAutoFit/>
          </a:bodyPr>
          <a:lstStyle/>
          <a:p>
            <a:pPr>
              <a:lnSpc>
                <a:spcPts val="3400"/>
              </a:lnSpc>
            </a:pPr>
            <a:r>
              <a:rPr lang="zh-CN" altLang="en-US" sz="2400" b="1">
                <a:latin typeface="微软雅黑" panose="020B0503020204020204" pitchFamily="34" charset="-122"/>
                <a:ea typeface="微软雅黑" panose="020B0503020204020204" pitchFamily="34" charset="-122"/>
              </a:rPr>
              <a:t>​流量调度</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4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流量特征与设计动机​​</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网络流量具有​​长尾分布​​特征：少数​​大流量、长生命周期​​的流占据了大部分带宽，而大量小流则占小部分。</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核心观点：​​ 对大流的路由决策​​至关重要​​，直接影响网络可实现的二分带宽，因此值得​​特殊处理​​。</a:t>
            </a:r>
            <a:endParaRPr lang="en-US" altLang="zh-CN" sz="2400">
              <a:latin typeface="微软雅黑" panose="020B0503020204020204" pitchFamily="34" charset="-122"/>
              <a:ea typeface="微软雅黑" panose="020B0503020204020204" pitchFamily="34" charset="-122"/>
            </a:endParaRPr>
          </a:p>
          <a:p>
            <a:pPr marL="285750" indent="-285750">
              <a:lnSpc>
                <a:spcPts val="34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​​edge </a:t>
            </a:r>
            <a:r>
              <a:rPr lang="zh-CN" altLang="en-US" sz="2400">
                <a:latin typeface="微软雅黑" panose="020B0503020204020204" pitchFamily="34" charset="-122"/>
                <a:ea typeface="微软雅黑" panose="020B0503020204020204" pitchFamily="34" charset="-122"/>
              </a:rPr>
              <a:t>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初始分配：​​ 为新流分配至​​负载最轻​​的端口。</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大流检测与上报：​​ 检测出口流量是否超过预定阈值，并​​周期性​​向中央调度器上报所有活跃大流的源和目的信息。</a:t>
            </a:r>
            <a:endParaRPr lang="en-US" altLang="zh-CN" sz="2400">
              <a:latin typeface="微软雅黑" panose="020B0503020204020204" pitchFamily="34" charset="-122"/>
              <a:ea typeface="微软雅黑" panose="020B0503020204020204" pitchFamily="34" charset="-122"/>
            </a:endParaRPr>
          </a:p>
          <a:p>
            <a:pPr marL="742950" lvl="1" indent="-285750">
              <a:lnSpc>
                <a:spcPts val="34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关键限制：​​ 与之前的流分类方案不同，​​边缘交换机无权自行重分配大流端口​​，必须等待中央调度器的指令。</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965200"/>
            <a:ext cx="11509657" cy="541866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4410924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3.7 Flow Scheduling</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41171" y="946799"/>
            <a:ext cx="11291800" cy="5455468"/>
          </a:xfrm>
          <a:prstGeom prst="rect">
            <a:avLst/>
          </a:prstGeom>
          <a:noFill/>
        </p:spPr>
        <p:txBody>
          <a:bodyPr wrap="square" rtlCol="0">
            <a:spAutoFit/>
          </a:bodyPr>
          <a:lstStyle/>
          <a:p>
            <a:pPr>
              <a:lnSpc>
                <a:spcPts val="3000"/>
              </a:lnSpc>
            </a:pPr>
            <a:r>
              <a:rPr lang="zh-CN" altLang="en-US" sz="2400" b="1">
                <a:latin typeface="微软雅黑" panose="020B0503020204020204" pitchFamily="34" charset="-122"/>
                <a:ea typeface="微软雅黑" panose="020B0503020204020204" pitchFamily="34" charset="-122"/>
              </a:rPr>
              <a:t>​流量调度</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中央调度器的核心功能​​</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全局视角：​​ （可冗余部署）追踪所有活跃大流，掌握全网所有链路的“​​是否可承载大流​​”</a:t>
            </a:r>
            <a:r>
              <a:rPr lang="en-US" altLang="zh-CN" sz="2400">
                <a:latin typeface="微软雅黑" panose="020B0503020204020204" pitchFamily="34" charset="-122"/>
                <a:ea typeface="微软雅黑" panose="020B0503020204020204" pitchFamily="34" charset="-122"/>
              </a:rPr>
              <a:t>bool </a:t>
            </a:r>
            <a:r>
              <a:rPr lang="zh-CN" altLang="en-US" sz="2400">
                <a:latin typeface="微软雅黑" panose="020B0503020204020204" pitchFamily="34" charset="-122"/>
                <a:ea typeface="微软雅黑" panose="020B0503020204020204" pitchFamily="34" charset="-122"/>
              </a:rPr>
              <a:t>状态</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路径分配：​​ 为目标主机对（</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间流量）​​线性搜索​​可用的核心交换机路径，寻找一条​​无冲突（链路未被预留）​​ 的路径</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资源管理：​​ 找到路径后，​​标记​​相关链路为“已预留”，并通知源</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的相关交换机调整该流的输出端口</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垃圾回收：​​ 清理超时未更新的流状态，释放其链路预留</a:t>
            </a:r>
            <a:endParaRPr lang="en-US" altLang="zh-CN" sz="240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工作流程特点​​</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非阻塞操作：​​ 边缘交换机在上报后​​不阻塞等待​​，而是先按普通流处理，直至收到调度器的重分配指令</a:t>
            </a:r>
            <a:endParaRPr lang="en-US" altLang="zh-CN" sz="240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intra-pod</a:t>
            </a:r>
            <a:r>
              <a:rPr lang="zh-CN" altLang="en-US" sz="2400">
                <a:latin typeface="微软雅黑" panose="020B0503020204020204" pitchFamily="34" charset="-122"/>
                <a:ea typeface="微软雅黑" panose="020B0503020204020204" pitchFamily="34" charset="-122"/>
              </a:rPr>
              <a:t>流量：​​ 对</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内大流，调度器 </a:t>
            </a:r>
            <a:r>
              <a:rPr lang="en-US" altLang="zh-CN" sz="2400">
                <a:latin typeface="微软雅黑" panose="020B0503020204020204" pitchFamily="34" charset="-122"/>
                <a:ea typeface="微软雅黑" panose="020B0503020204020204" pitchFamily="34" charset="-122"/>
              </a:rPr>
              <a:t>similarly </a:t>
            </a:r>
            <a:r>
              <a:rPr lang="zh-CN" altLang="en-US" sz="2400">
                <a:latin typeface="微软雅黑" panose="020B0503020204020204" pitchFamily="34" charset="-122"/>
                <a:ea typeface="微软雅黑" panose="020B0503020204020204" pitchFamily="34" charset="-122"/>
              </a:rPr>
              <a:t>搜索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内上层交换机的无冲突路径</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32080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235E52-36ED-4355-BD01-4736747F74FD}"/>
              </a:ext>
            </a:extLst>
          </p:cNvPr>
          <p:cNvSpPr txBox="1"/>
          <p:nvPr/>
        </p:nvSpPr>
        <p:spPr>
          <a:xfrm>
            <a:off x="758225" y="240948"/>
            <a:ext cx="10675549" cy="6376104"/>
          </a:xfrm>
          <a:prstGeom prst="rect">
            <a:avLst/>
          </a:prstGeom>
          <a:noFill/>
        </p:spPr>
        <p:txBody>
          <a:bodyPr wrap="square" rtlCol="0">
            <a:spAutoFit/>
          </a:bodyPr>
          <a:lstStyle/>
          <a:p>
            <a:pPr algn="ctr">
              <a:lnSpc>
                <a:spcPts val="3500"/>
              </a:lnSpc>
            </a:pPr>
            <a:r>
              <a:rPr lang="en-US" altLang="zh-CN" sz="3200" b="1">
                <a:solidFill>
                  <a:srgbClr val="2F5EB0"/>
                </a:solidFill>
                <a:latin typeface="微软雅黑" panose="020B0503020204020204" pitchFamily="34" charset="-122"/>
                <a:ea typeface="微软雅黑" panose="020B0503020204020204" pitchFamily="34" charset="-122"/>
              </a:rPr>
              <a:t>Outline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ts val="3500"/>
              </a:lnSpc>
              <a:buFont typeface="+mj-lt"/>
              <a:buAutoNum type="romanUcPeriod"/>
            </a:pPr>
            <a:r>
              <a:rPr lang="en-US" altLang="zh-CN" sz="3200" b="1">
                <a:solidFill>
                  <a:srgbClr val="4472C4"/>
                </a:solidFill>
                <a:latin typeface="微软雅黑" panose="020B0503020204020204" pitchFamily="34" charset="-122"/>
                <a:ea typeface="微软雅黑" panose="020B0503020204020204" pitchFamily="34" charset="-122"/>
              </a:rPr>
              <a:t>Architecture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3.1 Motivation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3.2 Addressing</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3.3 Two-Level Routing Table</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3.4 Two-Level Lookup Implementation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3.5 Routing Algorithm</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3.6 Flow Classification</a:t>
            </a:r>
          </a:p>
          <a:p>
            <a:pPr lvl="1">
              <a:lnSpc>
                <a:spcPts val="3500"/>
              </a:lnSpc>
            </a:pPr>
            <a:r>
              <a:rPr lang="en-US" altLang="zh-CN" sz="2800" b="1">
                <a:solidFill>
                  <a:schemeClr val="bg2">
                    <a:lumMod val="75000"/>
                  </a:schemeClr>
                </a:solidFill>
                <a:latin typeface="微软雅黑" panose="020B0503020204020204" pitchFamily="34" charset="-122"/>
                <a:ea typeface="微软雅黑" panose="020B0503020204020204" pitchFamily="34" charset="-122"/>
              </a:rPr>
              <a:t>3.7 Flow Scheduling</a:t>
            </a:r>
          </a:p>
          <a:p>
            <a:pPr lvl="1">
              <a:lnSpc>
                <a:spcPts val="3500"/>
              </a:lnSpc>
            </a:pPr>
            <a:r>
              <a:rPr lang="en-US" altLang="zh-CN" sz="2800" b="1">
                <a:solidFill>
                  <a:srgbClr val="4472C4"/>
                </a:solidFill>
                <a:latin typeface="微软雅黑" panose="020B0503020204020204" pitchFamily="34" charset="-122"/>
                <a:ea typeface="微软雅黑" panose="020B0503020204020204" pitchFamily="34" charset="-122"/>
              </a:rPr>
              <a:t>3.8 Fault Tolerance</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ts val="3500"/>
              </a:lnSpc>
              <a:buFont typeface="+mj-lt"/>
              <a:buAutoNum type="romanUcPeriod"/>
            </a:pPr>
            <a:r>
              <a:rPr lang="en-US" altLang="zh-CN" sz="3200" b="1">
                <a:solidFill>
                  <a:schemeClr val="bg2">
                    <a:lumMod val="75000"/>
                  </a:schemeClr>
                </a:solidFill>
                <a:latin typeface="微软雅黑" panose="020B0503020204020204" pitchFamily="34" charset="-122"/>
                <a:ea typeface="微软雅黑" panose="020B0503020204020204" pitchFamily="34" charset="-122"/>
              </a:rPr>
              <a:t>Review</a:t>
            </a:r>
            <a:endParaRPr lang="zh-CN" altLang="en-US" sz="3200" b="1">
              <a:solidFill>
                <a:schemeClr val="bg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01652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3.8 Fault Tolerance</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41171" y="865017"/>
            <a:ext cx="11291800" cy="5590120"/>
          </a:xfrm>
          <a:prstGeom prst="rect">
            <a:avLst/>
          </a:prstGeom>
          <a:noFill/>
        </p:spPr>
        <p:txBody>
          <a:bodyPr wrap="square" rtlCol="0">
            <a:spAutoFit/>
          </a:bodyPr>
          <a:lstStyle/>
          <a:p>
            <a:pPr>
              <a:lnSpc>
                <a:spcPts val="3600"/>
              </a:lnSpc>
            </a:pPr>
            <a:r>
              <a:rPr lang="zh-CN" altLang="en-US" sz="2400" b="1">
                <a:latin typeface="微软雅黑" panose="020B0503020204020204" pitchFamily="34" charset="-122"/>
                <a:ea typeface="微软雅黑" panose="020B0503020204020204" pitchFamily="34" charset="-122"/>
              </a:rPr>
              <a:t>​容错机制</a:t>
            </a:r>
            <a:endParaRPr lang="en-US" altLang="zh-CN" sz="2400" b="1">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设计基础：路径冗余与快速检测​​</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拓扑中任意两台主机间的​​多路径特性​​天然支持容错</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每个交换机通过与邻居建立 ​​</a:t>
            </a:r>
            <a:r>
              <a:rPr lang="en-US" altLang="zh-CN" sz="2400">
                <a:latin typeface="微软雅黑" panose="020B0503020204020204" pitchFamily="34" charset="-122"/>
                <a:ea typeface="微软雅黑" panose="020B0503020204020204" pitchFamily="34" charset="-122"/>
              </a:rPr>
              <a:t>BFD</a:t>
            </a:r>
            <a:r>
              <a:rPr lang="zh-CN" altLang="en-US" sz="2400">
                <a:latin typeface="微软雅黑" panose="020B0503020204020204" pitchFamily="34" charset="-122"/>
                <a:ea typeface="微软雅黑" panose="020B0503020204020204" pitchFamily="34" charset="-122"/>
              </a:rPr>
              <a:t>会话​​，快速检测​​链路或相邻交换机故障​​</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内链路故障（下层</a:t>
            </a:r>
            <a:r>
              <a:rPr lang="en-US" altLang="zh-CN" sz="2400">
                <a:latin typeface="微软雅黑" panose="020B0503020204020204" pitchFamily="34" charset="-122"/>
                <a:ea typeface="微软雅黑" panose="020B0503020204020204" pitchFamily="34" charset="-122"/>
              </a:rPr>
              <a:t>&lt;-&gt;</a:t>
            </a:r>
            <a:r>
              <a:rPr lang="zh-CN" altLang="en-US" sz="2400">
                <a:latin typeface="微软雅黑" panose="020B0503020204020204" pitchFamily="34" charset="-122"/>
                <a:ea typeface="微软雅黑" panose="020B0503020204020204" pitchFamily="34" charset="-122"/>
              </a:rPr>
              <a:t>上层交换机）​​</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影响三类流量：​​</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、发出的流量：​​ 本地流分类器将故障链路成本设为“无穷大”，不再分配新流，并选择其他可用上层交换机</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内中转流量：​​ 受影响的上层交换机​​广播标签​​，通知</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内所有其他下层交换机避开该故障链路</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传入的</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 受影响的上层交换机向所有核心交换机广播标签，宣告其无法到达故障链路所连子网。核心交换机再将此标签​​镜像​​给其他</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的上层交换机，使其在为该子网分配新流时避开受影响的核心交换机</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1827945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lang="en-US" altLang="zh-CN" sz="2800" b="1">
                <a:solidFill>
                  <a:srgbClr val="F26849"/>
                </a:solidFill>
                <a:latin typeface="微软雅黑" panose="020B0503020204020204" pitchFamily="34" charset="-122"/>
                <a:ea typeface="微软雅黑" panose="020B0503020204020204" pitchFamily="34" charset="-122"/>
                <a:cs typeface="+mn-cs"/>
              </a:rPr>
              <a:t>Architecture</a:t>
            </a:r>
            <a:r>
              <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3.8 Fault Tolerance</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41171" y="865017"/>
            <a:ext cx="11291800" cy="5586145"/>
          </a:xfrm>
          <a:prstGeom prst="rect">
            <a:avLst/>
          </a:prstGeom>
          <a:noFill/>
        </p:spPr>
        <p:txBody>
          <a:bodyPr wrap="square" rtlCol="0">
            <a:spAutoFit/>
          </a:bodyPr>
          <a:lstStyle/>
          <a:p>
            <a:pPr>
              <a:lnSpc>
                <a:spcPts val="3600"/>
              </a:lnSpc>
            </a:pPr>
            <a:r>
              <a:rPr lang="zh-CN" altLang="en-US" sz="2400" b="1">
                <a:latin typeface="微软雅黑" panose="020B0503020204020204" pitchFamily="34" charset="-122"/>
                <a:ea typeface="微软雅黑" panose="020B0503020204020204" pitchFamily="34" charset="-122"/>
              </a:rPr>
              <a:t>​容错机制</a:t>
            </a:r>
            <a:endParaRPr lang="en-US" altLang="zh-CN" sz="2400" b="1">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上行链路故障（上层交换机</a:t>
            </a:r>
            <a:r>
              <a:rPr lang="en-US" altLang="zh-CN" sz="2400">
                <a:latin typeface="微软雅黑" panose="020B0503020204020204" pitchFamily="34" charset="-122"/>
                <a:ea typeface="微软雅黑" panose="020B0503020204020204" pitchFamily="34" charset="-122"/>
              </a:rPr>
              <a:t>&lt;-&gt;</a:t>
            </a:r>
            <a:r>
              <a:rPr lang="zh-CN" altLang="en-US" sz="2400">
                <a:latin typeface="微软雅黑" panose="020B0503020204020204" pitchFamily="34" charset="-122"/>
                <a:ea typeface="微软雅黑" panose="020B0503020204020204" pitchFamily="34" charset="-122"/>
              </a:rPr>
              <a:t>核心交换机）​​影响两类流量：​​</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、发出的</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 本地路由表将故障链路标记为不可用，并​​本地选择​​另一台核心交换机</a:t>
            </a: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传入的</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间流量：​​ 受影响的核心交换机向所有直连的上层交换机广播标签，宣告其​​无法到达整个目标 </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。这些上层交换机在为该</a:t>
            </a:r>
            <a:r>
              <a:rPr lang="en-US" altLang="zh-CN" sz="2400">
                <a:latin typeface="微软雅黑" panose="020B0503020204020204" pitchFamily="34" charset="-122"/>
                <a:ea typeface="微软雅黑" panose="020B0503020204020204" pitchFamily="34" charset="-122"/>
              </a:rPr>
              <a:t>Pod</a:t>
            </a:r>
            <a:r>
              <a:rPr lang="zh-CN" altLang="en-US" sz="2400">
                <a:latin typeface="微软雅黑" panose="020B0503020204020204" pitchFamily="34" charset="-122"/>
                <a:ea typeface="微软雅黑" panose="020B0503020204020204" pitchFamily="34" charset="-122"/>
              </a:rPr>
              <a:t>分配流时避开此核心交换机</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故障恢复与统一调度​​</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恢复：​​ 当故障链路</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交换机恢复并重建 </a:t>
            </a:r>
            <a:r>
              <a:rPr lang="en-US" altLang="zh-CN" sz="2400">
                <a:latin typeface="微软雅黑" panose="020B0503020204020204" pitchFamily="34" charset="-122"/>
                <a:ea typeface="微软雅黑" panose="020B0503020204020204" pitchFamily="34" charset="-122"/>
              </a:rPr>
              <a:t>BFD </a:t>
            </a:r>
            <a:r>
              <a:rPr lang="zh-CN" altLang="en-US" sz="2400">
                <a:latin typeface="微软雅黑" panose="020B0503020204020204" pitchFamily="34" charset="-122"/>
                <a:ea typeface="微软雅黑" panose="020B0503020204020204" pitchFamily="34" charset="-122"/>
              </a:rPr>
              <a:t>会话后，上述过程被​​逆向操作以取消其影响​​</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与大流调度器的协同：​​ 中央调度器可轻易将故障链路标记为“繁忙</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不可用”，从而在为大流选择路径时​​自动绕开故障点​​</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634849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2210304" y="938799"/>
            <a:ext cx="8363187" cy="4980402"/>
          </a:xfrm>
          <a:prstGeom prst="rect">
            <a:avLst/>
          </a:prstGeom>
          <a:noFill/>
        </p:spPr>
        <p:txBody>
          <a:bodyPr wrap="none" rtlCol="0">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altLang="zh-CN" sz="3600" b="1" i="0" u="none" strike="noStrike" kern="1200" cap="none" spc="0" normalizeH="0" baseline="0" noProof="0">
                <a:ln>
                  <a:noFill/>
                </a:ln>
                <a:solidFill>
                  <a:srgbClr val="2F5EB0"/>
                </a:solidFill>
                <a:effectLst/>
                <a:uLnTx/>
                <a:uFillTx/>
                <a:latin typeface="微软雅黑" panose="020B0503020204020204" pitchFamily="34" charset="-122"/>
                <a:ea typeface="微软雅黑" panose="020B0503020204020204" pitchFamily="34" charset="-122"/>
                <a:cs typeface="+mn-cs"/>
              </a:rPr>
              <a:t>Outline</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kumimoji="0" lang="en-US" altLang="zh-CN"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Introduction</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kumimoji="0" lang="en-US" altLang="zh-CN"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Background</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kumimoji="0" lang="en-US" altLang="zh-CN"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Architecture</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lang="en-US" altLang="zh-CN" sz="3600" b="1">
                <a:solidFill>
                  <a:srgbClr val="2F5EB0"/>
                </a:solidFill>
                <a:latin typeface="微软雅黑" panose="020B0503020204020204" pitchFamily="34" charset="-122"/>
                <a:ea typeface="微软雅黑" panose="020B0503020204020204" pitchFamily="34" charset="-122"/>
              </a:rPr>
              <a:t>Implementation and Evaluation</a:t>
            </a:r>
          </a:p>
          <a:p>
            <a:pPr marL="857250" marR="0" lvl="0" indent="-857250" algn="l" defTabSz="457200" rtl="0" eaLnBrk="1" fontAlgn="auto" latinLnBrk="0" hangingPunct="1">
              <a:lnSpc>
                <a:spcPct val="150000"/>
              </a:lnSpc>
              <a:spcBef>
                <a:spcPts val="0"/>
              </a:spcBef>
              <a:spcAft>
                <a:spcPts val="0"/>
              </a:spcAft>
              <a:buClrTx/>
              <a:buSzTx/>
              <a:buFont typeface="+mj-lt"/>
              <a:buAutoNum type="romanUcPeriod"/>
              <a:tabLst/>
              <a:defRPr/>
            </a:pPr>
            <a:r>
              <a:rPr kumimoji="0" lang="en-US" altLang="zh-CN"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rPr>
              <a:t>Review</a:t>
            </a:r>
            <a:endParaRPr kumimoji="0" lang="zh-CN" altLang="en-US" sz="3600" b="1" i="0" u="none" strike="noStrike" kern="1200" cap="none" spc="0" normalizeH="0" baseline="0" noProof="0">
              <a:ln>
                <a:noFill/>
              </a:ln>
              <a:solidFill>
                <a:schemeClr val="bg2">
                  <a:lumMod val="75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1174213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4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391970" y="865017"/>
            <a:ext cx="11291800" cy="6051785"/>
          </a:xfrm>
          <a:prstGeom prst="rect">
            <a:avLst/>
          </a:prstGeom>
          <a:noFill/>
        </p:spPr>
        <p:txBody>
          <a:bodyPr wrap="square" rtlCol="0">
            <a:spAutoFit/>
          </a:bodyPr>
          <a:lstStyle/>
          <a:p>
            <a:pPr>
              <a:lnSpc>
                <a:spcPts val="3600"/>
              </a:lnSpc>
            </a:pPr>
            <a:r>
              <a:rPr lang="zh-CN" altLang="en-US" sz="2400" b="1">
                <a:latin typeface="微软雅黑" panose="020B0503020204020204" pitchFamily="34" charset="-122"/>
                <a:ea typeface="微软雅黑" panose="020B0503020204020204" pitchFamily="34" charset="-122"/>
              </a:rPr>
              <a:t>原型实现与验证</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双平台实现策略​​</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NetFPGA</a:t>
            </a:r>
            <a:r>
              <a:rPr lang="zh-CN" altLang="en-US" sz="2400">
                <a:latin typeface="微软雅黑" panose="020B0503020204020204" pitchFamily="34" charset="-122"/>
                <a:ea typeface="微软雅黑" panose="020B0503020204020204" pitchFamily="34" charset="-122"/>
              </a:rPr>
              <a:t>原型：​​基于其</a:t>
            </a:r>
            <a:r>
              <a:rPr lang="en-US" altLang="zh-CN" sz="2400">
                <a:latin typeface="微软雅黑" panose="020B0503020204020204" pitchFamily="34" charset="-122"/>
                <a:ea typeface="微软雅黑" panose="020B0503020204020204" pitchFamily="34" charset="-122"/>
              </a:rPr>
              <a:t>IPv4</a:t>
            </a:r>
            <a:r>
              <a:rPr lang="zh-CN" altLang="en-US" sz="2400">
                <a:latin typeface="微软雅黑" panose="020B0503020204020204" pitchFamily="34" charset="-122"/>
                <a:ea typeface="微软雅黑" panose="020B0503020204020204" pitchFamily="34" charset="-122"/>
              </a:rPr>
              <a:t>路由器和</a:t>
            </a:r>
            <a:r>
              <a:rPr lang="en-US" altLang="zh-CN" sz="2400">
                <a:latin typeface="微软雅黑" panose="020B0503020204020204" pitchFamily="34" charset="-122"/>
                <a:ea typeface="微软雅黑" panose="020B0503020204020204" pitchFamily="34" charset="-122"/>
              </a:rPr>
              <a:t>TCAM</a:t>
            </a:r>
            <a:r>
              <a:rPr lang="zh-CN" altLang="en-US" sz="2400">
                <a:latin typeface="微软雅黑" panose="020B0503020204020204" pitchFamily="34" charset="-122"/>
                <a:ea typeface="微软雅黑" panose="020B0503020204020204" pitchFamily="34" charset="-122"/>
              </a:rPr>
              <a:t>进行修改</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结果：​​仅增加​​不到</a:t>
            </a:r>
            <a:r>
              <a:rPr lang="en-US" altLang="zh-CN" sz="2400">
                <a:latin typeface="微软雅黑" panose="020B0503020204020204" pitchFamily="34" charset="-122"/>
                <a:ea typeface="微软雅黑" panose="020B0503020204020204" pitchFamily="34" charset="-122"/>
              </a:rPr>
              <a:t>100</a:t>
            </a:r>
            <a:r>
              <a:rPr lang="zh-CN" altLang="en-US" sz="2400">
                <a:latin typeface="微软雅黑" panose="020B0503020204020204" pitchFamily="34" charset="-122"/>
                <a:ea typeface="微软雅黑" panose="020B0503020204020204" pitchFamily="34" charset="-122"/>
              </a:rPr>
              <a:t>行代码​​，​​未引入任何可测量的额外查找延迟​​，证明方案可嵌入现有交换机</a:t>
            </a:r>
            <a:endParaRPr lang="en-US" altLang="zh-CN" sz="2400">
              <a:latin typeface="微软雅黑" panose="020B0503020204020204" pitchFamily="34" charset="-122"/>
              <a:ea typeface="微软雅黑" panose="020B0503020204020204" pitchFamily="34" charset="-122"/>
            </a:endParaRP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​​Click</a:t>
            </a:r>
            <a:r>
              <a:rPr lang="zh-CN" altLang="en-US" sz="2400">
                <a:latin typeface="微软雅黑" panose="020B0503020204020204" pitchFamily="34" charset="-122"/>
                <a:ea typeface="微软雅黑" panose="020B0503020204020204" pitchFamily="34" charset="-122"/>
              </a:rPr>
              <a:t>软件路由器原型（评估重点）：​​</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Click</a:t>
            </a:r>
            <a:r>
              <a:rPr lang="zh-CN" altLang="en-US" sz="2400">
                <a:latin typeface="微软雅黑" panose="020B0503020204020204" pitchFamily="34" charset="-122"/>
                <a:ea typeface="微软雅黑" panose="020B0503020204020204" pitchFamily="34" charset="-122"/>
              </a:rPr>
              <a:t>是一种模块化的软件路由器架构，通过连接称为“​​元素​​”的报文处理模块来实现复杂功能   </a:t>
            </a:r>
            <a:r>
              <a:rPr lang="en-US" altLang="zh-CN" sz="2400">
                <a:latin typeface="微软雅黑" panose="020B0503020204020204" pitchFamily="34" charset="-122"/>
                <a:ea typeface="微软雅黑" panose="020B0503020204020204" pitchFamily="34" charset="-122"/>
              </a:rPr>
              <a:t>https://github.com/kohler/click</a:t>
            </a:r>
          </a:p>
          <a:p>
            <a:pPr marL="285750" indent="-285750">
              <a:lnSpc>
                <a:spcPts val="36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核心元素一：</a:t>
            </a:r>
            <a:r>
              <a:rPr lang="en-US" altLang="zh-CN" sz="2400">
                <a:latin typeface="微软雅黑" panose="020B0503020204020204" pitchFamily="34" charset="-122"/>
                <a:ea typeface="微软雅黑" panose="020B0503020204020204" pitchFamily="34" charset="-122"/>
              </a:rPr>
              <a:t>TwoLevelTable​​</a:t>
            </a: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功能：​​ 实现了​​两级路由表​​查找逻辑（先最长前缀匹配，若非终止则进行最长后缀匹配）</a:t>
            </a:r>
            <a:endParaRPr lang="en-US" altLang="zh-CN" sz="2400">
              <a:latin typeface="微软雅黑" panose="020B0503020204020204" pitchFamily="34" charset="-122"/>
              <a:ea typeface="微软雅黑" panose="020B0503020204020204" pitchFamily="34" charset="-122"/>
            </a:endParaRPr>
          </a:p>
          <a:p>
            <a:pPr marL="742950" lvl="1" indent="-285750">
              <a:lnSpc>
                <a:spcPts val="36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集成：​​ 可直接替换</a:t>
            </a:r>
            <a:r>
              <a:rPr lang="en-US" altLang="zh-CN" sz="2400">
                <a:latin typeface="微软雅黑" panose="020B0503020204020204" pitchFamily="34" charset="-122"/>
                <a:ea typeface="微软雅黑" panose="020B0503020204020204" pitchFamily="34" charset="-122"/>
              </a:rPr>
              <a:t>Click</a:t>
            </a:r>
            <a:r>
              <a:rPr lang="zh-CN" altLang="en-US" sz="2400">
                <a:latin typeface="微软雅黑" panose="020B0503020204020204" pitchFamily="34" charset="-122"/>
                <a:ea typeface="微软雅黑" panose="020B0503020204020204" pitchFamily="34" charset="-122"/>
              </a:rPr>
              <a:t>标准</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路由器示例中的核心路由表元素</a:t>
            </a:r>
          </a:p>
          <a:p>
            <a:pPr marL="285750" indent="-285750">
              <a:lnSpc>
                <a:spcPts val="3600"/>
              </a:lnSpc>
              <a:buFont typeface="Wingdings" panose="05000000000000000000" pitchFamily="2" charset="2"/>
              <a:buChar char="Ø"/>
            </a:pPr>
            <a:endParaRPr lang="zh-CN" altLang="en-US"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49176"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1236211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4 Implementation</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3" y="831151"/>
            <a:ext cx="11291800" cy="5627823"/>
          </a:xfrm>
          <a:prstGeom prst="rect">
            <a:avLst/>
          </a:prstGeom>
          <a:noFill/>
        </p:spPr>
        <p:txBody>
          <a:bodyPr wrap="square" rtlCol="0">
            <a:spAutoFit/>
          </a:bodyPr>
          <a:lstStyle/>
          <a:p>
            <a:pPr>
              <a:lnSpc>
                <a:spcPts val="3100"/>
              </a:lnSpc>
            </a:pPr>
            <a:r>
              <a:rPr lang="zh-CN" altLang="en-US" sz="2400" b="1">
                <a:latin typeface="微软雅黑" panose="020B0503020204020204" pitchFamily="34" charset="-122"/>
                <a:ea typeface="微软雅黑" panose="020B0503020204020204" pitchFamily="34" charset="-122"/>
              </a:rPr>
              <a:t>原型实现与验证</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285750"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​​核心元素二：</a:t>
            </a:r>
            <a:r>
              <a:rPr lang="en-US" altLang="zh-CN" sz="2400">
                <a:latin typeface="微软雅黑" panose="020B0503020204020204" pitchFamily="34" charset="-122"/>
                <a:ea typeface="微软雅黑" panose="020B0503020204020204" pitchFamily="34" charset="-122"/>
              </a:rPr>
              <a:t>FlowClassifier (</a:t>
            </a:r>
            <a:r>
              <a:rPr lang="zh-CN" altLang="en-US" sz="2400">
                <a:latin typeface="微软雅黑" panose="020B0503020204020204" pitchFamily="34" charset="-122"/>
                <a:ea typeface="微软雅黑" panose="020B0503020204020204" pitchFamily="34" charset="-122"/>
              </a:rPr>
              <a:t>动态流分类器</a:t>
            </a:r>
            <a:r>
              <a:rPr lang="en-US" altLang="zh-CN" sz="2400">
                <a:latin typeface="微软雅黑" panose="020B0503020204020204" pitchFamily="34" charset="-122"/>
                <a:ea typeface="微软雅黑" panose="020B0503020204020204" pitchFamily="34" charset="-122"/>
              </a:rPr>
              <a:t>)​​</a:t>
            </a: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功能：​​ 基于源</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目的</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进行流分类，保证同一流报文从​​同一端口​​发出避免乱序。</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优化目标：​​ 周期性（如每秒）尝试重分配​​最多</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个流​​的端口，以​​最小化各输出端口总流容量的差异​​</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定位：​​ 作为两级表扩散机制的​​替代方案​​，是一种​​软状态​​的性能优化</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特点：​​ 具有​​偶尔的 </a:t>
            </a:r>
            <a:r>
              <a:rPr lang="en-US" altLang="zh-CN" sz="2400">
                <a:latin typeface="微软雅黑" panose="020B0503020204020204" pitchFamily="34" charset="-122"/>
                <a:ea typeface="微软雅黑" panose="020B0503020204020204" pitchFamily="34" charset="-122"/>
              </a:rPr>
              <a:t>disruptive</a:t>
            </a:r>
            <a:r>
              <a:rPr lang="zh-CN" altLang="en-US" sz="2400">
                <a:latin typeface="微软雅黑" panose="020B0503020204020204" pitchFamily="34" charset="-122"/>
                <a:ea typeface="微软雅黑" panose="020B0503020204020204" pitchFamily="34" charset="-122"/>
              </a:rPr>
              <a:t>（可能造成报文重排序）​​，但能​​自适应​​动态变化的流大小</a:t>
            </a:r>
            <a:endParaRPr lang="en-US" altLang="zh-CN" sz="2400">
              <a:latin typeface="微软雅黑" panose="020B0503020204020204" pitchFamily="34" charset="-122"/>
              <a:ea typeface="微软雅黑" panose="020B0503020204020204" pitchFamily="34" charset="-122"/>
            </a:endParaRPr>
          </a:p>
          <a:p>
            <a:pPr marL="285750"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核心元素三：</a:t>
            </a:r>
            <a:r>
              <a:rPr lang="en-US" altLang="zh-CN" sz="2400">
                <a:latin typeface="微软雅黑" panose="020B0503020204020204" pitchFamily="34" charset="-122"/>
                <a:ea typeface="微软雅黑" panose="020B0503020204020204" pitchFamily="34" charset="-122"/>
              </a:rPr>
              <a:t>FlowScheduler (</a:t>
            </a:r>
            <a:r>
              <a:rPr lang="zh-CN" altLang="en-US" sz="2400">
                <a:latin typeface="微软雅黑" panose="020B0503020204020204" pitchFamily="34" charset="-122"/>
                <a:ea typeface="微软雅黑" panose="020B0503020204020204" pitchFamily="34" charset="-122"/>
              </a:rPr>
              <a:t>大流调度器</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FlowReporter (</a:t>
            </a:r>
            <a:r>
              <a:rPr lang="zh-CN" altLang="en-US" sz="2400">
                <a:latin typeface="微软雅黑" panose="020B0503020204020204" pitchFamily="34" charset="-122"/>
                <a:ea typeface="微软雅黑" panose="020B0503020204020204" pitchFamily="34" charset="-122"/>
              </a:rPr>
              <a:t>边缘交换机</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 检测大流并上报给中央调度器</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FlowScheduler (</a:t>
            </a:r>
            <a:r>
              <a:rPr lang="zh-CN" altLang="en-US" sz="2400">
                <a:latin typeface="微软雅黑" panose="020B0503020204020204" pitchFamily="34" charset="-122"/>
                <a:ea typeface="微软雅黑" panose="020B0503020204020204" pitchFamily="34" charset="-122"/>
              </a:rPr>
              <a:t>中央</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 维护全网链路二进制状态（空闲</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占用），为收到的大流请求​​线性搜索​​一条​​无冲突的路径​​，并通知相关交换机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31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复杂度：​​ 空间复杂度 </a:t>
            </a:r>
            <a:r>
              <a:rPr lang="en-US" altLang="zh-CN" sz="2400">
                <a:latin typeface="微软雅黑" panose="020B0503020204020204" pitchFamily="34" charset="-122"/>
                <a:ea typeface="微软雅黑" panose="020B0503020204020204" pitchFamily="34" charset="-122"/>
              </a:rPr>
              <a:t>O(k^3)</a:t>
            </a:r>
            <a:r>
              <a:rPr lang="zh-CN" altLang="en-US" sz="2400">
                <a:latin typeface="微软雅黑" panose="020B0503020204020204" pitchFamily="34" charset="-122"/>
                <a:ea typeface="微软雅黑" panose="020B0503020204020204" pitchFamily="34" charset="-122"/>
              </a:rPr>
              <a:t>，时间复杂度 </a:t>
            </a:r>
            <a:r>
              <a:rPr lang="en-US" altLang="zh-CN" sz="2400">
                <a:latin typeface="微软雅黑" panose="020B0503020204020204" pitchFamily="34" charset="-122"/>
                <a:ea typeface="微软雅黑" panose="020B0503020204020204" pitchFamily="34" charset="-122"/>
              </a:rPr>
              <a:t>O(k^2)</a:t>
            </a:r>
            <a:r>
              <a:rPr lang="zh-CN" altLang="en-US" sz="2400">
                <a:latin typeface="微软雅黑" panose="020B0503020204020204" pitchFamily="34" charset="-122"/>
                <a:ea typeface="微软雅黑" panose="020B0503020204020204" pitchFamily="34" charset="-122"/>
              </a:rPr>
              <a:t>，对于 </a:t>
            </a:r>
            <a:r>
              <a:rPr lang="en-US" altLang="zh-CN" sz="2400">
                <a:latin typeface="微软雅黑" panose="020B0503020204020204" pitchFamily="34" charset="-122"/>
                <a:ea typeface="微软雅黑" panose="020B0503020204020204" pitchFamily="34" charset="-122"/>
              </a:rPr>
              <a:t>k=48</a:t>
            </a:r>
            <a:r>
              <a:rPr lang="zh-CN" altLang="en-US" sz="2400">
                <a:latin typeface="微软雅黑" panose="020B0503020204020204" pitchFamily="34" charset="-122"/>
                <a:ea typeface="微软雅黑" panose="020B0503020204020204" pitchFamily="34" charset="-122"/>
              </a:rPr>
              <a:t>的典型值，是​​可管理的​​</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5509444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5.1 Experiment Description </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3" y="831151"/>
            <a:ext cx="11291800" cy="5647059"/>
          </a:xfrm>
          <a:prstGeom prst="rect">
            <a:avLst/>
          </a:prstGeom>
          <a:noFill/>
        </p:spPr>
        <p:txBody>
          <a:bodyPr wrap="square" rtlCol="0">
            <a:spAutoFit/>
          </a:bodyPr>
          <a:lstStyle/>
          <a:p>
            <a:pPr>
              <a:lnSpc>
                <a:spcPts val="2900"/>
              </a:lnSpc>
            </a:pPr>
            <a:r>
              <a:rPr lang="zh-CN" altLang="en-US" sz="2400" b="1">
                <a:latin typeface="微软雅黑" panose="020B0503020204020204" pitchFamily="34" charset="-122"/>
                <a:ea typeface="微软雅黑" panose="020B0503020204020204" pitchFamily="34" charset="-122"/>
              </a:rPr>
              <a:t>实验平台</a:t>
            </a:r>
            <a:endParaRPr lang="en-US" altLang="zh-CN" sz="2400" b="1">
              <a:latin typeface="微软雅黑" panose="020B0503020204020204" pitchFamily="34" charset="-122"/>
              <a:ea typeface="微软雅黑" panose="020B0503020204020204" pitchFamily="34" charset="-122"/>
            </a:endParaRPr>
          </a:p>
          <a:p>
            <a:pPr marL="285750"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​​​​测试网络拓扑：</a:t>
            </a:r>
            <a:r>
              <a:rPr lang="en-US" altLang="zh-CN" sz="2400">
                <a:latin typeface="微软雅黑" panose="020B0503020204020204" pitchFamily="34" charset="-122"/>
                <a:ea typeface="微软雅黑" panose="020B0503020204020204" pitchFamily="34" charset="-122"/>
              </a:rPr>
              <a:t>4</a:t>
            </a:r>
            <a:r>
              <a:rPr lang="zh-CN" altLang="en-US" sz="2400">
                <a:latin typeface="微软雅黑" panose="020B0503020204020204" pitchFamily="34" charset="-122"/>
                <a:ea typeface="微软雅黑" panose="020B0503020204020204" pitchFamily="34" charset="-122"/>
              </a:rPr>
              <a:t>端口 </a:t>
            </a:r>
            <a:r>
              <a:rPr lang="en-US" altLang="zh-CN" sz="2400">
                <a:latin typeface="微软雅黑" panose="020B0503020204020204" pitchFamily="34" charset="-122"/>
                <a:ea typeface="微软雅黑" panose="020B0503020204020204" pitchFamily="34" charset="-122"/>
              </a:rPr>
              <a:t>fat-tree (k=4)​​</a:t>
            </a:r>
          </a:p>
          <a:p>
            <a:pPr marL="742950" lvl="1" indent="-285750">
              <a:lnSpc>
                <a:spcPts val="2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规模：​​ 共 ​​</a:t>
            </a:r>
            <a:r>
              <a:rPr lang="en-US" altLang="zh-CN" sz="2400">
                <a:latin typeface="微软雅黑" panose="020B0503020204020204" pitchFamily="34" charset="-122"/>
                <a:ea typeface="微软雅黑" panose="020B0503020204020204" pitchFamily="34" charset="-122"/>
              </a:rPr>
              <a:t>16</a:t>
            </a:r>
            <a:r>
              <a:rPr lang="zh-CN" altLang="en-US" sz="2400">
                <a:latin typeface="微软雅黑" panose="020B0503020204020204" pitchFamily="34" charset="-122"/>
                <a:ea typeface="微软雅黑" panose="020B0503020204020204" pitchFamily="34" charset="-122"/>
              </a:rPr>
              <a:t>台主机、​​</a:t>
            </a:r>
            <a:r>
              <a:rPr lang="en-US" altLang="zh-CN" sz="2400">
                <a:latin typeface="微软雅黑" panose="020B0503020204020204" pitchFamily="34" charset="-122"/>
                <a:ea typeface="微软雅黑" panose="020B0503020204020204" pitchFamily="34" charset="-122"/>
              </a:rPr>
              <a:t>20</a:t>
            </a:r>
            <a:r>
              <a:rPr lang="zh-CN" altLang="en-US" sz="2400">
                <a:latin typeface="微软雅黑" panose="020B0503020204020204" pitchFamily="34" charset="-122"/>
                <a:ea typeface="微软雅黑" panose="020B0503020204020204" pitchFamily="34" charset="-122"/>
              </a:rPr>
              <a:t>台​​交换机</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在此规模下，交换机数量多于主机；但更大规模集群中，主机数将远超交换机</a:t>
            </a:r>
            <a:endParaRPr lang="en-US" altLang="zh-CN" sz="2400">
              <a:latin typeface="微软雅黑" panose="020B0503020204020204" pitchFamily="34" charset="-122"/>
              <a:ea typeface="微软雅黑" panose="020B0503020204020204" pitchFamily="34" charset="-122"/>
            </a:endParaRPr>
          </a:p>
          <a:p>
            <a:pPr marL="285750"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物理平台配置​​</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硬件：​​ 将</a:t>
            </a:r>
            <a:r>
              <a:rPr lang="en-US" altLang="zh-CN" sz="2400">
                <a:latin typeface="微软雅黑" panose="020B0503020204020204" pitchFamily="34" charset="-122"/>
                <a:ea typeface="微软雅黑" panose="020B0503020204020204" pitchFamily="34" charset="-122"/>
              </a:rPr>
              <a:t>36</a:t>
            </a:r>
            <a:r>
              <a:rPr lang="zh-CN" altLang="en-US" sz="2400">
                <a:latin typeface="微软雅黑" panose="020B0503020204020204" pitchFamily="34" charset="-122"/>
                <a:ea typeface="微软雅黑" panose="020B0503020204020204" pitchFamily="34" charset="-122"/>
              </a:rPr>
              <a:t>个逻辑元素（交换机</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主机）复用到​​</a:t>
            </a:r>
            <a:r>
              <a:rPr lang="en-US" altLang="zh-CN" sz="2400">
                <a:latin typeface="微软雅黑" panose="020B0503020204020204" pitchFamily="34" charset="-122"/>
                <a:ea typeface="微软雅黑" panose="020B0503020204020204" pitchFamily="34" charset="-122"/>
              </a:rPr>
              <a:t>10</a:t>
            </a:r>
            <a:r>
              <a:rPr lang="zh-CN" altLang="en-US" sz="2400">
                <a:latin typeface="微软雅黑" panose="020B0503020204020204" pitchFamily="34" charset="-122"/>
                <a:ea typeface="微软雅黑" panose="020B0503020204020204" pitchFamily="34" charset="-122"/>
              </a:rPr>
              <a:t>台​​物理服务器上，通过一台</a:t>
            </a:r>
            <a:r>
              <a:rPr lang="en-US" altLang="zh-CN" sz="2400">
                <a:latin typeface="微软雅黑" panose="020B0503020204020204" pitchFamily="34" charset="-122"/>
                <a:ea typeface="微软雅黑" panose="020B0503020204020204" pitchFamily="34" charset="-122"/>
              </a:rPr>
              <a:t>48</a:t>
            </a:r>
            <a:r>
              <a:rPr lang="zh-CN" altLang="en-US" sz="2400">
                <a:latin typeface="微软雅黑" panose="020B0503020204020204" pitchFamily="34" charset="-122"/>
                <a:ea typeface="微软雅黑" panose="020B0503020204020204" pitchFamily="34" charset="-122"/>
              </a:rPr>
              <a:t>端口千兆以太网交换机互联</a:t>
            </a:r>
            <a:endParaRPr lang="en-US" altLang="zh-CN" sz="2400">
              <a:latin typeface="微软雅黑" panose="020B0503020204020204" pitchFamily="34" charset="-122"/>
              <a:ea typeface="微软雅黑" panose="020B0503020204020204" pitchFamily="34" charset="-122"/>
            </a:endParaRPr>
          </a:p>
          <a:p>
            <a:pPr marL="285750"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关键测试参数​​</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链路带宽限制：​​ 将所有虚拟链路带宽限制为 ​​</a:t>
            </a:r>
            <a:r>
              <a:rPr lang="en-US" altLang="zh-CN" sz="2400">
                <a:latin typeface="微软雅黑" panose="020B0503020204020204" pitchFamily="34" charset="-122"/>
                <a:ea typeface="微软雅黑" panose="020B0503020204020204" pitchFamily="34" charset="-122"/>
              </a:rPr>
              <a:t>96 Mbit/s​​</a:t>
            </a:r>
            <a:r>
              <a:rPr lang="zh-CN" altLang="en-US" sz="2400">
                <a:latin typeface="微软雅黑" panose="020B0503020204020204" pitchFamily="34" charset="-122"/>
                <a:ea typeface="微软雅黑" panose="020B0503020204020204" pitchFamily="34" charset="-122"/>
              </a:rPr>
              <a:t>，确保实验瓶颈在于网络而非</a:t>
            </a:r>
            <a:r>
              <a:rPr lang="en-US" altLang="zh-CN" sz="2400">
                <a:latin typeface="微软雅黑" panose="020B0503020204020204" pitchFamily="34" charset="-122"/>
                <a:ea typeface="微软雅黑" panose="020B0503020204020204" pitchFamily="34" charset="-122"/>
              </a:rPr>
              <a:t>CPU</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流量生成：​​ 每台主机均以 ​​</a:t>
            </a:r>
            <a:r>
              <a:rPr lang="en-US" altLang="zh-CN" sz="2400">
                <a:latin typeface="微软雅黑" panose="020B0503020204020204" pitchFamily="34" charset="-122"/>
                <a:ea typeface="微软雅黑" panose="020B0503020204020204" pitchFamily="34" charset="-122"/>
              </a:rPr>
              <a:t>96 Mbit/s​​ </a:t>
            </a:r>
            <a:r>
              <a:rPr lang="zh-CN" altLang="en-US" sz="2400">
                <a:latin typeface="微软雅黑" panose="020B0503020204020204" pitchFamily="34" charset="-122"/>
                <a:ea typeface="微软雅黑" panose="020B0503020204020204" pitchFamily="34" charset="-122"/>
              </a:rPr>
              <a:t>的恒定速率生成出口流量。</a:t>
            </a:r>
            <a:endParaRPr lang="en-US" altLang="zh-CN" sz="2400">
              <a:latin typeface="微软雅黑" panose="020B0503020204020204" pitchFamily="34" charset="-122"/>
              <a:ea typeface="微软雅黑" panose="020B0503020204020204" pitchFamily="34" charset="-122"/>
            </a:endParaRPr>
          </a:p>
          <a:p>
            <a:pPr marL="285750" indent="-285750">
              <a:lnSpc>
                <a:spcPts val="29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性能度量指标​​</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测量每台主机的​​入口流量速率​​。</a:t>
            </a:r>
            <a:endParaRPr lang="en-US" altLang="zh-CN" sz="2400">
              <a:latin typeface="微软雅黑" panose="020B0503020204020204" pitchFamily="34" charset="-122"/>
              <a:ea typeface="微软雅黑" panose="020B0503020204020204" pitchFamily="34" charset="-122"/>
            </a:endParaRPr>
          </a:p>
          <a:p>
            <a:pPr marL="742950" lvl="1" indent="-285750">
              <a:lnSpc>
                <a:spcPts val="29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在所有​​双射通信映射​​下，所有主机的最小聚合入口流量即为网络的​​有效二分带宽​​。</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887226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5.2 Benchmark Suite </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609600" y="934158"/>
            <a:ext cx="10752667" cy="5416996"/>
          </a:xfrm>
          <a:prstGeom prst="rect">
            <a:avLst/>
          </a:prstGeom>
          <a:noFill/>
        </p:spPr>
        <p:txBody>
          <a:bodyPr wrap="square" rtlCol="0">
            <a:spAutoFit/>
          </a:bodyPr>
          <a:lstStyle/>
          <a:p>
            <a:pPr>
              <a:lnSpc>
                <a:spcPts val="4200"/>
              </a:lnSpc>
            </a:pPr>
            <a:r>
              <a:rPr lang="zh-CN" altLang="en-US" sz="2400" b="1">
                <a:latin typeface="微软雅黑" panose="020B0503020204020204" pitchFamily="34" charset="-122"/>
                <a:ea typeface="微软雅黑" panose="020B0503020204020204" pitchFamily="34" charset="-122"/>
              </a:rPr>
              <a:t>基准测试流量模式</a:t>
            </a:r>
            <a:endParaRPr lang="en-US" altLang="zh-CN" sz="2400" b="1">
              <a:latin typeface="微软雅黑" panose="020B0503020204020204" pitchFamily="34" charset="-122"/>
              <a:ea typeface="微软雅黑" panose="020B0503020204020204" pitchFamily="34" charset="-122"/>
            </a:endParaRPr>
          </a:p>
          <a:p>
            <a:pPr marL="285750" indent="-285750">
              <a:lnSpc>
                <a:spcPts val="4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​​核心限制：​​ 所有通信映射均为​​一对一（</a:t>
            </a:r>
            <a:r>
              <a:rPr lang="en-US" altLang="zh-CN" sz="2400">
                <a:latin typeface="微软雅黑" panose="020B0503020204020204" pitchFamily="34" charset="-122"/>
                <a:ea typeface="微软雅黑" panose="020B0503020204020204" pitchFamily="34" charset="-122"/>
              </a:rPr>
              <a:t>1-to-1</a:t>
            </a:r>
            <a:r>
              <a:rPr lang="zh-CN" altLang="en-US" sz="2400">
                <a:latin typeface="微软雅黑" panose="020B0503020204020204" pitchFamily="34" charset="-122"/>
                <a:ea typeface="微软雅黑" panose="020B0503020204020204" pitchFamily="34" charset="-122"/>
              </a:rPr>
              <a:t>）​​，即每台主机只从一个源接收流量</a:t>
            </a:r>
            <a:endParaRPr lang="en-US" altLang="zh-CN" sz="2400">
              <a:latin typeface="微软雅黑" panose="020B0503020204020204" pitchFamily="34" charset="-122"/>
              <a:ea typeface="微软雅黑" panose="020B0503020204020204" pitchFamily="34" charset="-122"/>
            </a:endParaRPr>
          </a:p>
          <a:p>
            <a:pPr marL="285750" indent="-285750">
              <a:lnSpc>
                <a:spcPts val="42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测试策略：​​</a:t>
            </a:r>
            <a:endParaRPr lang="en-US" altLang="zh-CN" sz="240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随机 </a:t>
            </a:r>
            <a:r>
              <a:rPr lang="en-US" altLang="zh-CN" sz="2400">
                <a:latin typeface="微软雅黑" panose="020B0503020204020204" pitchFamily="34" charset="-122"/>
                <a:ea typeface="微软雅黑" panose="020B0503020204020204" pitchFamily="34" charset="-122"/>
              </a:rPr>
              <a:t>(Random)</a:t>
            </a:r>
            <a:r>
              <a:rPr lang="zh-CN" altLang="en-US" sz="2400">
                <a:latin typeface="微软雅黑" panose="020B0503020204020204" pitchFamily="34" charset="-122"/>
                <a:ea typeface="微软雅黑" panose="020B0503020204020204" pitchFamily="34" charset="-122"/>
              </a:rPr>
              <a:t>：主机以​​均匀概率​​向网络中任何其他主机发送流量</a:t>
            </a:r>
            <a:endParaRPr lang="en-US" altLang="zh-CN" sz="240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步长 </a:t>
            </a:r>
            <a:r>
              <a:rPr lang="en-US" altLang="zh-CN" sz="2400">
                <a:latin typeface="微软雅黑" panose="020B0503020204020204" pitchFamily="34" charset="-122"/>
                <a:ea typeface="微软雅黑" panose="020B0503020204020204" pitchFamily="34" charset="-122"/>
              </a:rPr>
              <a:t>(Stride(i))​</a:t>
            </a:r>
            <a:r>
              <a:rPr lang="zh-CN" altLang="en-US" sz="2400">
                <a:latin typeface="微软雅黑" panose="020B0503020204020204" pitchFamily="34" charset="-122"/>
                <a:ea typeface="微软雅黑" panose="020B0503020204020204" pitchFamily="34" charset="-122"/>
              </a:rPr>
              <a:t>：索引为 </a:t>
            </a:r>
            <a:r>
              <a:rPr lang="en-US" altLang="zh-CN" sz="2400">
                <a:latin typeface="微软雅黑" panose="020B0503020204020204" pitchFamily="34" charset="-122"/>
                <a:ea typeface="微软雅黑" panose="020B0503020204020204" pitchFamily="34" charset="-122"/>
              </a:rPr>
              <a:t>x </a:t>
            </a:r>
            <a:r>
              <a:rPr lang="zh-CN" altLang="en-US" sz="2400">
                <a:latin typeface="微软雅黑" panose="020B0503020204020204" pitchFamily="34" charset="-122"/>
                <a:ea typeface="微软雅黑" panose="020B0503020204020204" pitchFamily="34" charset="-122"/>
              </a:rPr>
              <a:t>的主机向索引为 </a:t>
            </a:r>
            <a:r>
              <a:rPr lang="en-US" altLang="zh-CN" sz="2400">
                <a:latin typeface="微软雅黑" panose="020B0503020204020204" pitchFamily="34" charset="-122"/>
                <a:ea typeface="微软雅黑" panose="020B0503020204020204" pitchFamily="34" charset="-122"/>
              </a:rPr>
              <a:t>(x + i) mod 16 </a:t>
            </a:r>
            <a:r>
              <a:rPr lang="zh-CN" altLang="en-US" sz="2400">
                <a:latin typeface="微软雅黑" panose="020B0503020204020204" pitchFamily="34" charset="-122"/>
                <a:ea typeface="微软雅黑" panose="020B0503020204020204" pitchFamily="34" charset="-122"/>
              </a:rPr>
              <a:t>的主机发送流量</a:t>
            </a:r>
            <a:endParaRPr lang="en-US" altLang="zh-CN" sz="2400">
              <a:latin typeface="微软雅黑" panose="020B0503020204020204" pitchFamily="34" charset="-122"/>
              <a:ea typeface="微软雅黑" panose="020B0503020204020204" pitchFamily="34" charset="-122"/>
            </a:endParaRPr>
          </a:p>
          <a:p>
            <a:pPr marL="742950" lvl="1" indent="-285750">
              <a:lnSpc>
                <a:spcPts val="42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交错概率 </a:t>
            </a:r>
            <a:r>
              <a:rPr lang="en-US" altLang="zh-CN" sz="2400">
                <a:latin typeface="微软雅黑" panose="020B0503020204020204" pitchFamily="34" charset="-122"/>
                <a:ea typeface="微软雅黑" panose="020B0503020204020204" pitchFamily="34" charset="-122"/>
              </a:rPr>
              <a:t>(Staggered Prob)</a:t>
            </a:r>
            <a:r>
              <a:rPr lang="zh-CN" altLang="en-US" sz="2400">
                <a:latin typeface="微软雅黑" panose="020B0503020204020204" pitchFamily="34" charset="-122"/>
                <a:ea typeface="微软雅黑" panose="020B0503020204020204" pitchFamily="34" charset="-122"/>
              </a:rPr>
              <a:t>：主机以 </a:t>
            </a:r>
            <a:r>
              <a:rPr lang="en-US" altLang="zh-CN" sz="2400">
                <a:latin typeface="微软雅黑" panose="020B0503020204020204" pitchFamily="34" charset="-122"/>
                <a:ea typeface="微软雅黑" panose="020B0503020204020204" pitchFamily="34" charset="-122"/>
              </a:rPr>
              <a:t>SubnetP </a:t>
            </a:r>
            <a:r>
              <a:rPr lang="zh-CN" altLang="en-US" sz="2400">
                <a:latin typeface="微软雅黑" panose="020B0503020204020204" pitchFamily="34" charset="-122"/>
                <a:ea typeface="微软雅黑" panose="020B0503020204020204" pitchFamily="34" charset="-122"/>
              </a:rPr>
              <a:t>概率向​​同子网​​主机发送，以 </a:t>
            </a:r>
            <a:r>
              <a:rPr lang="en-US" altLang="zh-CN" sz="2400">
                <a:latin typeface="微软雅黑" panose="020B0503020204020204" pitchFamily="34" charset="-122"/>
                <a:ea typeface="微软雅黑" panose="020B0503020204020204" pitchFamily="34" charset="-122"/>
              </a:rPr>
              <a:t>PodP </a:t>
            </a:r>
            <a:r>
              <a:rPr lang="zh-CN" altLang="en-US" sz="2400">
                <a:latin typeface="微软雅黑" panose="020B0503020204020204" pitchFamily="34" charset="-122"/>
                <a:ea typeface="微软雅黑" panose="020B0503020204020204" pitchFamily="34" charset="-122"/>
              </a:rPr>
              <a:t>概率向​​同 </a:t>
            </a:r>
            <a:r>
              <a:rPr lang="en-US" altLang="zh-CN" sz="2400">
                <a:latin typeface="微软雅黑" panose="020B0503020204020204" pitchFamily="34" charset="-122"/>
                <a:ea typeface="微软雅黑" panose="020B0503020204020204" pitchFamily="34" charset="-122"/>
              </a:rPr>
              <a:t>Pod ​​</a:t>
            </a:r>
            <a:r>
              <a:rPr lang="zh-CN" altLang="en-US" sz="2400">
                <a:latin typeface="微软雅黑" panose="020B0503020204020204" pitchFamily="34" charset="-122"/>
                <a:ea typeface="微软雅黑" panose="020B0503020204020204" pitchFamily="34" charset="-122"/>
              </a:rPr>
              <a:t>主机发送，以 </a:t>
            </a:r>
            <a:r>
              <a:rPr lang="en-US" altLang="zh-CN" sz="2400">
                <a:latin typeface="微软雅黑" panose="020B0503020204020204" pitchFamily="34" charset="-122"/>
                <a:ea typeface="微软雅黑" panose="020B0503020204020204" pitchFamily="34" charset="-122"/>
              </a:rPr>
              <a:t>1-SubnetP-PodP </a:t>
            </a:r>
            <a:r>
              <a:rPr lang="zh-CN" altLang="en-US" sz="2400">
                <a:latin typeface="微软雅黑" panose="020B0503020204020204" pitchFamily="34" charset="-122"/>
                <a:ea typeface="微软雅黑" panose="020B0503020204020204" pitchFamily="34" charset="-122"/>
              </a:rPr>
              <a:t>概率向​​任何​​主机发送</a:t>
            </a:r>
            <a:endParaRPr lang="en-US" altLang="zh-CN" sz="2400">
              <a:latin typeface="微软雅黑" panose="020B0503020204020204" pitchFamily="34" charset="-122"/>
              <a:ea typeface="微软雅黑" panose="020B0503020204020204" pitchFamily="34" charset="-122"/>
            </a:endParaRP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9027687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5.2 Benchmark Suite </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3" y="831151"/>
            <a:ext cx="11291800" cy="5557291"/>
          </a:xfrm>
          <a:prstGeom prst="rect">
            <a:avLst/>
          </a:prstGeom>
          <a:noFill/>
        </p:spPr>
        <p:txBody>
          <a:bodyPr wrap="square" rtlCol="0">
            <a:spAutoFit/>
          </a:bodyPr>
          <a:lstStyle/>
          <a:p>
            <a:pPr>
              <a:lnSpc>
                <a:spcPts val="3300"/>
              </a:lnSpc>
            </a:pPr>
            <a:r>
              <a:rPr lang="zh-CN" altLang="en-US" sz="2400" b="1" dirty="0">
                <a:latin typeface="微软雅黑" panose="020B0503020204020204" pitchFamily="34" charset="-122"/>
                <a:ea typeface="微软雅黑" panose="020B0503020204020204" pitchFamily="34" charset="-122"/>
              </a:rPr>
              <a:t>基准测试流量模式</a:t>
            </a:r>
            <a:endParaRPr lang="en-US" altLang="zh-CN" sz="2400" b="1" dirty="0">
              <a:latin typeface="微软雅黑" panose="020B0503020204020204" pitchFamily="34" charset="-122"/>
              <a:ea typeface="微软雅黑" panose="020B0503020204020204" pitchFamily="34" charset="-122"/>
            </a:endParaRPr>
          </a:p>
          <a:p>
            <a:pPr marL="285750"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关键 </a:t>
            </a:r>
            <a:r>
              <a:rPr lang="en-US" altLang="zh-CN" sz="2400" dirty="0">
                <a:latin typeface="微软雅黑" panose="020B0503020204020204" pitchFamily="34" charset="-122"/>
                <a:ea typeface="微软雅黑" panose="020B0503020204020204" pitchFamily="34" charset="-122"/>
              </a:rPr>
              <a:t>worst-case </a:t>
            </a:r>
            <a:r>
              <a:rPr lang="zh-CN" altLang="en-US" sz="2400" dirty="0">
                <a:latin typeface="微软雅黑" panose="020B0503020204020204" pitchFamily="34" charset="-122"/>
                <a:ea typeface="微软雅黑" panose="020B0503020204020204" pitchFamily="34" charset="-122"/>
              </a:rPr>
              <a:t>场景：​​</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内涌入 </a:t>
            </a:r>
            <a:r>
              <a:rPr lang="en-US" altLang="zh-CN" sz="2400" dirty="0">
                <a:latin typeface="微软雅黑" panose="020B0503020204020204" pitchFamily="34" charset="-122"/>
                <a:ea typeface="微软雅黑" panose="020B0503020204020204" pitchFamily="34" charset="-122"/>
              </a:rPr>
              <a:t>(Inter-pod Incoming)</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场景：​​ 多个</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向​​同一目标</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的不同主机发送流量，且恰都选择​​同一核心交换机​​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问题：​​ 导致该核心交换机到目标</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的链路超额订阅​​</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最差比例：</a:t>
            </a:r>
            <a:r>
              <a:rPr lang="en-US" altLang="zh-CN" sz="2400" dirty="0">
                <a:latin typeface="微软雅黑" panose="020B0503020204020204" pitchFamily="34" charset="-122"/>
                <a:ea typeface="微软雅黑" panose="020B0503020204020204" pitchFamily="34" charset="-122"/>
              </a:rPr>
              <a:t>(k - 1) : 1​​</a:t>
            </a:r>
          </a:p>
          <a:p>
            <a:pPr marL="285750" indent="-285750">
              <a:lnSpc>
                <a:spcPts val="33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同</a:t>
            </a:r>
            <a:r>
              <a:rPr lang="en-US" altLang="zh-CN" sz="2400" dirty="0">
                <a:latin typeface="微软雅黑" panose="020B0503020204020204" pitchFamily="34" charset="-122"/>
                <a:ea typeface="微软雅黑" panose="020B0503020204020204" pitchFamily="34" charset="-122"/>
              </a:rPr>
              <a:t>ID</a:t>
            </a:r>
            <a:r>
              <a:rPr lang="zh-CN" altLang="en-US" sz="2400" dirty="0">
                <a:latin typeface="微软雅黑" panose="020B0503020204020204" pitchFamily="34" charset="-122"/>
                <a:ea typeface="微软雅黑" panose="020B0503020204020204" pitchFamily="34" charset="-122"/>
              </a:rPr>
              <a:t>发出 </a:t>
            </a:r>
            <a:r>
              <a:rPr lang="en-US" altLang="zh-CN" sz="2400" dirty="0">
                <a:latin typeface="微软雅黑" panose="020B0503020204020204" pitchFamily="34" charset="-122"/>
                <a:ea typeface="微软雅黑" panose="020B0503020204020204" pitchFamily="34" charset="-122"/>
              </a:rPr>
              <a:t>(Same-ID Outgoing)</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场景：​​ ​​同一子网​​内的主机向网络中​​不同目标​​发送流量，但这些目标主机拥有​​相同的主机</a:t>
            </a:r>
            <a:r>
              <a:rPr lang="en-US" altLang="zh-CN" sz="2400" dirty="0">
                <a:latin typeface="微软雅黑" panose="020B0503020204020204" pitchFamily="34" charset="-122"/>
                <a:ea typeface="微软雅黑" panose="020B0503020204020204" pitchFamily="34" charset="-122"/>
              </a:rPr>
              <a:t>ID​​</a:t>
            </a: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问题：​​ 静态路由技术迫使这些流使用​​同一个上行端口​​，造成出口拥塞</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最差比例：</a:t>
            </a:r>
            <a:r>
              <a:rPr lang="en-US" altLang="zh-CN" sz="2400" dirty="0">
                <a:latin typeface="微软雅黑" panose="020B0503020204020204" pitchFamily="34" charset="-122"/>
                <a:ea typeface="微软雅黑" panose="020B0503020204020204" pitchFamily="34" charset="-122"/>
              </a:rPr>
              <a:t>(k/2) : 1​​</a:t>
            </a:r>
          </a:p>
          <a:p>
            <a:pPr marL="742950" lvl="1" indent="-285750">
              <a:lnSpc>
                <a:spcPts val="33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注：​​ 此场景是 ​​</a:t>
            </a:r>
            <a:r>
              <a:rPr lang="en-US" altLang="zh-CN" sz="2400" dirty="0" err="1">
                <a:latin typeface="微软雅黑" panose="020B0503020204020204" pitchFamily="34" charset="-122"/>
                <a:ea typeface="微软雅黑" panose="020B0503020204020204" pitchFamily="34" charset="-122"/>
              </a:rPr>
              <a:t>FlowClassifier</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最能发挥性能提升作用的用例</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0567807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5.3 Results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2" y="831151"/>
            <a:ext cx="11509657" cy="5455468"/>
          </a:xfrm>
          <a:prstGeom prst="rect">
            <a:avLst/>
          </a:prstGeom>
          <a:noFill/>
        </p:spPr>
        <p:txBody>
          <a:bodyPr wrap="square" rtlCol="0">
            <a:spAutoFit/>
          </a:bodyPr>
          <a:lstStyle/>
          <a:p>
            <a:pPr>
              <a:lnSpc>
                <a:spcPts val="3000"/>
              </a:lnSpc>
            </a:pPr>
            <a:r>
              <a:rPr lang="zh-CN" altLang="en-US" sz="2400" b="1" dirty="0">
                <a:latin typeface="微软雅黑" panose="020B0503020204020204" pitchFamily="34" charset="-122"/>
                <a:ea typeface="微软雅黑" panose="020B0503020204020204" pitchFamily="34" charset="-122"/>
              </a:rPr>
              <a:t>性能评估结果</a:t>
            </a:r>
            <a:endParaRPr lang="en-US" altLang="zh-CN" sz="2400" b="1" dirty="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核心结论：​​</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传统树形结构：​​ 在所有 </a:t>
            </a:r>
            <a:r>
              <a:rPr lang="en-US" altLang="zh-CN" sz="2400" dirty="0">
                <a:latin typeface="微软雅黑" panose="020B0503020204020204" pitchFamily="34" charset="-122"/>
                <a:ea typeface="微软雅黑" panose="020B0503020204020204" pitchFamily="34" charset="-122"/>
              </a:rPr>
              <a:t>Pod </a:t>
            </a:r>
            <a:r>
              <a:rPr lang="zh-CN" altLang="en-US" sz="2400" dirty="0">
                <a:latin typeface="微软雅黑" panose="020B0503020204020204" pitchFamily="34" charset="-122"/>
                <a:ea typeface="微软雅黑" panose="020B0503020204020204" pitchFamily="34" charset="-122"/>
              </a:rPr>
              <a:t>间通信模式中性能最差，受限于核心链路饱和，仅能达到​​</a:t>
            </a:r>
            <a:r>
              <a:rPr lang="en-US" altLang="zh-CN" sz="2400" dirty="0">
                <a:latin typeface="微软雅黑" panose="020B0503020204020204" pitchFamily="34" charset="-122"/>
                <a:ea typeface="微软雅黑" panose="020B0503020204020204" pitchFamily="34" charset="-122"/>
              </a:rPr>
              <a:t>~28%​​</a:t>
            </a:r>
            <a:r>
              <a:rPr lang="zh-CN" altLang="en-US" sz="2400" dirty="0">
                <a:latin typeface="微软雅黑" panose="020B0503020204020204" pitchFamily="34" charset="-122"/>
                <a:ea typeface="微软雅黑" panose="020B0503020204020204" pitchFamily="34" charset="-122"/>
              </a:rPr>
              <a:t>的理想二分带宽</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两级路由表：​​ 性能显著提升，在随机通信模式下达到约​​</a:t>
            </a:r>
            <a:r>
              <a:rPr lang="en-US" altLang="zh-CN" sz="2400" dirty="0">
                <a:latin typeface="微软雅黑" panose="020B0503020204020204" pitchFamily="34" charset="-122"/>
                <a:ea typeface="微软雅黑" panose="020B0503020204020204" pitchFamily="34" charset="-122"/>
              </a:rPr>
              <a:t>75%​​</a:t>
            </a:r>
            <a:r>
              <a:rPr lang="zh-CN" altLang="en-US" sz="2400" dirty="0">
                <a:latin typeface="微软雅黑" panose="020B0503020204020204" pitchFamily="34" charset="-122"/>
                <a:ea typeface="微软雅黑" panose="020B0503020204020204" pitchFamily="34" charset="-122"/>
              </a:rPr>
              <a:t>的理想带宽</a:t>
            </a:r>
            <a:endParaRPr lang="en-US" altLang="zh-CN" sz="2400" dirty="0">
              <a:latin typeface="微软雅黑" panose="020B0503020204020204" pitchFamily="34" charset="-122"/>
              <a:ea typeface="微软雅黑" panose="020B0503020204020204" pitchFamily="34" charset="-122"/>
            </a:endParaRPr>
          </a:p>
          <a:p>
            <a:pPr marL="1200150" lvl="2" indent="-285750">
              <a:lnSpc>
                <a:spcPts val="3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局限性：​​ 静态性导致其在 ​​同</a:t>
            </a:r>
            <a:r>
              <a:rPr lang="en-US" altLang="zh-CN" sz="2400" dirty="0">
                <a:latin typeface="微软雅黑" panose="020B0503020204020204" pitchFamily="34" charset="-122"/>
                <a:ea typeface="微软雅黑" panose="020B0503020204020204" pitchFamily="34" charset="-122"/>
              </a:rPr>
              <a:t>ID</a:t>
            </a:r>
            <a:r>
              <a:rPr lang="zh-CN" altLang="en-US" sz="2400" dirty="0">
                <a:latin typeface="微软雅黑" panose="020B0503020204020204" pitchFamily="34" charset="-122"/>
                <a:ea typeface="微软雅黑" panose="020B0503020204020204" pitchFamily="34" charset="-122"/>
              </a:rPr>
              <a:t>发出​​ 和 ​​</a:t>
            </a:r>
            <a:r>
              <a:rPr lang="en-US" altLang="zh-CN" sz="2400" dirty="0">
                <a:latin typeface="微软雅黑" panose="020B0503020204020204" pitchFamily="34" charset="-122"/>
                <a:ea typeface="微软雅黑" panose="020B0503020204020204" pitchFamily="34" charset="-122"/>
              </a:rPr>
              <a:t>Pod</a:t>
            </a:r>
            <a:r>
              <a:rPr lang="zh-CN" altLang="en-US" sz="2400" dirty="0">
                <a:latin typeface="微软雅黑" panose="020B0503020204020204" pitchFamily="34" charset="-122"/>
                <a:ea typeface="微软雅黑" panose="020B0503020204020204" pitchFamily="34" charset="-122"/>
              </a:rPr>
              <a:t>内涌入​​ 场景下性能下降（如后者降至​​</a:t>
            </a:r>
            <a:r>
              <a:rPr lang="en-US" altLang="zh-CN" sz="2400" dirty="0">
                <a:latin typeface="微软雅黑" panose="020B0503020204020204" pitchFamily="34" charset="-122"/>
                <a:ea typeface="微软雅黑" panose="020B0503020204020204" pitchFamily="34" charset="-122"/>
              </a:rPr>
              <a:t>50%​​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流分类器 </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FlowClassifier</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凭借动态分配，在所有情况下均优于前两者，最差情况下也能保持约​​</a:t>
            </a:r>
            <a:r>
              <a:rPr lang="en-US" altLang="zh-CN" sz="2400" dirty="0">
                <a:latin typeface="微软雅黑" panose="020B0503020204020204" pitchFamily="34" charset="-122"/>
                <a:ea typeface="微软雅黑" panose="020B0503020204020204" pitchFamily="34" charset="-122"/>
              </a:rPr>
              <a:t>75%​​</a:t>
            </a:r>
            <a:r>
              <a:rPr lang="zh-CN" altLang="en-US" sz="2400" dirty="0">
                <a:latin typeface="微软雅黑" panose="020B0503020204020204" pitchFamily="34" charset="-122"/>
                <a:ea typeface="微软雅黑" panose="020B0503020204020204" pitchFamily="34" charset="-122"/>
              </a:rPr>
              <a:t>的带宽</a:t>
            </a:r>
            <a:endParaRPr lang="en-US" altLang="zh-CN" sz="2400" dirty="0">
              <a:latin typeface="微软雅黑" panose="020B0503020204020204" pitchFamily="34" charset="-122"/>
              <a:ea typeface="微软雅黑" panose="020B0503020204020204" pitchFamily="34" charset="-122"/>
            </a:endParaRPr>
          </a:p>
          <a:p>
            <a:pPr marL="1200150" lvl="2"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局限性：​​ 因仅有本地视图，无法避免上游决策引发的核心层拥塞</a:t>
            </a:r>
            <a:endParaRPr lang="en-US" altLang="zh-CN" sz="2400" dirty="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全局最优方案：流调度器 </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FlowScheduler</a:t>
            </a:r>
            <a:r>
              <a:rPr lang="en-US" altLang="zh-CN" sz="2400" dirty="0">
                <a:latin typeface="微软雅黑" panose="020B0503020204020204" pitchFamily="34" charset="-122"/>
                <a:ea typeface="微软雅黑" panose="020B0503020204020204" pitchFamily="34" charset="-122"/>
              </a:rPr>
              <a:t>)​​</a:t>
            </a:r>
          </a:p>
          <a:p>
            <a:pPr marL="742950" lvl="1"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凭借​​全局知识​​，为大数据流分配​​无冲突的路径​​</a:t>
            </a:r>
            <a:endParaRPr lang="en-US" altLang="zh-CN" sz="2400" dirty="0">
              <a:latin typeface="微软雅黑" panose="020B0503020204020204" pitchFamily="34" charset="-122"/>
              <a:ea typeface="微软雅黑" panose="020B0503020204020204" pitchFamily="34" charset="-122"/>
            </a:endParaRPr>
          </a:p>
          <a:p>
            <a:pPr marL="742950" lvl="1" indent="-285750">
              <a:lnSpc>
                <a:spcPts val="3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在随机通信映射下实现了 ​​</a:t>
            </a:r>
            <a:r>
              <a:rPr lang="en-US" altLang="zh-CN" sz="2400" dirty="0">
                <a:latin typeface="微软雅黑" panose="020B0503020204020204" pitchFamily="34" charset="-122"/>
                <a:ea typeface="微软雅黑" panose="020B0503020204020204" pitchFamily="34" charset="-122"/>
              </a:rPr>
              <a:t>93%​​ </a:t>
            </a:r>
            <a:r>
              <a:rPr lang="zh-CN" altLang="en-US" sz="2400" dirty="0">
                <a:latin typeface="微软雅黑" panose="020B0503020204020204" pitchFamily="34" charset="-122"/>
                <a:ea typeface="微软雅黑" panose="020B0503020204020204" pitchFamily="34" charset="-122"/>
              </a:rPr>
              <a:t>的理想二分带宽，​​全面 </a:t>
            </a:r>
            <a:r>
              <a:rPr lang="en-US" altLang="zh-CN" sz="2400" dirty="0">
                <a:latin typeface="微软雅黑" panose="020B0503020204020204" pitchFamily="34" charset="-122"/>
                <a:ea typeface="微软雅黑" panose="020B0503020204020204" pitchFamily="34" charset="-122"/>
              </a:rPr>
              <a:t>outperforms​​ </a:t>
            </a:r>
            <a:r>
              <a:rPr lang="zh-CN" altLang="en-US" sz="2400" dirty="0">
                <a:latin typeface="微软雅黑" panose="020B0503020204020204" pitchFamily="34" charset="-122"/>
                <a:ea typeface="微软雅黑" panose="020B0503020204020204" pitchFamily="34" charset="-122"/>
              </a:rPr>
              <a:t>所有其他方案</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5523035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309411" y="0"/>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rPr>
              <a:t>Evaluation</a:t>
            </a:r>
            <a:r>
              <a:rPr lang="en-US" altLang="zh-CN" sz="2800" b="1">
                <a:solidFill>
                  <a:srgbClr val="F26849"/>
                </a:solidFill>
                <a:latin typeface="微软雅黑" panose="020B0503020204020204" pitchFamily="34" charset="-122"/>
                <a:ea typeface="微软雅黑" panose="020B0503020204020204" pitchFamily="34" charset="-122"/>
                <a:cs typeface="+mn-cs"/>
              </a:rPr>
              <a:t>:</a:t>
            </a:r>
            <a:r>
              <a:rPr lang="zh-CN" altLang="en-US" sz="2800" b="1">
                <a:solidFill>
                  <a:srgbClr val="F26849"/>
                </a:solidFill>
                <a:latin typeface="微软雅黑" panose="020B0503020204020204" pitchFamily="34" charset="-122"/>
                <a:ea typeface="微软雅黑" panose="020B0503020204020204" pitchFamily="34" charset="-122"/>
                <a:cs typeface="+mn-cs"/>
              </a:rPr>
              <a:t> </a:t>
            </a:r>
            <a:r>
              <a:rPr lang="en-US" altLang="zh-CN" sz="2800" b="1">
                <a:solidFill>
                  <a:srgbClr val="F26849"/>
                </a:solidFill>
                <a:latin typeface="微软雅黑" panose="020B0503020204020204" pitchFamily="34" charset="-122"/>
                <a:ea typeface="微软雅黑" panose="020B0503020204020204" pitchFamily="34" charset="-122"/>
                <a:cs typeface="+mn-cs"/>
              </a:rPr>
              <a:t>5.3 Results</a:t>
            </a:r>
            <a:endParaRPr kumimoji="0" lang="zh-CN" altLang="en-US" sz="28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42772" y="831151"/>
            <a:ext cx="11509657" cy="2758447"/>
          </a:xfrm>
          <a:prstGeom prst="rect">
            <a:avLst/>
          </a:prstGeom>
          <a:noFill/>
        </p:spPr>
        <p:txBody>
          <a:bodyPr wrap="square" rtlCol="0">
            <a:spAutoFit/>
          </a:bodyPr>
          <a:lstStyle/>
          <a:p>
            <a:pPr>
              <a:lnSpc>
                <a:spcPts val="3000"/>
              </a:lnSpc>
            </a:pPr>
            <a:r>
              <a:rPr lang="zh-CN" altLang="en-US" sz="2400" b="1">
                <a:latin typeface="微软雅黑" panose="020B0503020204020204" pitchFamily="34" charset="-122"/>
                <a:ea typeface="微软雅黑" panose="020B0503020204020204" pitchFamily="34" charset="-122"/>
              </a:rPr>
              <a:t>关键可行性证明：中央调度器开销极低 </a:t>
            </a:r>
            <a:r>
              <a:rPr lang="en-US" altLang="zh-CN" sz="2400" b="1">
                <a:latin typeface="微软雅黑" panose="020B0503020204020204" pitchFamily="34" charset="-122"/>
                <a:ea typeface="微软雅黑" panose="020B0503020204020204" pitchFamily="34" charset="-122"/>
              </a:rPr>
              <a:t>(</a:t>
            </a:r>
            <a:r>
              <a:rPr lang="zh-CN" altLang="en-US" sz="2400" b="1">
                <a:latin typeface="微软雅黑" panose="020B0503020204020204" pitchFamily="34" charset="-122"/>
                <a:ea typeface="微软雅黑" panose="020B0503020204020204" pitchFamily="34" charset="-122"/>
              </a:rPr>
              <a:t>数据来源：表</a:t>
            </a:r>
            <a:r>
              <a:rPr lang="en-US" altLang="zh-CN" sz="2400" b="1">
                <a:latin typeface="微软雅黑" panose="020B0503020204020204" pitchFamily="34" charset="-122"/>
                <a:ea typeface="微软雅黑" panose="020B0503020204020204" pitchFamily="34" charset="-122"/>
              </a:rPr>
              <a:t>3)</a:t>
            </a:r>
            <a:r>
              <a:rPr lang="en-US" altLang="zh-CN" sz="2400">
                <a:latin typeface="微软雅黑" panose="020B0503020204020204" pitchFamily="34" charset="-122"/>
                <a:ea typeface="微软雅黑" panose="020B0503020204020204" pitchFamily="34" charset="-122"/>
              </a:rPr>
              <a:t>​​</a:t>
            </a: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测试平台：​​ 配备适中的商用</a:t>
            </a:r>
            <a:r>
              <a:rPr lang="en-US" altLang="zh-CN" sz="2400">
                <a:latin typeface="微软雅黑" panose="020B0503020204020204" pitchFamily="34" charset="-122"/>
                <a:ea typeface="微软雅黑" panose="020B0503020204020204" pitchFamily="34" charset="-122"/>
              </a:rPr>
              <a:t>PC (2.33GHz)</a:t>
            </a: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规模：​​ 支持 ​​</a:t>
            </a:r>
            <a:r>
              <a:rPr lang="en-US" altLang="zh-CN" sz="2400">
                <a:latin typeface="微软雅黑" panose="020B0503020204020204" pitchFamily="34" charset="-122"/>
                <a:ea typeface="微软雅黑" panose="020B0503020204020204" pitchFamily="34" charset="-122"/>
              </a:rPr>
              <a:t>27,648</a:t>
            </a:r>
            <a:r>
              <a:rPr lang="zh-CN" altLang="en-US" sz="2400">
                <a:latin typeface="微软雅黑" panose="020B0503020204020204" pitchFamily="34" charset="-122"/>
                <a:ea typeface="微软雅黑" panose="020B0503020204020204" pitchFamily="34" charset="-122"/>
              </a:rPr>
              <a:t>台主机​​ </a:t>
            </a:r>
            <a:r>
              <a:rPr lang="en-US" altLang="zh-CN" sz="2400">
                <a:latin typeface="微软雅黑" panose="020B0503020204020204" pitchFamily="34" charset="-122"/>
                <a:ea typeface="微软雅黑" panose="020B0503020204020204" pitchFamily="34" charset="-122"/>
              </a:rPr>
              <a:t>(k=48) </a:t>
            </a:r>
            <a:r>
              <a:rPr lang="zh-CN" altLang="en-US" sz="2400">
                <a:latin typeface="微软雅黑" panose="020B0503020204020204" pitchFamily="34" charset="-122"/>
                <a:ea typeface="微软雅黑" panose="020B0503020204020204" pitchFamily="34" charset="-122"/>
              </a:rPr>
              <a:t>的大型网络</a:t>
            </a:r>
            <a:endParaRPr lang="en-US" altLang="zh-CN" sz="240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内存：​​ 总内存需求仅为 ​​</a:t>
            </a:r>
            <a:r>
              <a:rPr lang="en-US" altLang="zh-CN" sz="2400">
                <a:latin typeface="微软雅黑" panose="020B0503020204020204" pitchFamily="34" charset="-122"/>
                <a:ea typeface="微软雅黑" panose="020B0503020204020204" pitchFamily="34" charset="-122"/>
              </a:rPr>
              <a:t>5.6 MB​​</a:t>
            </a: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速度：​​ 处理单个流安置请求的平均时间 ​​小于 </a:t>
            </a:r>
            <a:r>
              <a:rPr lang="en-US" altLang="zh-CN" sz="2400">
                <a:latin typeface="微软雅黑" panose="020B0503020204020204" pitchFamily="34" charset="-122"/>
                <a:ea typeface="微软雅黑" panose="020B0503020204020204" pitchFamily="34" charset="-122"/>
              </a:rPr>
              <a:t>0.8 </a:t>
            </a:r>
            <a:r>
              <a:rPr lang="zh-CN" altLang="en-US" sz="2400">
                <a:latin typeface="微软雅黑" panose="020B0503020204020204" pitchFamily="34" charset="-122"/>
                <a:ea typeface="微软雅黑" panose="020B0503020204020204" pitchFamily="34" charset="-122"/>
              </a:rPr>
              <a:t>毫秒​​</a:t>
            </a:r>
            <a:endParaRPr lang="en-US" altLang="zh-CN" sz="2400">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Ø"/>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结论：​​ ​​</a:t>
            </a:r>
            <a:r>
              <a:rPr lang="en-US" altLang="zh-CN" sz="2400">
                <a:latin typeface="微软雅黑" panose="020B0503020204020204" pitchFamily="34" charset="-122"/>
                <a:ea typeface="微软雅黑" panose="020B0503020204020204" pitchFamily="34" charset="-122"/>
              </a:rPr>
              <a:t>Fat-tree </a:t>
            </a:r>
            <a:r>
              <a:rPr lang="zh-CN" altLang="en-US" sz="2400">
                <a:latin typeface="微软雅黑" panose="020B0503020204020204" pitchFamily="34" charset="-122"/>
                <a:ea typeface="微软雅黑" panose="020B0503020204020204" pitchFamily="34" charset="-122"/>
              </a:rPr>
              <a:t>拓扑的规律性​​极大简化了路径搜索问题，使得中央调度方案在​​资源开销极低​​的前提下即可实现，具备极高的​​实际可行性​​</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834860"/>
            <a:ext cx="11509657" cy="5549007"/>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8" name="Picture 3">
            <a:extLst>
              <a:ext uri="{FF2B5EF4-FFF2-40B4-BE49-F238E27FC236}">
                <a16:creationId xmlns:a16="http://schemas.microsoft.com/office/drawing/2014/main" id="{52C39726-3A63-4317-A8A5-5E57D0CB6837}"/>
              </a:ext>
            </a:extLst>
          </p:cNvPr>
          <p:cNvPicPr>
            <a:picLocks noChangeAspect="1" noChangeArrowheads="1"/>
          </p:cNvPicPr>
          <p:nvPr/>
        </p:nvPicPr>
        <p:blipFill>
          <a:blip r:embed="rId3" cstate="print"/>
          <a:srcRect/>
          <a:stretch>
            <a:fillRect/>
          </a:stretch>
        </p:blipFill>
        <p:spPr bwMode="auto">
          <a:xfrm>
            <a:off x="1236133" y="3609363"/>
            <a:ext cx="9150555" cy="3024336"/>
          </a:xfrm>
          <a:prstGeom prst="rect">
            <a:avLst/>
          </a:prstGeom>
          <a:noFill/>
          <a:ln w="9525">
            <a:noFill/>
            <a:miter lim="800000"/>
            <a:headEnd/>
            <a:tailEnd/>
          </a:ln>
        </p:spPr>
      </p:pic>
    </p:spTree>
    <p:extLst>
      <p:ext uri="{BB962C8B-B14F-4D97-AF65-F5344CB8AC3E}">
        <p14:creationId xmlns:p14="http://schemas.microsoft.com/office/powerpoint/2010/main" val="2157629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CBFD2B-FB59-4562-9972-88339D95736B}"/>
              </a:ext>
            </a:extLst>
          </p:cNvPr>
          <p:cNvSpPr txBox="1"/>
          <p:nvPr/>
        </p:nvSpPr>
        <p:spPr>
          <a:xfrm>
            <a:off x="2210304" y="938799"/>
            <a:ext cx="8363187" cy="4980402"/>
          </a:xfrm>
          <a:prstGeom prst="rect">
            <a:avLst/>
          </a:prstGeom>
          <a:noFill/>
        </p:spPr>
        <p:txBody>
          <a:bodyPr wrap="none" rtlCol="0">
            <a:spAutoFit/>
          </a:bodyPr>
          <a:lstStyle/>
          <a:p>
            <a:pPr algn="ctr">
              <a:lnSpc>
                <a:spcPct val="150000"/>
              </a:lnSpc>
            </a:pPr>
            <a:r>
              <a:rPr lang="en-US" altLang="zh-CN" sz="3600" b="1">
                <a:solidFill>
                  <a:srgbClr val="2F5EB0"/>
                </a:solidFill>
                <a:latin typeface="微软雅黑" panose="020B0503020204020204" pitchFamily="34" charset="-122"/>
                <a:ea typeface="微软雅黑" panose="020B0503020204020204" pitchFamily="34" charset="-122"/>
              </a:rPr>
              <a:t>Outline</a:t>
            </a:r>
          </a:p>
          <a:p>
            <a:pPr marL="857250" indent="-857250">
              <a:lnSpc>
                <a:spcPct val="15000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Introduction</a:t>
            </a:r>
          </a:p>
          <a:p>
            <a:pPr marL="857250" indent="-857250">
              <a:lnSpc>
                <a:spcPct val="15000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Background</a:t>
            </a:r>
          </a:p>
          <a:p>
            <a:pPr marL="857250" indent="-857250">
              <a:lnSpc>
                <a:spcPct val="15000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Architecture</a:t>
            </a:r>
          </a:p>
          <a:p>
            <a:pPr marL="857250" indent="-857250">
              <a:lnSpc>
                <a:spcPct val="150000"/>
              </a:lnSpc>
              <a:buFont typeface="+mj-lt"/>
              <a:buAutoNum type="romanUcPeriod"/>
            </a:pPr>
            <a:r>
              <a:rPr lang="en-US" altLang="zh-CN" sz="3600" b="1">
                <a:solidFill>
                  <a:schemeClr val="bg2">
                    <a:lumMod val="75000"/>
                  </a:schemeClr>
                </a:solidFill>
                <a:latin typeface="微软雅黑" panose="020B0503020204020204" pitchFamily="34" charset="-122"/>
                <a:ea typeface="微软雅黑" panose="020B0503020204020204" pitchFamily="34" charset="-122"/>
              </a:rPr>
              <a:t>Implementation and Evaluation</a:t>
            </a:r>
          </a:p>
          <a:p>
            <a:pPr marL="857250" indent="-857250">
              <a:lnSpc>
                <a:spcPct val="150000"/>
              </a:lnSpc>
              <a:buFont typeface="+mj-lt"/>
              <a:buAutoNum type="romanUcPeriod"/>
            </a:pPr>
            <a:r>
              <a:rPr lang="en-US" altLang="zh-CN" sz="3600" b="1">
                <a:solidFill>
                  <a:srgbClr val="2F5EB0"/>
                </a:solidFill>
                <a:latin typeface="微软雅黑" panose="020B0503020204020204" pitchFamily="34" charset="-122"/>
                <a:ea typeface="微软雅黑" panose="020B0503020204020204" pitchFamily="34" charset="-122"/>
              </a:rPr>
              <a:t>Review</a:t>
            </a:r>
            <a:endParaRPr lang="zh-CN" altLang="en-US" sz="3600" b="1">
              <a:solidFill>
                <a:srgbClr val="2F5EB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5069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p:cNvSpPr>
            <a:spLocks noChangeArrowheads="1"/>
          </p:cNvSpPr>
          <p:nvPr/>
        </p:nvSpPr>
        <p:spPr bwMode="auto">
          <a:xfrm>
            <a:off x="5044147" y="796945"/>
            <a:ext cx="1885848"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Review</a:t>
            </a:r>
            <a:endParaRPr kumimoji="0" lang="zh-CN" altLang="en-US"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849DB1BC-D8B3-4A86-94CF-04D2CB765F82}"/>
              </a:ext>
            </a:extLst>
          </p:cNvPr>
          <p:cNvSpPr txBox="1"/>
          <p:nvPr/>
        </p:nvSpPr>
        <p:spPr>
          <a:xfrm>
            <a:off x="450100" y="1282745"/>
            <a:ext cx="11509657" cy="4749570"/>
          </a:xfrm>
          <a:prstGeom prst="rect">
            <a:avLst/>
          </a:prstGeom>
          <a:noFill/>
        </p:spPr>
        <p:txBody>
          <a:bodyPr wrap="square" rtlCol="0">
            <a:spAutoFit/>
          </a:bodyPr>
          <a:lstStyle/>
          <a:p>
            <a:pPr>
              <a:lnSpc>
                <a:spcPts val="4600"/>
              </a:lnSpc>
            </a:pPr>
            <a:r>
              <a:rPr lang="en-US" altLang="zh-CN" sz="2800">
                <a:latin typeface="微软雅黑" panose="020B0503020204020204" pitchFamily="34" charset="-122"/>
                <a:ea typeface="微软雅黑" panose="020B0503020204020204" pitchFamily="34" charset="-122"/>
              </a:rPr>
              <a:t>​​</a:t>
            </a:r>
          </a:p>
          <a:p>
            <a:pPr marL="285750"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什么是数据中心网络？数据中心网络需要具备哪些理想特性？</a:t>
            </a:r>
          </a:p>
          <a:p>
            <a:pPr marL="285750"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什么是传统的三层数据中心网络拓扑，其局限性是什么？</a:t>
            </a:r>
          </a:p>
          <a:p>
            <a:pPr marL="285750"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胖树（</a:t>
            </a:r>
            <a:r>
              <a:rPr lang="en-US" altLang="zh-CN" sz="2800">
                <a:latin typeface="微软雅黑" panose="020B0503020204020204" pitchFamily="34" charset="-122"/>
                <a:ea typeface="微软雅黑" panose="020B0503020204020204" pitchFamily="34" charset="-122"/>
              </a:rPr>
              <a:t>Fat-tree</a:t>
            </a:r>
            <a:r>
              <a:rPr lang="zh-CN" altLang="en-US" sz="2800">
                <a:latin typeface="微软雅黑" panose="020B0503020204020204" pitchFamily="34" charset="-122"/>
                <a:ea typeface="微软雅黑" panose="020B0503020204020204" pitchFamily="34" charset="-122"/>
              </a:rPr>
              <a:t>）与传统设计有何不同？具体体现在：</a:t>
            </a:r>
            <a:endParaRPr lang="en-US" altLang="zh-CN" sz="2800">
              <a:latin typeface="微软雅黑" panose="020B0503020204020204" pitchFamily="34" charset="-122"/>
              <a:ea typeface="微软雅黑" panose="020B0503020204020204" pitchFamily="34" charset="-122"/>
            </a:endParaRPr>
          </a:p>
          <a:p>
            <a:pPr marL="742950" lvl="1"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拓扑结构（</a:t>
            </a:r>
            <a:r>
              <a:rPr lang="en-US" altLang="zh-CN" sz="2800">
                <a:latin typeface="微软雅黑" panose="020B0503020204020204" pitchFamily="34" charset="-122"/>
                <a:ea typeface="微软雅黑" panose="020B0503020204020204" pitchFamily="34" charset="-122"/>
              </a:rPr>
              <a:t>Topology</a:t>
            </a:r>
            <a:r>
              <a:rPr lang="zh-CN" altLang="en-US" sz="2800">
                <a:latin typeface="微软雅黑" panose="020B0503020204020204" pitchFamily="34" charset="-122"/>
                <a:ea typeface="微软雅黑" panose="020B0503020204020204" pitchFamily="34" charset="-122"/>
              </a:rPr>
              <a:t>）</a:t>
            </a:r>
            <a:endParaRPr lang="en-US" altLang="zh-CN" sz="2800">
              <a:latin typeface="微软雅黑" panose="020B0503020204020204" pitchFamily="34" charset="-122"/>
              <a:ea typeface="微软雅黑" panose="020B0503020204020204" pitchFamily="34" charset="-122"/>
            </a:endParaRPr>
          </a:p>
          <a:p>
            <a:pPr marL="742950" lvl="1"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寻址方案（</a:t>
            </a:r>
            <a:r>
              <a:rPr lang="en-US" altLang="zh-CN" sz="2800">
                <a:latin typeface="微软雅黑" panose="020B0503020204020204" pitchFamily="34" charset="-122"/>
                <a:ea typeface="微软雅黑" panose="020B0503020204020204" pitchFamily="34" charset="-122"/>
              </a:rPr>
              <a:t>Addressing</a:t>
            </a:r>
            <a:r>
              <a:rPr lang="zh-CN" altLang="en-US" sz="2800">
                <a:latin typeface="微软雅黑" panose="020B0503020204020204" pitchFamily="34" charset="-122"/>
                <a:ea typeface="微软雅黑" panose="020B0503020204020204" pitchFamily="34" charset="-122"/>
              </a:rPr>
              <a:t>）</a:t>
            </a:r>
            <a:endParaRPr lang="en-US" altLang="zh-CN" sz="2800">
              <a:latin typeface="微软雅黑" panose="020B0503020204020204" pitchFamily="34" charset="-122"/>
              <a:ea typeface="微软雅黑" panose="020B0503020204020204" pitchFamily="34" charset="-122"/>
            </a:endParaRPr>
          </a:p>
          <a:p>
            <a:pPr marL="742950" lvl="1"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路由表设计（</a:t>
            </a:r>
            <a:r>
              <a:rPr lang="en-US" altLang="zh-CN" sz="2800">
                <a:latin typeface="微软雅黑" panose="020B0503020204020204" pitchFamily="34" charset="-122"/>
                <a:ea typeface="微软雅黑" panose="020B0503020204020204" pitchFamily="34" charset="-122"/>
              </a:rPr>
              <a:t>Routing Table</a:t>
            </a:r>
            <a:r>
              <a:rPr lang="zh-CN" altLang="en-US" sz="2800">
                <a:latin typeface="微软雅黑" panose="020B0503020204020204" pitchFamily="34" charset="-122"/>
                <a:ea typeface="微软雅黑" panose="020B0503020204020204" pitchFamily="34" charset="-122"/>
              </a:rPr>
              <a:t>）</a:t>
            </a:r>
            <a:endParaRPr lang="en-US" altLang="zh-CN" sz="2800">
              <a:latin typeface="微软雅黑" panose="020B0503020204020204" pitchFamily="34" charset="-122"/>
              <a:ea typeface="微软雅黑" panose="020B0503020204020204" pitchFamily="34" charset="-122"/>
            </a:endParaRPr>
          </a:p>
          <a:p>
            <a:pPr marL="742950" lvl="1" indent="-285750">
              <a:lnSpc>
                <a:spcPts val="4600"/>
              </a:lnSpc>
              <a:buFont typeface="Wingdings" panose="05000000000000000000" pitchFamily="2" charset="2"/>
              <a:buChar char="Ø"/>
            </a:pPr>
            <a:r>
              <a:rPr lang="zh-CN" altLang="en-US" sz="2800">
                <a:latin typeface="微软雅黑" panose="020B0503020204020204" pitchFamily="34" charset="-122"/>
                <a:ea typeface="微软雅黑" panose="020B0503020204020204" pitchFamily="34" charset="-122"/>
              </a:rPr>
              <a:t>路由算法（</a:t>
            </a:r>
            <a:r>
              <a:rPr lang="en-US" altLang="zh-CN" sz="2800">
                <a:latin typeface="微软雅黑" panose="020B0503020204020204" pitchFamily="34" charset="-122"/>
                <a:ea typeface="微软雅黑" panose="020B0503020204020204" pitchFamily="34" charset="-122"/>
              </a:rPr>
              <a:t>Routing</a:t>
            </a:r>
            <a:r>
              <a:rPr lang="zh-CN" altLang="en-US" sz="2800">
                <a:latin typeface="微软雅黑" panose="020B0503020204020204" pitchFamily="34" charset="-122"/>
                <a:ea typeface="微软雅黑" panose="020B0503020204020204" pitchFamily="34" charset="-122"/>
              </a:rPr>
              <a:t>）</a:t>
            </a:r>
          </a:p>
        </p:txBody>
      </p:sp>
      <p:sp>
        <p:nvSpPr>
          <p:cNvPr id="17" name="圆角矩形 1">
            <a:extLst>
              <a:ext uri="{FF2B5EF4-FFF2-40B4-BE49-F238E27FC236}">
                <a16:creationId xmlns:a16="http://schemas.microsoft.com/office/drawing/2014/main" id="{D83756AB-D722-43A0-899A-C5E11C706FD6}"/>
              </a:ext>
            </a:extLst>
          </p:cNvPr>
          <p:cNvSpPr>
            <a:spLocks noChangeArrowheads="1"/>
          </p:cNvSpPr>
          <p:nvPr/>
        </p:nvSpPr>
        <p:spPr bwMode="auto">
          <a:xfrm>
            <a:off x="232243" y="1752599"/>
            <a:ext cx="11509657" cy="430845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30194345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FDCA-06E5-A625-272C-4B41A0D9F529}"/>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2EB5AC03-30FA-6CF2-F54C-8D074722B05A}"/>
              </a:ext>
            </a:extLst>
          </p:cNvPr>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a:extLst>
              <a:ext uri="{FF2B5EF4-FFF2-40B4-BE49-F238E27FC236}">
                <a16:creationId xmlns:a16="http://schemas.microsoft.com/office/drawing/2014/main" id="{84288758-E6AA-CD2D-F5A8-24D601DF5266}"/>
              </a:ext>
            </a:extLst>
          </p:cNvPr>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a:extLst>
              <a:ext uri="{FF2B5EF4-FFF2-40B4-BE49-F238E27FC236}">
                <a16:creationId xmlns:a16="http://schemas.microsoft.com/office/drawing/2014/main" id="{C3639CE4-C79D-68DC-7BBC-A8822CF4D28D}"/>
              </a:ext>
            </a:extLst>
          </p:cNvPr>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a:extLst>
              <a:ext uri="{FF2B5EF4-FFF2-40B4-BE49-F238E27FC236}">
                <a16:creationId xmlns:a16="http://schemas.microsoft.com/office/drawing/2014/main" id="{466D8E3B-3A3E-026F-050C-7D44DF42703A}"/>
              </a:ext>
            </a:extLst>
          </p:cNvPr>
          <p:cNvSpPr>
            <a:spLocks noChangeArrowheads="1"/>
          </p:cNvSpPr>
          <p:nvPr/>
        </p:nvSpPr>
        <p:spPr bwMode="auto">
          <a:xfrm>
            <a:off x="5044147" y="796945"/>
            <a:ext cx="1885848"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Review</a:t>
            </a:r>
            <a:endParaRPr kumimoji="0" lang="zh-CN" altLang="en-US"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348F5F23-C77C-3058-F089-D681C747BFE5}"/>
              </a:ext>
            </a:extLst>
          </p:cNvPr>
          <p:cNvSpPr txBox="1"/>
          <p:nvPr/>
        </p:nvSpPr>
        <p:spPr>
          <a:xfrm>
            <a:off x="309412" y="1829837"/>
            <a:ext cx="11156545" cy="4159665"/>
          </a:xfrm>
          <a:prstGeom prst="rect">
            <a:avLst/>
          </a:prstGeom>
          <a:noFill/>
        </p:spPr>
        <p:txBody>
          <a:bodyPr wrap="square" rtlCol="0">
            <a:spAutoFit/>
          </a:bodyPr>
          <a:lstStyle/>
          <a:p>
            <a:pPr>
              <a:lnSpc>
                <a:spcPts val="4600"/>
              </a:lnSpc>
            </a:pPr>
            <a:r>
              <a:rPr lang="en-US" altLang="zh-CN" sz="3200" dirty="0">
                <a:latin typeface="微软雅黑" panose="020B0503020204020204" pitchFamily="34" charset="-122"/>
                <a:ea typeface="微软雅黑" panose="020B0503020204020204" pitchFamily="34" charset="-122"/>
              </a:rPr>
              <a:t>​Fat-tree</a:t>
            </a:r>
            <a:r>
              <a:rPr lang="zh-CN" altLang="en-US" sz="3200" dirty="0">
                <a:latin typeface="微软雅黑" panose="020B0503020204020204" pitchFamily="34" charset="-122"/>
                <a:ea typeface="微软雅黑" panose="020B0503020204020204" pitchFamily="34" charset="-122"/>
              </a:rPr>
              <a:t>拓扑优势总结：</a:t>
            </a: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可扩展的全网聚合带宽</a:t>
            </a:r>
            <a:r>
              <a:rPr lang="zh-CN" altLang="en-US" sz="2800" dirty="0">
                <a:latin typeface="微软雅黑" panose="020B0503020204020204" pitchFamily="34" charset="-122"/>
                <a:ea typeface="微软雅黑" panose="020B0503020204020204" pitchFamily="34" charset="-122"/>
              </a:rPr>
              <a:t>：数据中心内的任意一台主机都能以其本地网卡的全速带宽与网络中的任何其他主机进行通信</a:t>
            </a:r>
            <a:endParaRPr lang="en-US" altLang="zh-CN" sz="2800" dirty="0">
              <a:latin typeface="微软雅黑" panose="020B0503020204020204" pitchFamily="34" charset="-122"/>
              <a:ea typeface="微软雅黑" panose="020B0503020204020204" pitchFamily="34" charset="-122"/>
            </a:endParaRP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卓越的成本效益</a:t>
            </a:r>
            <a:r>
              <a:rPr lang="zh-CN" altLang="en-US" sz="2800" dirty="0">
                <a:latin typeface="微软雅黑" panose="020B0503020204020204" pitchFamily="34" charset="-122"/>
                <a:ea typeface="微软雅黑" panose="020B0503020204020204" pitchFamily="34" charset="-122"/>
              </a:rPr>
              <a:t>：允许整个网络架构都使用廉价的、现成的商用以太网交换机来构建</a:t>
            </a:r>
            <a:endParaRPr lang="en-US" altLang="zh-CN" sz="2800" dirty="0">
              <a:latin typeface="微软雅黑" panose="020B0503020204020204" pitchFamily="34" charset="-122"/>
              <a:ea typeface="微软雅黑" panose="020B0503020204020204" pitchFamily="34" charset="-122"/>
            </a:endParaRP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高效的多路径路由与负载均衡</a:t>
            </a:r>
            <a:r>
              <a:rPr lang="zh-CN" altLang="en-US" sz="2800" dirty="0">
                <a:latin typeface="微软雅黑" panose="020B0503020204020204" pitchFamily="34" charset="-122"/>
                <a:ea typeface="微软雅黑" panose="020B0503020204020204" pitchFamily="34" charset="-122"/>
              </a:rPr>
              <a:t>：拓扑天生提供了大量的等价路径，同时可以将数据流在多个核心交换机之间均匀地分散开</a:t>
            </a:r>
          </a:p>
        </p:txBody>
      </p:sp>
      <p:sp>
        <p:nvSpPr>
          <p:cNvPr id="17" name="圆角矩形 1">
            <a:extLst>
              <a:ext uri="{FF2B5EF4-FFF2-40B4-BE49-F238E27FC236}">
                <a16:creationId xmlns:a16="http://schemas.microsoft.com/office/drawing/2014/main" id="{8D394D38-5345-8675-7816-505A2BC46000}"/>
              </a:ext>
            </a:extLst>
          </p:cNvPr>
          <p:cNvSpPr>
            <a:spLocks noChangeArrowheads="1"/>
          </p:cNvSpPr>
          <p:nvPr/>
        </p:nvSpPr>
        <p:spPr bwMode="auto">
          <a:xfrm>
            <a:off x="232243" y="1752599"/>
            <a:ext cx="11509657" cy="430845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18523238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DA666-697F-D09B-27C4-84438DE34A11}"/>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CE1E21BB-F7FF-C984-FA13-22B901CD7C6D}"/>
              </a:ext>
            </a:extLst>
          </p:cNvPr>
          <p:cNvSpPr>
            <a:spLocks noChangeArrowheads="1"/>
          </p:cNvSpPr>
          <p:nvPr/>
        </p:nvSpPr>
        <p:spPr bwMode="auto">
          <a:xfrm>
            <a:off x="91440" y="-39323"/>
            <a:ext cx="12100560"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9" name="Rectangle 2">
            <a:extLst>
              <a:ext uri="{FF2B5EF4-FFF2-40B4-BE49-F238E27FC236}">
                <a16:creationId xmlns:a16="http://schemas.microsoft.com/office/drawing/2014/main" id="{25ACC216-C661-C863-6E8C-742A48BD9B93}"/>
              </a:ext>
            </a:extLst>
          </p:cNvPr>
          <p:cNvSpPr>
            <a:spLocks noChangeArrowheads="1"/>
          </p:cNvSpPr>
          <p:nvPr/>
        </p:nvSpPr>
        <p:spPr bwMode="auto">
          <a:xfrm>
            <a:off x="309412" y="37915"/>
            <a:ext cx="9662491"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marL="0" marR="0" lvl="0" indent="0" algn="l" defTabSz="457200" rtl="0" eaLnBrk="1" fontAlgn="auto" latinLnBrk="0" hangingPunct="1">
              <a:lnSpc>
                <a:spcPct val="100000"/>
              </a:lnSpc>
              <a:spcBef>
                <a:spcPts val="0"/>
              </a:spcBef>
              <a:spcAft>
                <a:spcPct val="0"/>
              </a:spcAft>
              <a:buClrTx/>
              <a:buSzTx/>
              <a:buFont typeface="Futura Md BT"/>
              <a:buNone/>
              <a:defRPr/>
            </a:pPr>
            <a:endParaRPr kumimoji="0" lang="zh-CN" altLang="en-US" sz="3200" b="1" i="0" u="none" strike="noStrike" kern="1200" cap="none" spc="0" normalizeH="0" baseline="0" noProof="0">
              <a:ln>
                <a:noFill/>
              </a:ln>
              <a:solidFill>
                <a:srgbClr val="F26849"/>
              </a:solidFill>
              <a:effectLst/>
              <a:uLnTx/>
              <a:uFillTx/>
              <a:latin typeface="微软雅黑" panose="020B0503020204020204" pitchFamily="34" charset="-122"/>
              <a:ea typeface="微软雅黑" panose="020B0503020204020204" pitchFamily="34" charset="-122"/>
            </a:endParaRPr>
          </a:p>
        </p:txBody>
      </p:sp>
      <p:sp>
        <p:nvSpPr>
          <p:cNvPr id="12" name="Rectangle 2">
            <a:extLst>
              <a:ext uri="{FF2B5EF4-FFF2-40B4-BE49-F238E27FC236}">
                <a16:creationId xmlns:a16="http://schemas.microsoft.com/office/drawing/2014/main" id="{3372CA33-F1E6-EAA1-62EB-E780F07273AE}"/>
              </a:ext>
            </a:extLst>
          </p:cNvPr>
          <p:cNvSpPr>
            <a:spLocks noChangeArrowheads="1"/>
          </p:cNvSpPr>
          <p:nvPr/>
        </p:nvSpPr>
        <p:spPr bwMode="auto">
          <a:xfrm>
            <a:off x="450100" y="93719"/>
            <a:ext cx="10386066" cy="51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endParaRPr lang="zh-CN" altLang="en-US" sz="3200" b="1">
              <a:solidFill>
                <a:srgbClr val="F26849"/>
              </a:solidFill>
              <a:latin typeface="微软雅黑" panose="020B0503020204020204" pitchFamily="34" charset="-122"/>
              <a:ea typeface="微软雅黑" panose="020B0503020204020204" pitchFamily="34" charset="-122"/>
            </a:endParaRPr>
          </a:p>
        </p:txBody>
      </p:sp>
      <p:sp>
        <p:nvSpPr>
          <p:cNvPr id="19" name="Rectangle 2">
            <a:extLst>
              <a:ext uri="{FF2B5EF4-FFF2-40B4-BE49-F238E27FC236}">
                <a16:creationId xmlns:a16="http://schemas.microsoft.com/office/drawing/2014/main" id="{3A0F76CE-674A-9ACB-699B-FF8ABA308DF8}"/>
              </a:ext>
            </a:extLst>
          </p:cNvPr>
          <p:cNvSpPr>
            <a:spLocks noChangeArrowheads="1"/>
          </p:cNvSpPr>
          <p:nvPr/>
        </p:nvSpPr>
        <p:spPr bwMode="auto">
          <a:xfrm>
            <a:off x="5044147" y="796945"/>
            <a:ext cx="1885848" cy="70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spcAft>
                <a:spcPts val="1200"/>
              </a:spcAft>
              <a:buClr>
                <a:schemeClr val="accent1"/>
              </a:buClr>
              <a:buFont typeface="Futura Md BT"/>
              <a:buChar char=" "/>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742950" indent="-285750">
              <a:spcAft>
                <a:spcPts val="1000"/>
              </a:spcAft>
              <a:buClr>
                <a:srgbClr val="969696"/>
              </a:buClr>
              <a:buFont typeface="Wingdings" panose="05000000000000000000" pitchFamily="2" charset="2"/>
              <a:buChar char="§"/>
              <a:defRPr sz="20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2pPr>
            <a:lvl3pPr marL="1143000" indent="-228600">
              <a:spcAft>
                <a:spcPts val="800"/>
              </a:spcAft>
              <a:buClr>
                <a:srgbClr val="969696"/>
              </a:buClr>
              <a:buFont typeface="Wingdings" panose="05000000000000000000" pitchFamily="2" charset="2"/>
              <a:buChar char=""/>
              <a:defRPr sz="2400">
                <a:solidFill>
                  <a:srgbClr val="323232"/>
                </a:solidFill>
                <a:latin typeface="Arial Unicode MS" panose="020B0604020202020204" pitchFamily="34" charset="-122"/>
                <a:ea typeface="Arial Unicode MS" panose="020B0604020202020204" pitchFamily="34" charset="-122"/>
                <a:cs typeface="Arial Unicode MS" panose="020B0604020202020204" pitchFamily="34" charset="-122"/>
              </a:defRPr>
            </a:lvl3pPr>
            <a:lvl4pPr marL="1600200" indent="-228600">
              <a:spcAft>
                <a:spcPts val="600"/>
              </a:spcAft>
              <a:buClr>
                <a:srgbClr val="969696"/>
              </a:buClr>
              <a:buFont typeface="Futura Md BT"/>
              <a:buChar char="–"/>
              <a:defRPr sz="16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defRPr>
            </a:lvl4pPr>
            <a:lvl5pPr marL="2057400" indent="-228600">
              <a:lnSpc>
                <a:spcPts val="1400"/>
              </a:lnSpc>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5pPr>
            <a:lvl6pPr marL="25146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6pPr>
            <a:lvl7pPr marL="29718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7pPr>
            <a:lvl8pPr marL="34290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8pPr>
            <a:lvl9pPr marL="3886200" indent="-228600" eaLnBrk="0" fontAlgn="base" hangingPunct="0">
              <a:lnSpc>
                <a:spcPts val="1400"/>
              </a:lnSpc>
              <a:spcBef>
                <a:spcPct val="0"/>
              </a:spcBef>
              <a:spcAft>
                <a:spcPts val="600"/>
              </a:spcAft>
              <a:buClr>
                <a:schemeClr val="tx1"/>
              </a:buClr>
              <a:buFont typeface="Futura Md BT"/>
              <a:buChar char="–"/>
              <a:defRPr sz="1400">
                <a:solidFill>
                  <a:schemeClr val="tx1"/>
                </a:solidFill>
                <a:latin typeface="Verdana" panose="020B0604030504040204" pitchFamily="34" charset="0"/>
                <a:ea typeface="宋体" panose="02010600030101010101" pitchFamily="2" charset="-122"/>
                <a:cs typeface="Arial" panose="020B0604020202020204" pitchFamily="34" charset="0"/>
              </a:defRPr>
            </a:lvl9pPr>
          </a:lstStyle>
          <a:p>
            <a:pPr lvl="0">
              <a:spcAft>
                <a:spcPct val="0"/>
              </a:spcAft>
              <a:buClrTx/>
              <a:buNone/>
              <a:defRPr/>
            </a:pPr>
            <a:r>
              <a:rPr kumimoji="0" lang="en-US" altLang="zh-CN"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rPr>
              <a:t>Review</a:t>
            </a:r>
            <a:endParaRPr kumimoji="0" lang="zh-CN" altLang="en-US" sz="4000" b="1" i="0" u="none" strike="noStrike" kern="1200" cap="none" spc="0" normalizeH="0" baseline="0" noProof="0" dirty="0">
              <a:ln>
                <a:noFill/>
              </a:ln>
              <a:solidFill>
                <a:srgbClr val="F26849"/>
              </a:solidFill>
              <a:effectLst/>
              <a:uLnTx/>
              <a:uFillTx/>
              <a:latin typeface="微软雅黑" panose="020B0503020204020204" pitchFamily="34" charset="-122"/>
              <a:ea typeface="微软雅黑" panose="020B0503020204020204" pitchFamily="34" charset="-122"/>
              <a:cs typeface="+mn-cs"/>
            </a:endParaRPr>
          </a:p>
        </p:txBody>
      </p:sp>
      <p:sp>
        <p:nvSpPr>
          <p:cNvPr id="13" name="文本框 2">
            <a:extLst>
              <a:ext uri="{FF2B5EF4-FFF2-40B4-BE49-F238E27FC236}">
                <a16:creationId xmlns:a16="http://schemas.microsoft.com/office/drawing/2014/main" id="{A04FDE63-A18E-01F4-C36D-895FF6667757}"/>
              </a:ext>
            </a:extLst>
          </p:cNvPr>
          <p:cNvSpPr txBox="1"/>
          <p:nvPr/>
        </p:nvSpPr>
        <p:spPr>
          <a:xfrm>
            <a:off x="309412" y="1829837"/>
            <a:ext cx="11156545" cy="4159665"/>
          </a:xfrm>
          <a:prstGeom prst="rect">
            <a:avLst/>
          </a:prstGeom>
          <a:noFill/>
        </p:spPr>
        <p:txBody>
          <a:bodyPr wrap="square" rtlCol="0">
            <a:spAutoFit/>
          </a:bodyPr>
          <a:lstStyle/>
          <a:p>
            <a:pPr>
              <a:lnSpc>
                <a:spcPts val="4600"/>
              </a:lnSpc>
            </a:pPr>
            <a:r>
              <a:rPr lang="en-US" altLang="zh-CN" sz="3200" dirty="0">
                <a:latin typeface="微软雅黑" panose="020B0503020204020204" pitchFamily="34" charset="-122"/>
                <a:ea typeface="微软雅黑" panose="020B0503020204020204" pitchFamily="34" charset="-122"/>
              </a:rPr>
              <a:t>​Fat-tree</a:t>
            </a:r>
            <a:r>
              <a:rPr lang="zh-CN" altLang="en-US" sz="3200" dirty="0">
                <a:latin typeface="微软雅黑" panose="020B0503020204020204" pitchFamily="34" charset="-122"/>
                <a:ea typeface="微软雅黑" panose="020B0503020204020204" pitchFamily="34" charset="-122"/>
              </a:rPr>
              <a:t>拓扑优势总结：</a:t>
            </a: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良好的向后兼容性</a:t>
            </a:r>
            <a:r>
              <a:rPr lang="zh-CN" altLang="en-US" sz="2800" dirty="0">
                <a:latin typeface="微软雅黑" panose="020B0503020204020204" pitchFamily="34" charset="-122"/>
                <a:ea typeface="微软雅黑" panose="020B0503020204020204" pitchFamily="34" charset="-122"/>
              </a:rPr>
              <a:t>：该架构不需要对终端主机的网络接口、操作系统或应用程序做任何修改，完全向后兼容以太网、</a:t>
            </a:r>
            <a:r>
              <a:rPr lang="en-US" altLang="zh-CN" sz="2800" dirty="0">
                <a:latin typeface="微软雅黑" panose="020B0503020204020204" pitchFamily="34" charset="-122"/>
                <a:ea typeface="微软雅黑" panose="020B0503020204020204" pitchFamily="34" charset="-122"/>
              </a:rPr>
              <a:t>IP</a:t>
            </a:r>
            <a:r>
              <a:rPr lang="zh-CN" altLang="en-US" sz="2800" dirty="0">
                <a:latin typeface="微软雅黑" panose="020B0503020204020204" pitchFamily="34" charset="-122"/>
                <a:ea typeface="微软雅黑" panose="020B0503020204020204" pitchFamily="34" charset="-122"/>
              </a:rPr>
              <a:t>协议和</a:t>
            </a:r>
            <a:r>
              <a:rPr lang="en-US" altLang="zh-CN" sz="2800" dirty="0">
                <a:latin typeface="微软雅黑" panose="020B0503020204020204" pitchFamily="34" charset="-122"/>
                <a:ea typeface="微软雅黑" panose="020B0503020204020204" pitchFamily="34" charset="-122"/>
              </a:rPr>
              <a:t>TCP</a:t>
            </a:r>
            <a:r>
              <a:rPr lang="zh-CN" altLang="en-US" sz="2800" dirty="0">
                <a:latin typeface="微软雅黑" panose="020B0503020204020204" pitchFamily="34" charset="-122"/>
                <a:ea typeface="微软雅黑" panose="020B0503020204020204" pitchFamily="34" charset="-122"/>
              </a:rPr>
              <a:t>协议</a:t>
            </a:r>
            <a:endParaRPr lang="en-US" altLang="zh-CN" sz="2800" dirty="0">
              <a:latin typeface="微软雅黑" panose="020B0503020204020204" pitchFamily="34" charset="-122"/>
              <a:ea typeface="微软雅黑" panose="020B0503020204020204" pitchFamily="34" charset="-122"/>
            </a:endParaRP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优越的功耗与散热表现</a:t>
            </a:r>
            <a:r>
              <a:rPr lang="zh-CN" altLang="en-US" sz="2800" dirty="0">
                <a:latin typeface="微软雅黑" panose="020B0503020204020204" pitchFamily="34" charset="-122"/>
                <a:ea typeface="微软雅黑" panose="020B0503020204020204" pitchFamily="34" charset="-122"/>
              </a:rPr>
              <a:t>：在一个支持约</a:t>
            </a:r>
            <a:r>
              <a:rPr lang="en-US" altLang="zh-CN" sz="2800" dirty="0">
                <a:latin typeface="微软雅黑" panose="020B0503020204020204" pitchFamily="34" charset="-122"/>
                <a:ea typeface="微软雅黑" panose="020B0503020204020204" pitchFamily="34" charset="-122"/>
              </a:rPr>
              <a:t>27,000</a:t>
            </a:r>
            <a:r>
              <a:rPr lang="zh-CN" altLang="en-US" sz="2800" dirty="0">
                <a:latin typeface="微软雅黑" panose="020B0503020204020204" pitchFamily="34" charset="-122"/>
                <a:ea typeface="微软雅黑" panose="020B0503020204020204" pitchFamily="34" charset="-122"/>
              </a:rPr>
              <a:t>台主机的网络中，胖树架构的功耗比传统设计降低了</a:t>
            </a:r>
            <a:r>
              <a:rPr lang="en-US" altLang="zh-CN" sz="2800" dirty="0">
                <a:latin typeface="微软雅黑" panose="020B0503020204020204" pitchFamily="34" charset="-122"/>
                <a:ea typeface="微软雅黑" panose="020B0503020204020204" pitchFamily="34" charset="-122"/>
              </a:rPr>
              <a:t>56.6%</a:t>
            </a:r>
            <a:r>
              <a:rPr lang="zh-CN" altLang="en-US" sz="2800" dirty="0">
                <a:latin typeface="微软雅黑" panose="020B0503020204020204" pitchFamily="34" charset="-122"/>
                <a:ea typeface="微软雅黑" panose="020B0503020204020204" pitchFamily="34" charset="-122"/>
              </a:rPr>
              <a:t>，散热量降低了</a:t>
            </a:r>
            <a:r>
              <a:rPr lang="en-US" altLang="zh-CN" sz="2800" dirty="0">
                <a:latin typeface="微软雅黑" panose="020B0503020204020204" pitchFamily="34" charset="-122"/>
                <a:ea typeface="微软雅黑" panose="020B0503020204020204" pitchFamily="34" charset="-122"/>
              </a:rPr>
              <a:t>56.5%</a:t>
            </a:r>
          </a:p>
          <a:p>
            <a:pPr marL="285750" indent="-285750">
              <a:lnSpc>
                <a:spcPts val="46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固有的容错能力</a:t>
            </a:r>
            <a:r>
              <a:rPr lang="zh-CN" altLang="en-US" sz="2800" dirty="0">
                <a:latin typeface="微软雅黑" panose="020B0503020204020204" pitchFamily="34" charset="-122"/>
                <a:ea typeface="微软雅黑" panose="020B0503020204020204" pitchFamily="34" charset="-122"/>
              </a:rPr>
              <a:t>：任意两个主机之间存在的大量冗余路径使得胖树拓扑在面对链路或交换机故障时具有天然的优势和吸引力</a:t>
            </a:r>
          </a:p>
        </p:txBody>
      </p:sp>
      <p:sp>
        <p:nvSpPr>
          <p:cNvPr id="17" name="圆角矩形 1">
            <a:extLst>
              <a:ext uri="{FF2B5EF4-FFF2-40B4-BE49-F238E27FC236}">
                <a16:creationId xmlns:a16="http://schemas.microsoft.com/office/drawing/2014/main" id="{A8718C07-E448-1728-2B6C-6486EE8F877E}"/>
              </a:ext>
            </a:extLst>
          </p:cNvPr>
          <p:cNvSpPr>
            <a:spLocks noChangeArrowheads="1"/>
          </p:cNvSpPr>
          <p:nvPr/>
        </p:nvSpPr>
        <p:spPr bwMode="auto">
          <a:xfrm>
            <a:off x="232243" y="1752599"/>
            <a:ext cx="11509657" cy="4308455"/>
          </a:xfrm>
          <a:prstGeom prst="roundRect">
            <a:avLst>
              <a:gd name="adj" fmla="val 6977"/>
            </a:avLst>
          </a:prstGeom>
          <a:noFill/>
          <a:ln w="25400" cap="flat" cmpd="sng">
            <a:solidFill>
              <a:srgbClr val="A5A5A5"/>
            </a:solidFill>
            <a:prstDash val="dash"/>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extLst>
      <p:ext uri="{BB962C8B-B14F-4D97-AF65-F5344CB8AC3E}">
        <p14:creationId xmlns:p14="http://schemas.microsoft.com/office/powerpoint/2010/main" val="29443975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364933,4364881]}"/>
</p:tagLst>
</file>

<file path=ppt/tags/tag2.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6"/>
  <p:tag name="KSO_WM_TEMPLATE_SCENE_ID" val="1"/>
  <p:tag name="KSO_WM_TEMPLATE_JOB_ID" val="6"/>
  <p:tag name="KSO_WM_TEMPLATE_TOPIC_DEFAULT"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1717</TotalTime>
  <Words>12541</Words>
  <Application>Microsoft Office PowerPoint</Application>
  <PresentationFormat>宽屏</PresentationFormat>
  <Paragraphs>720</Paragraphs>
  <Slides>76</Slides>
  <Notes>59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76</vt:i4>
      </vt:variant>
    </vt:vector>
  </HeadingPairs>
  <TitlesOfParts>
    <vt:vector size="86" baseType="lpstr">
      <vt:lpstr>Futura Md BT</vt:lpstr>
      <vt:lpstr>等线</vt:lpstr>
      <vt:lpstr>宋体</vt:lpstr>
      <vt:lpstr>微软雅黑</vt:lpstr>
      <vt:lpstr>微软雅黑</vt:lpstr>
      <vt:lpstr>Arial</vt:lpstr>
      <vt:lpstr>Calibri</vt:lpstr>
      <vt:lpstr>Trebuchet MS</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Gongming Zhao</cp:lastModifiedBy>
  <cp:revision>1475</cp:revision>
  <cp:lastPrinted>2025-07-03T03:33:00Z</cp:lastPrinted>
  <dcterms:created xsi:type="dcterms:W3CDTF">2023-07-28T11:55:00Z</dcterms:created>
  <dcterms:modified xsi:type="dcterms:W3CDTF">2026-09-15T11:14:53Z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AAD1256FE3AC432FBA98660ABA5AEAC4_13</vt:lpwstr>
  </property>
  <property fmtid="{D5CDD505-2E9C-101B-9397-08002B2CF9AE}" pid="3" name="KSOProductBuildVer">
    <vt:lpwstr>2052-12.1.0.22529</vt:lpwstr>
  </property>
</Properties>
</file>